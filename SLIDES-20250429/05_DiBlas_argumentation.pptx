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35"/>
  </p:notesMasterIdLst>
  <p:handoutMasterIdLst>
    <p:handoutMasterId r:id="rId36"/>
  </p:handoutMasterIdLst>
  <p:sldIdLst>
    <p:sldId id="256" r:id="rId5"/>
    <p:sldId id="331" r:id="rId6"/>
    <p:sldId id="325" r:id="rId7"/>
    <p:sldId id="327" r:id="rId8"/>
    <p:sldId id="328" r:id="rId9"/>
    <p:sldId id="329" r:id="rId10"/>
    <p:sldId id="330" r:id="rId11"/>
    <p:sldId id="296" r:id="rId12"/>
    <p:sldId id="297" r:id="rId13"/>
    <p:sldId id="299" r:id="rId14"/>
    <p:sldId id="356" r:id="rId15"/>
    <p:sldId id="357" r:id="rId16"/>
    <p:sldId id="301" r:id="rId17"/>
    <p:sldId id="342" r:id="rId18"/>
    <p:sldId id="335" r:id="rId19"/>
    <p:sldId id="336" r:id="rId20"/>
    <p:sldId id="337" r:id="rId21"/>
    <p:sldId id="340" r:id="rId22"/>
    <p:sldId id="343" r:id="rId23"/>
    <p:sldId id="344" r:id="rId24"/>
    <p:sldId id="345" r:id="rId25"/>
    <p:sldId id="346" r:id="rId26"/>
    <p:sldId id="347" r:id="rId27"/>
    <p:sldId id="348" r:id="rId28"/>
    <p:sldId id="349" r:id="rId29"/>
    <p:sldId id="351" r:id="rId30"/>
    <p:sldId id="352" r:id="rId31"/>
    <p:sldId id="353" r:id="rId32"/>
    <p:sldId id="355" r:id="rId33"/>
    <p:sldId id="354" r:id="rId34"/>
  </p:sldIdLst>
  <p:sldSz cx="9144000" cy="5143500" type="screen16x9"/>
  <p:notesSz cx="7099300" cy="10234613"/>
  <p:defaultTextStyle>
    <a:lvl1pPr marL="0" algn="l" rtl="0" latinLnBrk="0">
      <a:defRPr lang="it-IT" sz="1800" kern="1200">
        <a:solidFill>
          <a:schemeClr val="tx1"/>
        </a:solidFill>
        <a:latin typeface="+mn-lt"/>
        <a:ea typeface="+mn-ea"/>
        <a:cs typeface="+mn-cs"/>
      </a:defRPr>
    </a:lvl1pPr>
    <a:lvl2pPr marL="457200" algn="l" rtl="0" latinLnBrk="0">
      <a:defRPr lang="it-IT" sz="1800" kern="1200">
        <a:solidFill>
          <a:schemeClr val="tx1"/>
        </a:solidFill>
        <a:latin typeface="+mn-lt"/>
        <a:ea typeface="+mn-ea"/>
        <a:cs typeface="+mn-cs"/>
      </a:defRPr>
    </a:lvl2pPr>
    <a:lvl3pPr marL="914400" algn="l" rtl="0" latinLnBrk="0">
      <a:defRPr lang="it-IT" sz="1800" kern="1200">
        <a:solidFill>
          <a:schemeClr val="tx1"/>
        </a:solidFill>
        <a:latin typeface="+mn-lt"/>
        <a:ea typeface="+mn-ea"/>
        <a:cs typeface="+mn-cs"/>
      </a:defRPr>
    </a:lvl3pPr>
    <a:lvl4pPr marL="1371600" algn="l" rtl="0" latinLnBrk="0">
      <a:defRPr lang="it-IT" sz="1800" kern="1200">
        <a:solidFill>
          <a:schemeClr val="tx1"/>
        </a:solidFill>
        <a:latin typeface="+mn-lt"/>
        <a:ea typeface="+mn-ea"/>
        <a:cs typeface="+mn-cs"/>
      </a:defRPr>
    </a:lvl4pPr>
    <a:lvl5pPr marL="1828800" algn="l" rtl="0" latinLnBrk="0">
      <a:defRPr lang="it-IT" sz="1800" kern="1200">
        <a:solidFill>
          <a:schemeClr val="tx1"/>
        </a:solidFill>
        <a:latin typeface="+mn-lt"/>
        <a:ea typeface="+mn-ea"/>
        <a:cs typeface="+mn-cs"/>
      </a:defRPr>
    </a:lvl5pPr>
    <a:lvl6pPr marL="2286000" algn="l" rtl="0" latinLnBrk="0">
      <a:defRPr lang="it-IT" sz="1800" kern="1200">
        <a:solidFill>
          <a:schemeClr val="tx1"/>
        </a:solidFill>
        <a:latin typeface="+mn-lt"/>
        <a:ea typeface="+mn-ea"/>
        <a:cs typeface="+mn-cs"/>
      </a:defRPr>
    </a:lvl6pPr>
    <a:lvl7pPr marL="2743200" algn="l" rtl="0" latinLnBrk="0">
      <a:defRPr lang="it-IT" sz="1800" kern="1200">
        <a:solidFill>
          <a:schemeClr val="tx1"/>
        </a:solidFill>
        <a:latin typeface="+mn-lt"/>
        <a:ea typeface="+mn-ea"/>
        <a:cs typeface="+mn-cs"/>
      </a:defRPr>
    </a:lvl7pPr>
    <a:lvl8pPr marL="3200400" algn="l" rtl="0" latinLnBrk="0">
      <a:defRPr lang="it-IT" sz="1800" kern="1200">
        <a:solidFill>
          <a:schemeClr val="tx1"/>
        </a:solidFill>
        <a:latin typeface="+mn-lt"/>
        <a:ea typeface="+mn-ea"/>
        <a:cs typeface="+mn-cs"/>
      </a:defRPr>
    </a:lvl8pPr>
    <a:lvl9pPr marL="3657600" algn="l" rtl="0" latinLnBrk="0">
      <a:defRPr lang="it-IT"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1129"/>
    <a:srgbClr val="3214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F96EF6-E809-4A98-BEB7-59C0E6F58C28}" v="11" dt="2024-03-18T14:28:47.9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7621" autoAdjust="0"/>
  </p:normalViewPr>
  <p:slideViewPr>
    <p:cSldViewPr>
      <p:cViewPr varScale="1">
        <p:scale>
          <a:sx n="107" d="100"/>
          <a:sy n="107" d="100"/>
        </p:scale>
        <p:origin x="405" y="51"/>
      </p:cViewPr>
      <p:guideLst>
        <p:guide orient="horz" pos="1620"/>
        <p:guide pos="2880"/>
      </p:guideLst>
    </p:cSldViewPr>
  </p:slideViewPr>
  <p:notesTextViewPr>
    <p:cViewPr>
      <p:scale>
        <a:sx n="3" d="2"/>
        <a:sy n="3" d="2"/>
      </p:scale>
      <p:origin x="0" y="0"/>
    </p:cViewPr>
  </p:notesTextViewPr>
  <p:sorterViewPr>
    <p:cViewPr varScale="1">
      <p:scale>
        <a:sx n="100" d="100"/>
        <a:sy n="100" d="100"/>
      </p:scale>
      <p:origin x="0" y="-168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1426" tIns="45713" rIns="91426" bIns="45713" rtlCol="0"/>
          <a:lstStyle>
            <a:lvl1pPr algn="l">
              <a:defRPr sz="1200"/>
            </a:lvl1pPr>
          </a:lstStyle>
          <a:p>
            <a:endParaRPr lang="it-IT"/>
          </a:p>
        </p:txBody>
      </p:sp>
      <p:sp>
        <p:nvSpPr>
          <p:cNvPr id="3" name="Date Placeholder 2"/>
          <p:cNvSpPr>
            <a:spLocks noGrp="1"/>
          </p:cNvSpPr>
          <p:nvPr>
            <p:ph type="dt" sz="quarter" idx="1"/>
          </p:nvPr>
        </p:nvSpPr>
        <p:spPr>
          <a:xfrm>
            <a:off x="4021138" y="0"/>
            <a:ext cx="3076575" cy="511175"/>
          </a:xfrm>
          <a:prstGeom prst="rect">
            <a:avLst/>
          </a:prstGeom>
        </p:spPr>
        <p:txBody>
          <a:bodyPr vert="horz" lIns="91426" tIns="45713" rIns="91426" bIns="45713" rtlCol="0"/>
          <a:lstStyle>
            <a:lvl1pPr algn="r">
              <a:defRPr sz="1200"/>
            </a:lvl1pPr>
          </a:lstStyle>
          <a:p>
            <a:fld id="{1674029A-FB94-46E3-BCCC-180111E56553}" type="datetimeFigureOut">
              <a:rPr lang="it-IT" smtClean="0"/>
              <a:t>18/03/2024</a:t>
            </a:fld>
            <a:endParaRPr lang="it-IT"/>
          </a:p>
        </p:txBody>
      </p:sp>
      <p:sp>
        <p:nvSpPr>
          <p:cNvPr id="4" name="Footer Placeholder 3"/>
          <p:cNvSpPr>
            <a:spLocks noGrp="1"/>
          </p:cNvSpPr>
          <p:nvPr>
            <p:ph type="ftr" sz="quarter" idx="2"/>
          </p:nvPr>
        </p:nvSpPr>
        <p:spPr>
          <a:xfrm>
            <a:off x="0" y="9721851"/>
            <a:ext cx="3076575" cy="511175"/>
          </a:xfrm>
          <a:prstGeom prst="rect">
            <a:avLst/>
          </a:prstGeom>
        </p:spPr>
        <p:txBody>
          <a:bodyPr vert="horz" lIns="91426" tIns="45713" rIns="91426" bIns="45713" rtlCol="0" anchor="b"/>
          <a:lstStyle>
            <a:lvl1pPr algn="l">
              <a:defRPr sz="1200"/>
            </a:lvl1pPr>
          </a:lstStyle>
          <a:p>
            <a:endParaRPr lang="it-IT"/>
          </a:p>
        </p:txBody>
      </p:sp>
      <p:sp>
        <p:nvSpPr>
          <p:cNvPr id="5" name="Slide Number Placeholder 4"/>
          <p:cNvSpPr>
            <a:spLocks noGrp="1"/>
          </p:cNvSpPr>
          <p:nvPr>
            <p:ph type="sldNum" sz="quarter" idx="3"/>
          </p:nvPr>
        </p:nvSpPr>
        <p:spPr>
          <a:xfrm>
            <a:off x="4021138" y="9721851"/>
            <a:ext cx="3076575" cy="511175"/>
          </a:xfrm>
          <a:prstGeom prst="rect">
            <a:avLst/>
          </a:prstGeom>
        </p:spPr>
        <p:txBody>
          <a:bodyPr vert="horz" lIns="91426" tIns="45713" rIns="91426" bIns="45713" rtlCol="0" anchor="b"/>
          <a:lstStyle>
            <a:lvl1pPr algn="r">
              <a:defRPr sz="1200"/>
            </a:lvl1pPr>
          </a:lstStyle>
          <a:p>
            <a:fld id="{8BEA46C5-7A39-40A2-8F88-F1D4EB9A3219}" type="slidenum">
              <a:rPr lang="it-IT" smtClean="0"/>
              <a:t>‹#›</a:t>
            </a:fld>
            <a:endParaRPr lang="it-IT"/>
          </a:p>
        </p:txBody>
      </p:sp>
    </p:spTree>
    <p:extLst>
      <p:ext uri="{BB962C8B-B14F-4D97-AF65-F5344CB8AC3E}">
        <p14:creationId xmlns:p14="http://schemas.microsoft.com/office/powerpoint/2010/main" val="25443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1731"/>
          </a:xfrm>
          <a:prstGeom prst="rect">
            <a:avLst/>
          </a:prstGeom>
        </p:spPr>
        <p:txBody>
          <a:bodyPr vert="horz" lIns="99032" tIns="49516" rIns="99032" bIns="49516" rtlCol="0"/>
          <a:lstStyle>
            <a:lvl1pPr algn="l" latinLnBrk="0">
              <a:defRPr lang="it-IT" sz="1300"/>
            </a:lvl1pPr>
          </a:lstStyle>
          <a:p>
            <a:endParaRPr lang="it-IT" dirty="0"/>
          </a:p>
        </p:txBody>
      </p:sp>
      <p:sp>
        <p:nvSpPr>
          <p:cNvPr id="3" name="Date Placeholder 2"/>
          <p:cNvSpPr>
            <a:spLocks noGrp="1"/>
          </p:cNvSpPr>
          <p:nvPr>
            <p:ph type="dt" idx="1"/>
          </p:nvPr>
        </p:nvSpPr>
        <p:spPr>
          <a:xfrm>
            <a:off x="4021294" y="0"/>
            <a:ext cx="3076363" cy="511731"/>
          </a:xfrm>
          <a:prstGeom prst="rect">
            <a:avLst/>
          </a:prstGeom>
        </p:spPr>
        <p:txBody>
          <a:bodyPr vert="horz" lIns="99032" tIns="49516" rIns="99032" bIns="49516" rtlCol="0"/>
          <a:lstStyle>
            <a:lvl1pPr algn="r" latinLnBrk="0">
              <a:defRPr lang="it-IT" sz="1300"/>
            </a:lvl1pPr>
          </a:lstStyle>
          <a:p>
            <a:fld id="{A8ADFD5B-A66C-449C-B6E8-FB716D07777D}" type="datetimeFigureOut">
              <a:rPr lang="en-US"/>
              <a:pPr/>
              <a:t>3/18/2024</a:t>
            </a:fld>
            <a:endParaRPr lang="it-IT" dirty="0"/>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32" tIns="49516" rIns="99032" bIns="49516" rtlCol="0" anchor="ctr"/>
          <a:lstStyle/>
          <a:p>
            <a:endParaRPr lang="it-IT"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9032" tIns="49516" rIns="99032" bIns="49516"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Footer Placeholder 5"/>
          <p:cNvSpPr>
            <a:spLocks noGrp="1"/>
          </p:cNvSpPr>
          <p:nvPr>
            <p:ph type="ftr" sz="quarter" idx="4"/>
          </p:nvPr>
        </p:nvSpPr>
        <p:spPr>
          <a:xfrm>
            <a:off x="1" y="9721106"/>
            <a:ext cx="3076363" cy="511731"/>
          </a:xfrm>
          <a:prstGeom prst="rect">
            <a:avLst/>
          </a:prstGeom>
        </p:spPr>
        <p:txBody>
          <a:bodyPr vert="horz" lIns="99032" tIns="49516" rIns="99032" bIns="49516" rtlCol="0" anchor="b"/>
          <a:lstStyle>
            <a:lvl1pPr algn="l" latinLnBrk="0">
              <a:defRPr lang="it-IT" sz="1300"/>
            </a:lvl1pPr>
          </a:lstStyle>
          <a:p>
            <a:endParaRPr lang="it-IT"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32" tIns="49516" rIns="99032" bIns="49516" rtlCol="0" anchor="b"/>
          <a:lstStyle>
            <a:lvl1pPr algn="r" latinLnBrk="0">
              <a:defRPr lang="it-IT" sz="1300"/>
            </a:lvl1pPr>
          </a:lstStyle>
          <a:p>
            <a:fld id="{CA5D3BF3-D352-46FC-8343-31F56E6730EA}" type="slidenum">
              <a:rPr/>
              <a:pPr/>
              <a:t>‹#›</a:t>
            </a:fld>
            <a:endParaRPr lang="it-IT" dirty="0"/>
          </a:p>
        </p:txBody>
      </p:sp>
    </p:spTree>
    <p:extLst>
      <p:ext uri="{BB962C8B-B14F-4D97-AF65-F5344CB8AC3E}">
        <p14:creationId xmlns:p14="http://schemas.microsoft.com/office/powerpoint/2010/main" val="1707257538"/>
      </p:ext>
    </p:extLst>
  </p:cSld>
  <p:clrMap bg1="lt1" tx1="dk1" bg2="lt2" tx2="dk2" accent1="accent1" accent2="accent2" accent3="accent3" accent4="accent4" accent5="accent5" accent6="accent6" hlink="hlink" folHlink="folHlink"/>
  <p:notesStyle>
    <a:lvl1pPr marL="0" algn="l" rtl="0" latinLnBrk="0">
      <a:defRPr lang="it-IT" sz="1200" kern="1200">
        <a:solidFill>
          <a:schemeClr val="tx1"/>
        </a:solidFill>
        <a:latin typeface="+mn-lt"/>
        <a:ea typeface="+mn-ea"/>
        <a:cs typeface="+mn-cs"/>
      </a:defRPr>
    </a:lvl1pPr>
    <a:lvl2pPr marL="457200" algn="l" rtl="0" latinLnBrk="0">
      <a:defRPr lang="it-IT" sz="1200" kern="1200">
        <a:solidFill>
          <a:schemeClr val="tx1"/>
        </a:solidFill>
        <a:latin typeface="+mn-lt"/>
        <a:ea typeface="+mn-ea"/>
        <a:cs typeface="+mn-cs"/>
      </a:defRPr>
    </a:lvl2pPr>
    <a:lvl3pPr marL="914400" algn="l" rtl="0" latinLnBrk="0">
      <a:defRPr lang="it-IT" sz="1200" kern="1200">
        <a:solidFill>
          <a:schemeClr val="tx1"/>
        </a:solidFill>
        <a:latin typeface="+mn-lt"/>
        <a:ea typeface="+mn-ea"/>
        <a:cs typeface="+mn-cs"/>
      </a:defRPr>
    </a:lvl3pPr>
    <a:lvl4pPr marL="1371600" algn="l" rtl="0" latinLnBrk="0">
      <a:defRPr lang="it-IT" sz="1200" kern="1200">
        <a:solidFill>
          <a:schemeClr val="tx1"/>
        </a:solidFill>
        <a:latin typeface="+mn-lt"/>
        <a:ea typeface="+mn-ea"/>
        <a:cs typeface="+mn-cs"/>
      </a:defRPr>
    </a:lvl4pPr>
    <a:lvl5pPr marL="1828800" algn="l" rtl="0" latinLnBrk="0">
      <a:defRPr lang="it-IT" sz="1200" kern="1200">
        <a:solidFill>
          <a:schemeClr val="tx1"/>
        </a:solidFill>
        <a:latin typeface="+mn-lt"/>
        <a:ea typeface="+mn-ea"/>
        <a:cs typeface="+mn-cs"/>
      </a:defRPr>
    </a:lvl5pPr>
    <a:lvl6pPr marL="2286000" algn="l" rtl="0" latinLnBrk="0">
      <a:defRPr lang="it-IT" sz="1200" kern="1200">
        <a:solidFill>
          <a:schemeClr val="tx1"/>
        </a:solidFill>
        <a:latin typeface="+mn-lt"/>
        <a:ea typeface="+mn-ea"/>
        <a:cs typeface="+mn-cs"/>
      </a:defRPr>
    </a:lvl6pPr>
    <a:lvl7pPr marL="2743200" algn="l" rtl="0" latinLnBrk="0">
      <a:defRPr lang="it-IT" sz="1200" kern="1200">
        <a:solidFill>
          <a:schemeClr val="tx1"/>
        </a:solidFill>
        <a:latin typeface="+mn-lt"/>
        <a:ea typeface="+mn-ea"/>
        <a:cs typeface="+mn-cs"/>
      </a:defRPr>
    </a:lvl7pPr>
    <a:lvl8pPr marL="3200400" algn="l" rtl="0" latinLnBrk="0">
      <a:defRPr lang="it-IT" sz="1200" kern="1200">
        <a:solidFill>
          <a:schemeClr val="tx1"/>
        </a:solidFill>
        <a:latin typeface="+mn-lt"/>
        <a:ea typeface="+mn-ea"/>
        <a:cs typeface="+mn-cs"/>
      </a:defRPr>
    </a:lvl8pPr>
    <a:lvl9pPr marL="3657600" algn="l" rtl="0" latinLnBrk="0">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it-IT" dirty="0"/>
          </a:p>
        </p:txBody>
      </p:sp>
      <p:sp>
        <p:nvSpPr>
          <p:cNvPr id="4" name="Rectangle 3"/>
          <p:cNvSpPr>
            <a:spLocks noGrp="1"/>
          </p:cNvSpPr>
          <p:nvPr>
            <p:ph type="sldNum" sz="quarter" idx="10"/>
          </p:nvPr>
        </p:nvSpPr>
        <p:spPr/>
        <p:txBody>
          <a:bodyPr/>
          <a:lstStyle/>
          <a:p>
            <a:fld id="{CA5D3BF3-D352-46FC-8343-31F56E6730EA}" type="slidenum">
              <a:rPr lang="it-IT" smtClean="0"/>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People </a:t>
            </a:r>
            <a:r>
              <a:rPr lang="it-IT" dirty="0" err="1"/>
              <a:t>often</a:t>
            </a:r>
            <a:r>
              <a:rPr lang="it-IT" dirty="0"/>
              <a:t> </a:t>
            </a:r>
            <a:r>
              <a:rPr lang="it-IT" dirty="0" err="1"/>
              <a:t>disagree</a:t>
            </a:r>
            <a:r>
              <a:rPr lang="it-IT" dirty="0"/>
              <a:t>.</a:t>
            </a:r>
          </a:p>
          <a:p>
            <a:r>
              <a:rPr lang="it-IT" dirty="0" err="1"/>
              <a:t>They</a:t>
            </a:r>
            <a:r>
              <a:rPr lang="it-IT" dirty="0"/>
              <a:t> </a:t>
            </a:r>
            <a:r>
              <a:rPr lang="it-IT" dirty="0" err="1"/>
              <a:t>try</a:t>
            </a:r>
            <a:r>
              <a:rPr lang="it-IT" dirty="0"/>
              <a:t> to </a:t>
            </a:r>
            <a:r>
              <a:rPr lang="it-IT" dirty="0" err="1"/>
              <a:t>reach</a:t>
            </a:r>
            <a:r>
              <a:rPr lang="it-IT" dirty="0"/>
              <a:t> an </a:t>
            </a:r>
            <a:r>
              <a:rPr lang="it-IT" dirty="0" err="1"/>
              <a:t>agreement</a:t>
            </a:r>
            <a:r>
              <a:rPr lang="it-IT" dirty="0"/>
              <a:t> </a:t>
            </a:r>
            <a:r>
              <a:rPr lang="it-IT" dirty="0" err="1"/>
              <a:t>through</a:t>
            </a:r>
            <a:r>
              <a:rPr lang="it-IT" dirty="0"/>
              <a:t> an </a:t>
            </a:r>
            <a:r>
              <a:rPr lang="it-IT" dirty="0" err="1"/>
              <a:t>argumentative</a:t>
            </a:r>
            <a:r>
              <a:rPr lang="it-IT" dirty="0"/>
              <a:t> </a:t>
            </a:r>
            <a:r>
              <a:rPr lang="it-IT" dirty="0" err="1"/>
              <a:t>discussion</a:t>
            </a:r>
            <a:r>
              <a:rPr lang="it-IT" dirty="0"/>
              <a:t>.</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a:t>
            </a:fld>
            <a:endParaRPr lang="en-US" dirty="0"/>
          </a:p>
        </p:txBody>
      </p:sp>
    </p:spTree>
    <p:extLst>
      <p:ext uri="{BB962C8B-B14F-4D97-AF65-F5344CB8AC3E}">
        <p14:creationId xmlns:p14="http://schemas.microsoft.com/office/powerpoint/2010/main" val="3086158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Aristotle says that there are two main sources of arguments: the technical proofs and the extra-technical proofs.</a:t>
            </a:r>
            <a:r>
              <a:rPr lang="en-US" baseline="0" dirty="0"/>
              <a:t> This latter are data facts figures testimonials… anything objective, factual. these you only need to FIND, not to elaborate with the rhetorical art (TECHNE). So they are called extra-</a:t>
            </a:r>
            <a:r>
              <a:rPr lang="en-US" baseline="0" dirty="0" err="1"/>
              <a:t>techne</a:t>
            </a:r>
            <a:r>
              <a:rPr lang="en-US" baseline="0" dirty="0"/>
              <a:t> proofs.</a:t>
            </a:r>
            <a:endParaRPr lang="it-IT" dirty="0"/>
          </a:p>
        </p:txBody>
      </p:sp>
      <p:sp>
        <p:nvSpPr>
          <p:cNvPr id="4" name="Slide Number Placeholder 3"/>
          <p:cNvSpPr>
            <a:spLocks noGrp="1"/>
          </p:cNvSpPr>
          <p:nvPr>
            <p:ph type="sldNum" sz="quarter" idx="10"/>
          </p:nvPr>
        </p:nvSpPr>
        <p:spPr/>
        <p:txBody>
          <a:bodyPr/>
          <a:lstStyle/>
          <a:p>
            <a:fld id="{CA5D3BF3-D352-46FC-8343-31F56E6730EA}" type="slidenum">
              <a:rPr lang="it-IT" smtClean="0"/>
              <a:pPr/>
              <a:t>3</a:t>
            </a:fld>
            <a:endParaRPr lang="it-IT" dirty="0"/>
          </a:p>
        </p:txBody>
      </p:sp>
    </p:spTree>
    <p:extLst>
      <p:ext uri="{BB962C8B-B14F-4D97-AF65-F5344CB8AC3E}">
        <p14:creationId xmlns:p14="http://schemas.microsoft.com/office/powerpoint/2010/main" val="3104001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4</a:t>
            </a:fld>
            <a:endParaRPr lang="en-US" dirty="0"/>
          </a:p>
        </p:txBody>
      </p:sp>
    </p:spTree>
    <p:extLst>
      <p:ext uri="{BB962C8B-B14F-4D97-AF65-F5344CB8AC3E}">
        <p14:creationId xmlns:p14="http://schemas.microsoft.com/office/powerpoint/2010/main" val="784600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dirty="0"/>
          </a:p>
        </p:txBody>
      </p:sp>
    </p:spTree>
    <p:extLst>
      <p:ext uri="{BB962C8B-B14F-4D97-AF65-F5344CB8AC3E}">
        <p14:creationId xmlns:p14="http://schemas.microsoft.com/office/powerpoint/2010/main" val="88219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6</a:t>
            </a:fld>
            <a:endParaRPr lang="en-US" dirty="0"/>
          </a:p>
        </p:txBody>
      </p:sp>
    </p:spTree>
    <p:extLst>
      <p:ext uri="{BB962C8B-B14F-4D97-AF65-F5344CB8AC3E}">
        <p14:creationId xmlns:p14="http://schemas.microsoft.com/office/powerpoint/2010/main" val="928445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7</a:t>
            </a:fld>
            <a:endParaRPr lang="en-US" dirty="0"/>
          </a:p>
        </p:txBody>
      </p:sp>
    </p:spTree>
    <p:extLst>
      <p:ext uri="{BB962C8B-B14F-4D97-AF65-F5344CB8AC3E}">
        <p14:creationId xmlns:p14="http://schemas.microsoft.com/office/powerpoint/2010/main" val="2413308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A5D3BF3-D352-46FC-8343-31F56E6730EA}" type="slidenum">
              <a:rPr lang="it-IT" smtClean="0"/>
              <a:pPr/>
              <a:t>13</a:t>
            </a:fld>
            <a:endParaRPr lang="it-IT" dirty="0"/>
          </a:p>
        </p:txBody>
      </p:sp>
    </p:spTree>
    <p:extLst>
      <p:ext uri="{BB962C8B-B14F-4D97-AF65-F5344CB8AC3E}">
        <p14:creationId xmlns:p14="http://schemas.microsoft.com/office/powerpoint/2010/main" val="424806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it-IT"/>
              <a:t>Role of Quasi-Logical Arguments, I</a:t>
            </a:r>
            <a:r>
              <a:rPr lang="pt-BR"/>
              <a:t>va Svačinová, </a:t>
            </a:r>
            <a:r>
              <a:rPr lang="pt-BR" i="1"/>
              <a:t>Informal Logic, </a:t>
            </a:r>
            <a:r>
              <a:rPr lang="pt-BR"/>
              <a:t>Vol. 37, No. 1 (2017), pp. 42-69</a:t>
            </a:r>
            <a:endParaRPr lang="it-IT" dirty="0"/>
          </a:p>
        </p:txBody>
      </p:sp>
      <p:sp>
        <p:nvSpPr>
          <p:cNvPr id="4" name="Slide Number Placeholder 3"/>
          <p:cNvSpPr>
            <a:spLocks noGrp="1"/>
          </p:cNvSpPr>
          <p:nvPr>
            <p:ph type="sldNum" sz="quarter" idx="10"/>
          </p:nvPr>
        </p:nvSpPr>
        <p:spPr/>
        <p:txBody>
          <a:bodyPr/>
          <a:lstStyle/>
          <a:p>
            <a:fld id="{CA5D3BF3-D352-46FC-8343-31F56E6730EA}" type="slidenum">
              <a:rPr lang="it-IT" smtClean="0"/>
              <a:pPr/>
              <a:t>15</a:t>
            </a:fld>
            <a:endParaRPr lang="it-IT" dirty="0"/>
          </a:p>
        </p:txBody>
      </p:sp>
    </p:spTree>
    <p:extLst>
      <p:ext uri="{BB962C8B-B14F-4D97-AF65-F5344CB8AC3E}">
        <p14:creationId xmlns:p14="http://schemas.microsoft.com/office/powerpoint/2010/main" val="3340778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PERELMAN says: “the problem is to know in what case it is rational or just to treat in the same way two beings or situations which differ but which can be likened to each other. It is thus a question of partial, not complete identification, which is justified by the fact that the differences are considered negligible but the likeness essential. </a:t>
            </a:r>
            <a:r>
              <a:rPr lang="en-US" dirty="0"/>
              <a:t>What is or is not essential depends upon the desired end.” </a:t>
            </a:r>
          </a:p>
          <a:p>
            <a:r>
              <a:rPr lang="en-US" dirty="0"/>
              <a:t>The</a:t>
            </a:r>
            <a:r>
              <a:rPr lang="en-US" baseline="0" dirty="0"/>
              <a:t> saying is: “one good turn deserves another”</a:t>
            </a:r>
          </a:p>
          <a:p>
            <a:r>
              <a:rPr lang="en-US" baseline="0" dirty="0"/>
              <a:t>A:B=B:A</a:t>
            </a:r>
          </a:p>
          <a:p>
            <a:r>
              <a:rPr lang="en-US" baseline="0" dirty="0"/>
              <a:t>How to </a:t>
            </a:r>
            <a:r>
              <a:rPr lang="en-US" sz="1200" kern="1200" baseline="0" dirty="0">
                <a:solidFill>
                  <a:schemeClr val="tx1"/>
                </a:solidFill>
                <a:latin typeface="+mn-lt"/>
                <a:ea typeface="+mn-ea"/>
                <a:cs typeface="+mn-cs"/>
              </a:rPr>
              <a:t>refute this argument?</a:t>
            </a:r>
          </a:p>
          <a:p>
            <a:r>
              <a:rPr lang="en-US" sz="1200" kern="1200" baseline="0" dirty="0">
                <a:solidFill>
                  <a:schemeClr val="tx1"/>
                </a:solidFill>
                <a:latin typeface="+mn-lt"/>
                <a:ea typeface="+mn-ea"/>
                <a:cs typeface="+mn-cs"/>
              </a:rPr>
              <a:t>Show inapplicability by showing that the symmetry is only apparent</a:t>
            </a:r>
          </a:p>
          <a:p>
            <a:r>
              <a:rPr lang="en-US" sz="1200" kern="1200" baseline="0" dirty="0">
                <a:solidFill>
                  <a:schemeClr val="tx1"/>
                </a:solidFill>
                <a:latin typeface="+mn-lt"/>
                <a:ea typeface="+mn-ea"/>
                <a:cs typeface="+mn-cs"/>
              </a:rPr>
              <a:t>Demonstrate the two terms are NOT essentially similar, but different</a:t>
            </a:r>
          </a:p>
          <a:p>
            <a:pPr marL="0" marR="0" indent="0" algn="l" defTabSz="914400" rtl="0" eaLnBrk="1" fontAlgn="auto" latinLnBrk="0" hangingPunct="1">
              <a:lnSpc>
                <a:spcPct val="100000"/>
              </a:lnSpc>
              <a:spcBef>
                <a:spcPts val="0"/>
              </a:spcBef>
              <a:spcAft>
                <a:spcPts val="0"/>
              </a:spcAft>
              <a:buClrTx/>
              <a:buSzTx/>
              <a:buFontTx/>
              <a:buNone/>
              <a:tabLst/>
              <a:defRPr/>
            </a:pPr>
            <a:r>
              <a:rPr lang="it-IT" sz="1200" kern="1200" baseline="0" dirty="0">
                <a:solidFill>
                  <a:schemeClr val="tx1"/>
                </a:solidFill>
                <a:latin typeface="+mn-lt"/>
                <a:ea typeface="+mn-ea"/>
                <a:cs typeface="+mn-cs"/>
              </a:rPr>
              <a:t>(</a:t>
            </a:r>
            <a:r>
              <a:rPr lang="en-US" baseline="0" dirty="0"/>
              <a:t>(http://intelligenceofpersuasion.blogspot.com/2015/09/a-beginners-guide-to-perelmans-quasi.html – for this and the successive slides on quasi-logic arguments)</a:t>
            </a:r>
            <a:endParaRPr lang="it-IT" sz="1200" kern="1200" baseline="0" dirty="0">
              <a:solidFill>
                <a:schemeClr val="tx1"/>
              </a:solidFill>
              <a:latin typeface="+mn-lt"/>
              <a:ea typeface="+mn-ea"/>
              <a:cs typeface="+mn-cs"/>
            </a:endParaRPr>
          </a:p>
          <a:p>
            <a:endParaRPr lang="it-IT"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A5D3BF3-D352-46FC-8343-31F56E6730EA}" type="slidenum">
              <a:rPr lang="it-IT" smtClean="0"/>
              <a:pPr/>
              <a:t>16</a:t>
            </a:fld>
            <a:endParaRPr lang="it-IT" dirty="0"/>
          </a:p>
        </p:txBody>
      </p:sp>
    </p:spTree>
    <p:extLst>
      <p:ext uri="{BB962C8B-B14F-4D97-AF65-F5344CB8AC3E}">
        <p14:creationId xmlns:p14="http://schemas.microsoft.com/office/powerpoint/2010/main" val="2228772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10"/>
          </p:nvPr>
        </p:nvSpPr>
        <p:spPr/>
        <p:txBody>
          <a:bodyPr/>
          <a:lstStyle/>
          <a:p>
            <a:fld id="{CA5D3BF3-D352-46FC-8343-31F56E6730EA}" type="slidenum">
              <a:rPr lang="it-IT" smtClean="0"/>
              <a:pPr/>
              <a:t>17</a:t>
            </a:fld>
            <a:endParaRPr lang="it-IT" dirty="0"/>
          </a:p>
        </p:txBody>
      </p:sp>
    </p:spTree>
    <p:extLst>
      <p:ext uri="{BB962C8B-B14F-4D97-AF65-F5344CB8AC3E}">
        <p14:creationId xmlns:p14="http://schemas.microsoft.com/office/powerpoint/2010/main" val="3179187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10"/>
          </p:nvPr>
        </p:nvSpPr>
        <p:spPr/>
        <p:txBody>
          <a:bodyPr/>
          <a:lstStyle/>
          <a:p>
            <a:fld id="{CA5D3BF3-D352-46FC-8343-31F56E6730EA}" type="slidenum">
              <a:rPr lang="it-IT" smtClean="0"/>
              <a:pPr/>
              <a:t>18</a:t>
            </a:fld>
            <a:endParaRPr lang="it-IT" dirty="0"/>
          </a:p>
        </p:txBody>
      </p:sp>
    </p:spTree>
    <p:extLst>
      <p:ext uri="{BB962C8B-B14F-4D97-AF65-F5344CB8AC3E}">
        <p14:creationId xmlns:p14="http://schemas.microsoft.com/office/powerpoint/2010/main" val="278133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19</a:t>
            </a:fld>
            <a:endParaRPr lang="en-US" dirty="0"/>
          </a:p>
        </p:txBody>
      </p:sp>
    </p:spTree>
    <p:extLst>
      <p:ext uri="{BB962C8B-B14F-4D97-AF65-F5344CB8AC3E}">
        <p14:creationId xmlns:p14="http://schemas.microsoft.com/office/powerpoint/2010/main" val="2178709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Ad </a:t>
            </a:r>
            <a:r>
              <a:rPr lang="it-IT" dirty="0" err="1"/>
              <a:t>Ignorantiam</a:t>
            </a:r>
            <a:endParaRPr lang="en-US" dirty="0"/>
          </a:p>
          <a:p>
            <a:r>
              <a:rPr lang="en-US" dirty="0"/>
              <a:t>The argument from ignorance represents a type of </a:t>
            </a:r>
            <a:r>
              <a:rPr lang="en-US" u="sng" dirty="0"/>
              <a:t>false dichotomy </a:t>
            </a:r>
            <a:r>
              <a:rPr lang="en-US" dirty="0"/>
              <a:t>in that it excludes a third option, which is that there is insufficient investigation and therefore insufficient information to prove the proposition satisfactorily to be either true or false. Nor does it allow the admission that the choices may in fact not be two (true or false), but may be as many as four, (1) true, (2) false, (3) unknown between true or false, and (4) being unknowable (among the first three).</a:t>
            </a:r>
          </a:p>
          <a:p>
            <a:endParaRPr lang="it-IT" dirty="0"/>
          </a:p>
          <a:p>
            <a:r>
              <a:rPr lang="en-US" dirty="0"/>
              <a:t>An ignorance fallacy occurs when a person mistakenly believes something to be true because she does not know enough about the subject to know otherwise. For example, an argument based on stereotype or hasty generalization is an example of ignorance fallacy. Such an argument is persuasive because the audience is ignorant.</a:t>
            </a:r>
          </a:p>
        </p:txBody>
      </p:sp>
      <p:sp>
        <p:nvSpPr>
          <p:cNvPr id="4" name="Slide Number Placeholder 3"/>
          <p:cNvSpPr>
            <a:spLocks noGrp="1"/>
          </p:cNvSpPr>
          <p:nvPr>
            <p:ph type="sldNum" sz="quarter" idx="10"/>
          </p:nvPr>
        </p:nvSpPr>
        <p:spPr/>
        <p:txBody>
          <a:bodyPr/>
          <a:lstStyle/>
          <a:p>
            <a:fld id="{CA5D3BF3-D352-46FC-8343-31F56E6730EA}" type="slidenum">
              <a:rPr lang="en-US" smtClean="0"/>
              <a:pPr/>
              <a:t>20</a:t>
            </a:fld>
            <a:endParaRPr lang="en-US" dirty="0"/>
          </a:p>
        </p:txBody>
      </p:sp>
    </p:spTree>
    <p:extLst>
      <p:ext uri="{BB962C8B-B14F-4D97-AF65-F5344CB8AC3E}">
        <p14:creationId xmlns:p14="http://schemas.microsoft.com/office/powerpoint/2010/main" val="3304999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21</a:t>
            </a:fld>
            <a:endParaRPr lang="en-US" dirty="0"/>
          </a:p>
        </p:txBody>
      </p:sp>
    </p:spTree>
    <p:extLst>
      <p:ext uri="{BB962C8B-B14F-4D97-AF65-F5344CB8AC3E}">
        <p14:creationId xmlns:p14="http://schemas.microsoft.com/office/powerpoint/2010/main" val="470540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 Latin:</a:t>
            </a:r>
            <a:r>
              <a:rPr lang="it-IT" baseline="0" dirty="0"/>
              <a:t> «</a:t>
            </a:r>
            <a:r>
              <a:rPr lang="it-IT" baseline="0" dirty="0" err="1"/>
              <a:t>Argumentum</a:t>
            </a:r>
            <a:r>
              <a:rPr lang="it-IT" baseline="0" dirty="0"/>
              <a:t> ad </a:t>
            </a:r>
            <a:r>
              <a:rPr lang="it-IT" baseline="0" dirty="0" err="1"/>
              <a:t>verecundiam</a:t>
            </a:r>
            <a:r>
              <a:rPr lang="it-IT" baseline="0" dirty="0"/>
              <a:t>»</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22</a:t>
            </a:fld>
            <a:endParaRPr lang="en-US" dirty="0"/>
          </a:p>
        </p:txBody>
      </p:sp>
    </p:spTree>
    <p:extLst>
      <p:ext uri="{BB962C8B-B14F-4D97-AF65-F5344CB8AC3E}">
        <p14:creationId xmlns:p14="http://schemas.microsoft.com/office/powerpoint/2010/main" val="559394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23</a:t>
            </a:fld>
            <a:endParaRPr lang="en-US" dirty="0"/>
          </a:p>
        </p:txBody>
      </p:sp>
    </p:spTree>
    <p:extLst>
      <p:ext uri="{BB962C8B-B14F-4D97-AF65-F5344CB8AC3E}">
        <p14:creationId xmlns:p14="http://schemas.microsoft.com/office/powerpoint/2010/main" val="3737975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Latin </a:t>
            </a:r>
            <a:r>
              <a:rPr lang="it-IT" dirty="0" err="1"/>
              <a:t>name</a:t>
            </a:r>
            <a:r>
              <a:rPr lang="it-IT" dirty="0"/>
              <a:t>: </a:t>
            </a:r>
            <a:r>
              <a:rPr lang="it-IT" dirty="0" err="1"/>
              <a:t>Argumentum</a:t>
            </a:r>
            <a:r>
              <a:rPr lang="it-IT" dirty="0"/>
              <a:t> ad </a:t>
            </a:r>
            <a:r>
              <a:rPr lang="it-IT" dirty="0" err="1"/>
              <a:t>hominem</a:t>
            </a:r>
            <a:r>
              <a:rPr lang="it-IT" dirty="0"/>
              <a:t> or </a:t>
            </a:r>
            <a:r>
              <a:rPr lang="it-IT" dirty="0" err="1"/>
              <a:t>Argumentum</a:t>
            </a:r>
            <a:r>
              <a:rPr lang="it-IT" dirty="0"/>
              <a:t> ad </a:t>
            </a:r>
            <a:r>
              <a:rPr lang="it-IT" dirty="0" err="1"/>
              <a:t>personam</a:t>
            </a:r>
            <a:endParaRPr lang="it-IT"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Informal Structure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Person </a:t>
            </a:r>
            <a:r>
              <a:rPr lang="en-US" b="1" i="1" dirty="0"/>
              <a:t>L</a:t>
            </a:r>
            <a:r>
              <a:rPr lang="en-US" dirty="0"/>
              <a:t> says argument </a:t>
            </a:r>
            <a:r>
              <a:rPr lang="en-US" b="1" i="1" dirty="0"/>
              <a:t>A</a:t>
            </a:r>
            <a:r>
              <a:rPr lang="en-US" dirty="0"/>
              <a:t>.</a:t>
            </a:r>
            <a:br>
              <a:rPr lang="en-US" dirty="0"/>
            </a:br>
            <a:r>
              <a:rPr lang="en-US" u="sng" dirty="0"/>
              <a:t>Person </a:t>
            </a:r>
            <a:r>
              <a:rPr lang="en-US" b="1" i="1" u="sng" dirty="0"/>
              <a:t>L</a:t>
            </a:r>
            <a:r>
              <a:rPr lang="en-US" u="sng" dirty="0"/>
              <a:t>'s circumstance or character is not satisfactory.</a:t>
            </a:r>
            <a:br>
              <a:rPr lang="en-US" u="sng" dirty="0"/>
            </a:br>
            <a:r>
              <a:rPr lang="en-US" dirty="0"/>
              <a:t>Argument </a:t>
            </a:r>
            <a:r>
              <a:rPr lang="en-US" b="1" i="1" dirty="0"/>
              <a:t>A</a:t>
            </a:r>
            <a:r>
              <a:rPr lang="en-US" dirty="0"/>
              <a:t> is not a good argument.</a:t>
            </a:r>
          </a:p>
          <a:p>
            <a:endParaRPr lang="it-IT" dirty="0"/>
          </a:p>
          <a:p>
            <a:r>
              <a:rPr lang="it-IT" dirty="0"/>
              <a:t>BIG ISSUE: do </a:t>
            </a:r>
            <a:r>
              <a:rPr lang="it-IT" dirty="0" err="1"/>
              <a:t>you</a:t>
            </a:r>
            <a:r>
              <a:rPr lang="it-IT" dirty="0"/>
              <a:t> </a:t>
            </a:r>
            <a:r>
              <a:rPr lang="it-IT" dirty="0" err="1"/>
              <a:t>need</a:t>
            </a:r>
            <a:r>
              <a:rPr lang="it-IT" dirty="0"/>
              <a:t> to be </a:t>
            </a:r>
            <a:r>
              <a:rPr lang="it-IT" dirty="0" err="1"/>
              <a:t>perfect</a:t>
            </a:r>
            <a:r>
              <a:rPr lang="it-IT" dirty="0"/>
              <a:t> in </a:t>
            </a:r>
            <a:r>
              <a:rPr lang="it-IT" dirty="0" err="1"/>
              <a:t>order</a:t>
            </a:r>
            <a:r>
              <a:rPr lang="it-IT" dirty="0"/>
              <a:t> to be </a:t>
            </a:r>
            <a:r>
              <a:rPr lang="it-IT" dirty="0" err="1"/>
              <a:t>allowed</a:t>
            </a:r>
            <a:r>
              <a:rPr lang="it-IT" dirty="0"/>
              <a:t> to </a:t>
            </a:r>
            <a:r>
              <a:rPr lang="it-IT" dirty="0" err="1"/>
              <a:t>criticize</a:t>
            </a:r>
            <a:r>
              <a:rPr lang="it-IT" dirty="0"/>
              <a:t> </a:t>
            </a:r>
            <a:r>
              <a:rPr lang="it-IT" dirty="0" err="1"/>
              <a:t>someone</a:t>
            </a:r>
            <a:r>
              <a:rPr lang="it-IT" dirty="0"/>
              <a:t>? </a:t>
            </a:r>
          </a:p>
          <a:p>
            <a:r>
              <a:rPr lang="it-IT" dirty="0" err="1"/>
              <a:t>Carere</a:t>
            </a:r>
            <a:r>
              <a:rPr lang="it-IT" dirty="0"/>
              <a:t> </a:t>
            </a:r>
            <a:r>
              <a:rPr lang="it-IT" dirty="0" err="1"/>
              <a:t>debet</a:t>
            </a:r>
            <a:r>
              <a:rPr lang="it-IT" dirty="0"/>
              <a:t> </a:t>
            </a:r>
            <a:r>
              <a:rPr lang="it-IT" dirty="0" err="1"/>
              <a:t>omni</a:t>
            </a:r>
            <a:r>
              <a:rPr lang="it-IT" baseline="0" dirty="0"/>
              <a:t> </a:t>
            </a:r>
            <a:r>
              <a:rPr lang="it-IT" baseline="0" dirty="0" err="1"/>
              <a:t>vitio</a:t>
            </a:r>
            <a:r>
              <a:rPr lang="it-IT" baseline="0" dirty="0"/>
              <a:t> qui </a:t>
            </a:r>
            <a:r>
              <a:rPr lang="it-IT" baseline="0" dirty="0" err="1"/>
              <a:t>dicere</a:t>
            </a:r>
            <a:r>
              <a:rPr lang="it-IT" baseline="0" dirty="0"/>
              <a:t> in </a:t>
            </a:r>
            <a:r>
              <a:rPr lang="it-IT" baseline="0" dirty="0" err="1"/>
              <a:t>alterum</a:t>
            </a:r>
            <a:r>
              <a:rPr lang="it-IT" baseline="0" dirty="0"/>
              <a:t> </a:t>
            </a:r>
            <a:r>
              <a:rPr lang="it-IT" baseline="0" dirty="0" err="1"/>
              <a:t>paratus</a:t>
            </a:r>
            <a:r>
              <a:rPr lang="it-IT" baseline="0" dirty="0"/>
              <a:t> est: </a:t>
            </a:r>
            <a:r>
              <a:rPr lang="it-IT" baseline="0" dirty="0" err="1"/>
              <a:t>those</a:t>
            </a:r>
            <a:r>
              <a:rPr lang="it-IT" baseline="0" dirty="0"/>
              <a:t> </a:t>
            </a:r>
            <a:r>
              <a:rPr lang="it-IT" baseline="0" dirty="0" err="1"/>
              <a:t>who</a:t>
            </a:r>
            <a:r>
              <a:rPr lang="it-IT" baseline="0" dirty="0"/>
              <a:t> </a:t>
            </a:r>
            <a:r>
              <a:rPr lang="it-IT" baseline="0" dirty="0" err="1"/>
              <a:t>want</a:t>
            </a:r>
            <a:r>
              <a:rPr lang="it-IT" baseline="0" dirty="0"/>
              <a:t> to </a:t>
            </a:r>
            <a:r>
              <a:rPr lang="it-IT" baseline="0" dirty="0" err="1"/>
              <a:t>criticize</a:t>
            </a:r>
            <a:r>
              <a:rPr lang="it-IT" baseline="0" dirty="0"/>
              <a:t> must </a:t>
            </a:r>
            <a:r>
              <a:rPr lang="it-IT" baseline="0" dirty="0" err="1"/>
              <a:t>have</a:t>
            </a:r>
            <a:r>
              <a:rPr lang="it-IT" baseline="0" dirty="0"/>
              <a:t> no </a:t>
            </a:r>
            <a:r>
              <a:rPr lang="it-IT" baseline="0" dirty="0" err="1"/>
              <a:t>faults</a:t>
            </a:r>
            <a:r>
              <a:rPr lang="it-IT" baseline="0" dirty="0"/>
              <a:t>.</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24</a:t>
            </a:fld>
            <a:endParaRPr lang="en-US" dirty="0"/>
          </a:p>
        </p:txBody>
      </p:sp>
    </p:spTree>
    <p:extLst>
      <p:ext uri="{BB962C8B-B14F-4D97-AF65-F5344CB8AC3E}">
        <p14:creationId xmlns:p14="http://schemas.microsoft.com/office/powerpoint/2010/main" val="3746874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Not all attacks on the person are problematic (though they are usually considered</a:t>
            </a:r>
            <a:r>
              <a:rPr lang="en-US" b="0" baseline="0" dirty="0"/>
              <a:t> “bad” moves in a debate)</a:t>
            </a:r>
            <a:r>
              <a:rPr lang="en-US" b="0" dirty="0"/>
              <a:t>. It is possible to discredit the arguer in a way that effectively undercuts his argument. For example, one could challenge a speaker's credibility by showing that it is based on intentional deception:</a:t>
            </a:r>
            <a:r>
              <a:rPr lang="en-US" b="0" baseline="0" dirty="0"/>
              <a:t> </a:t>
            </a:r>
            <a:r>
              <a:rPr lang="en-US" b="0" dirty="0"/>
              <a:t>the person is “dishonest” or “a liar”.</a:t>
            </a:r>
          </a:p>
        </p:txBody>
      </p:sp>
      <p:sp>
        <p:nvSpPr>
          <p:cNvPr id="4" name="Slide Number Placeholder 3"/>
          <p:cNvSpPr>
            <a:spLocks noGrp="1"/>
          </p:cNvSpPr>
          <p:nvPr>
            <p:ph type="sldNum" sz="quarter" idx="10"/>
          </p:nvPr>
        </p:nvSpPr>
        <p:spPr/>
        <p:txBody>
          <a:bodyPr/>
          <a:lstStyle/>
          <a:p>
            <a:fld id="{CA5D3BF3-D352-46FC-8343-31F56E6730EA}" type="slidenum">
              <a:rPr lang="en-US" smtClean="0"/>
              <a:pPr/>
              <a:t>25</a:t>
            </a:fld>
            <a:endParaRPr lang="en-US" dirty="0"/>
          </a:p>
        </p:txBody>
      </p:sp>
    </p:spTree>
    <p:extLst>
      <p:ext uri="{BB962C8B-B14F-4D97-AF65-F5344CB8AC3E}">
        <p14:creationId xmlns:p14="http://schemas.microsoft.com/office/powerpoint/2010/main" val="4205036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Argumentum</a:t>
            </a:r>
            <a:r>
              <a:rPr lang="it-IT" dirty="0"/>
              <a:t> ad </a:t>
            </a:r>
            <a:r>
              <a:rPr lang="it-IT" dirty="0" err="1"/>
              <a:t>misericordiam</a:t>
            </a:r>
            <a:endParaRPr lang="it-IT" dirty="0"/>
          </a:p>
          <a:p>
            <a:r>
              <a:rPr lang="it-IT" dirty="0"/>
              <a:t>Schema:</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Person </a:t>
            </a:r>
            <a:r>
              <a:rPr lang="en-US" i="1" dirty="0"/>
              <a:t>L</a:t>
            </a:r>
            <a:r>
              <a:rPr lang="en-US" dirty="0"/>
              <a:t> argues statement </a:t>
            </a:r>
            <a:r>
              <a:rPr lang="en-US" i="1" dirty="0"/>
              <a:t>p</a:t>
            </a:r>
            <a:r>
              <a:rPr lang="en-US" dirty="0"/>
              <a:t> or argument </a:t>
            </a:r>
            <a:r>
              <a:rPr lang="en-US" i="1" dirty="0"/>
              <a:t>A</a:t>
            </a:r>
            <a:r>
              <a:rPr lang="en-US" b="1" dirty="0"/>
              <a:t>.</a:t>
            </a:r>
            <a:br>
              <a:rPr lang="en-US" b="1" dirty="0"/>
            </a:br>
            <a:r>
              <a:rPr lang="en-US" i="1" dirty="0"/>
              <a:t>L</a:t>
            </a:r>
            <a:r>
              <a:rPr lang="en-US" dirty="0"/>
              <a:t> deserves pity because of circumstance </a:t>
            </a:r>
            <a:r>
              <a:rPr lang="en-US" i="1" dirty="0"/>
              <a:t>y.</a:t>
            </a:r>
            <a:br>
              <a:rPr lang="en-US" i="1" dirty="0"/>
            </a:br>
            <a:r>
              <a:rPr lang="en-US" u="sng" dirty="0"/>
              <a:t>Circumstance </a:t>
            </a:r>
            <a:r>
              <a:rPr lang="en-US" i="1" u="sng" dirty="0"/>
              <a:t>y</a:t>
            </a:r>
            <a:r>
              <a:rPr lang="en-US" u="sng" dirty="0"/>
              <a:t> is irrelevant to </a:t>
            </a:r>
            <a:r>
              <a:rPr lang="en-US" i="1" u="sng" dirty="0"/>
              <a:t>p</a:t>
            </a:r>
            <a:r>
              <a:rPr lang="en-US" u="sng" dirty="0"/>
              <a:t> or </a:t>
            </a:r>
            <a:r>
              <a:rPr lang="en-US" i="1" u="sng" dirty="0"/>
              <a:t>A</a:t>
            </a:r>
            <a:r>
              <a:rPr lang="en-US" u="sng" dirty="0"/>
              <a:t>.</a:t>
            </a:r>
            <a:br>
              <a:rPr lang="en-US" u="sng" dirty="0"/>
            </a:br>
            <a:r>
              <a:rPr lang="en-US" dirty="0"/>
              <a:t>Statement </a:t>
            </a:r>
            <a:r>
              <a:rPr lang="en-US" i="1" dirty="0"/>
              <a:t>p</a:t>
            </a:r>
            <a:r>
              <a:rPr lang="en-US" dirty="0"/>
              <a:t> is true or argument </a:t>
            </a:r>
            <a:r>
              <a:rPr lang="en-US" i="1" dirty="0"/>
              <a:t>A</a:t>
            </a:r>
            <a:r>
              <a:rPr lang="en-US" dirty="0"/>
              <a:t> is good.</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26</a:t>
            </a:fld>
            <a:endParaRPr lang="en-US" dirty="0"/>
          </a:p>
        </p:txBody>
      </p:sp>
    </p:spTree>
    <p:extLst>
      <p:ext uri="{BB962C8B-B14F-4D97-AF65-F5344CB8AC3E}">
        <p14:creationId xmlns:p14="http://schemas.microsoft.com/office/powerpoint/2010/main" val="371837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Explanation:</a:t>
            </a:r>
            <a:r>
              <a:rPr lang="en-US" dirty="0"/>
              <a:t> The presupposition is that changing the gun laws will decrease the number of school shootings.  This may be the case, but it is a claim that is implied in the statement and hidden by a more complex question.  Reactively, when one hears a question such as this, one's mind will attempt to search for an answer to the question—which is actually a distraction from rejecting the implicit claim being made.  It is quite brilliant, but still fallacious.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Complex (or assumptive) questions are designed to take for granted the very question at issue. As a former police interrogator and fraud examiner states, "Regardless of the questioner's surety of … guilt, </a:t>
            </a:r>
            <a:r>
              <a:rPr lang="en-US" u="sng" dirty="0"/>
              <a:t>it would be most sensible to start with [a] question [that] … assumes guilt, which makes the job of denial more difficult than issuing a simple ‘no.</a:t>
            </a:r>
            <a:r>
              <a:rPr lang="en-US" dirty="0"/>
              <a:t>’</a:t>
            </a:r>
          </a:p>
          <a:p>
            <a:r>
              <a:rPr lang="en-US" u="sng" dirty="0"/>
              <a:t>Counselors, psychologists, and related professionals use complex question as an investigative technique</a:t>
            </a:r>
            <a:r>
              <a:rPr lang="en-US" dirty="0"/>
              <a:t>.</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it-IT"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27</a:t>
            </a:fld>
            <a:endParaRPr lang="en-US" dirty="0"/>
          </a:p>
        </p:txBody>
      </p:sp>
    </p:spTree>
    <p:extLst>
      <p:ext uri="{BB962C8B-B14F-4D97-AF65-F5344CB8AC3E}">
        <p14:creationId xmlns:p14="http://schemas.microsoft.com/office/powerpoint/2010/main" val="3049910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Informal</a:t>
            </a:r>
            <a:r>
              <a:rPr lang="it-IT" dirty="0"/>
              <a:t> </a:t>
            </a:r>
            <a:r>
              <a:rPr lang="it-IT" dirty="0" err="1"/>
              <a:t>structure</a:t>
            </a:r>
            <a:r>
              <a:rPr lang="it-IT" dirty="0"/>
              <a:t>:</a:t>
            </a:r>
            <a:r>
              <a:rPr lang="it-IT" baseline="0" dirty="0"/>
              <a:t> </a:t>
            </a:r>
            <a:r>
              <a:rPr lang="en-US" u="sng" dirty="0"/>
              <a:t>Event </a:t>
            </a:r>
            <a:r>
              <a:rPr lang="en-US" i="1" u="sng" dirty="0"/>
              <a:t>x</a:t>
            </a:r>
            <a:r>
              <a:rPr lang="en-US" u="sng" dirty="0"/>
              <a:t> is related to (or is followed by) event </a:t>
            </a:r>
            <a:r>
              <a:rPr lang="en-US" i="1" u="sng" dirty="0"/>
              <a:t>y</a:t>
            </a:r>
            <a:r>
              <a:rPr lang="en-US" u="sng" dirty="0"/>
              <a:t>.</a:t>
            </a:r>
            <a:br>
              <a:rPr lang="en-US" dirty="0"/>
            </a:br>
            <a:r>
              <a:rPr lang="en-US" dirty="0"/>
              <a:t>Event </a:t>
            </a:r>
            <a:r>
              <a:rPr lang="en-US" i="1" dirty="0"/>
              <a:t>x</a:t>
            </a:r>
            <a:r>
              <a:rPr lang="en-US" dirty="0"/>
              <a:t> caused event </a:t>
            </a:r>
            <a:r>
              <a:rPr lang="en-US" i="1" dirty="0"/>
              <a:t>y.</a:t>
            </a:r>
            <a:r>
              <a:rPr lang="en-US" dirty="0"/>
              <a:t> </a:t>
            </a:r>
            <a:r>
              <a:rPr lang="en-US" i="1" dirty="0"/>
              <a:t>or</a:t>
            </a:r>
            <a:endParaRPr lang="en-US" dirty="0"/>
          </a:p>
          <a:p>
            <a:r>
              <a:rPr lang="en-US" u="sng" dirty="0"/>
              <a:t>Events of kind </a:t>
            </a:r>
            <a:r>
              <a:rPr lang="en-US" i="1" u="sng" dirty="0"/>
              <a:t>x</a:t>
            </a:r>
            <a:r>
              <a:rPr lang="en-US" u="sng" dirty="0"/>
              <a:t> are followed by events of kind </a:t>
            </a:r>
            <a:r>
              <a:rPr lang="en-US" i="1" u="sng" dirty="0"/>
              <a:t>y</a:t>
            </a:r>
            <a:r>
              <a:rPr lang="en-US" dirty="0"/>
              <a:t>.</a:t>
            </a:r>
            <a:br>
              <a:rPr lang="en-US" dirty="0"/>
            </a:br>
            <a:r>
              <a:rPr lang="en-US" dirty="0"/>
              <a:t>Events of kind </a:t>
            </a:r>
            <a:r>
              <a:rPr lang="en-US" i="1" dirty="0"/>
              <a:t>x</a:t>
            </a:r>
            <a:r>
              <a:rPr lang="en-US" dirty="0"/>
              <a:t> cause events of kind </a:t>
            </a:r>
            <a:r>
              <a:rPr lang="en-US" i="1" dirty="0"/>
              <a:t>y</a:t>
            </a:r>
            <a:r>
              <a:rPr lang="en-US" dirty="0"/>
              <a:t>.</a:t>
            </a:r>
          </a:p>
          <a:p>
            <a:endParaRPr lang="it-IT"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Establishing causality in science is difficult.  Usually if all </a:t>
            </a:r>
            <a:r>
              <a:rPr lang="en-US" i="1" dirty="0"/>
              <a:t>A</a:t>
            </a:r>
            <a:r>
              <a:rPr lang="en-US" dirty="0"/>
              <a:t>'s are followed by </a:t>
            </a:r>
            <a:r>
              <a:rPr lang="en-US" i="1" dirty="0"/>
              <a:t>B</a:t>
            </a:r>
            <a:r>
              <a:rPr lang="en-US" dirty="0"/>
              <a:t>'s then one suspect that </a:t>
            </a:r>
            <a:r>
              <a:rPr lang="en-US" i="1" dirty="0"/>
              <a:t>A</a:t>
            </a:r>
            <a:r>
              <a:rPr lang="en-US" dirty="0"/>
              <a:t> caused </a:t>
            </a:r>
            <a:r>
              <a:rPr lang="en-US" i="1" dirty="0"/>
              <a:t>B</a:t>
            </a:r>
            <a:r>
              <a:rPr lang="en-US" dirty="0"/>
              <a:t>.  But even this generalization could be a coincidence.  For the most part, causality is no longer used in science;  correlation is sought instead. </a:t>
            </a:r>
          </a:p>
          <a:p>
            <a:pPr marL="0" marR="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indent="0" algn="l" defTabSz="914400" rtl="0" eaLnBrk="1" fontAlgn="auto" latinLnBrk="0" hangingPunct="1">
              <a:lnSpc>
                <a:spcPct val="100000"/>
              </a:lnSpc>
              <a:spcBef>
                <a:spcPts val="0"/>
              </a:spcBef>
              <a:spcAft>
                <a:spcPts val="0"/>
              </a:spcAft>
              <a:buClrTx/>
              <a:buSzTx/>
              <a:buFontTx/>
              <a:buNone/>
              <a:tabLst/>
              <a:defRPr/>
            </a:pPr>
            <a:r>
              <a:rPr lang="it-IT" dirty="0" err="1"/>
              <a:t>Physiognomy</a:t>
            </a:r>
            <a:r>
              <a:rPr lang="it-IT" dirty="0"/>
              <a:t>: «</a:t>
            </a:r>
            <a:r>
              <a:rPr lang="en-US" dirty="0"/>
              <a:t>the assessment of a person's character or personality from his or her outer appearance, especially the</a:t>
            </a:r>
            <a:r>
              <a:rPr lang="en-US" baseline="0" dirty="0"/>
              <a:t> face</a:t>
            </a:r>
            <a:r>
              <a:rPr lang="it-IT" dirty="0"/>
              <a:t>» (</a:t>
            </a:r>
            <a:r>
              <a:rPr lang="it-IT" dirty="0" err="1"/>
              <a:t>wikipedia</a:t>
            </a:r>
            <a:r>
              <a:rPr lang="it-IT" dirty="0"/>
              <a:t>). </a:t>
            </a:r>
            <a:r>
              <a:rPr lang="it-IT" dirty="0" err="1"/>
              <a:t>Finding</a:t>
            </a:r>
            <a:r>
              <a:rPr lang="it-IT" dirty="0"/>
              <a:t> a </a:t>
            </a:r>
            <a:r>
              <a:rPr lang="it-IT" dirty="0" err="1"/>
              <a:t>correlation</a:t>
            </a:r>
            <a:r>
              <a:rPr lang="it-IT" dirty="0"/>
              <a:t> </a:t>
            </a:r>
            <a:r>
              <a:rPr lang="it-IT" dirty="0" err="1"/>
              <a:t>between</a:t>
            </a:r>
            <a:r>
              <a:rPr lang="it-IT" dirty="0"/>
              <a:t> </a:t>
            </a:r>
            <a:r>
              <a:rPr lang="it-IT" dirty="0" err="1"/>
              <a:t>someone’s</a:t>
            </a:r>
            <a:r>
              <a:rPr lang="it-IT" dirty="0"/>
              <a:t> </a:t>
            </a:r>
            <a:r>
              <a:rPr lang="it-IT" dirty="0" err="1"/>
              <a:t>looks</a:t>
            </a:r>
            <a:r>
              <a:rPr lang="it-IT" dirty="0"/>
              <a:t> and </a:t>
            </a:r>
            <a:r>
              <a:rPr lang="it-IT" dirty="0" err="1"/>
              <a:t>her</a:t>
            </a:r>
            <a:r>
              <a:rPr lang="it-IT" baseline="0" dirty="0"/>
              <a:t> (</a:t>
            </a:r>
            <a:r>
              <a:rPr lang="it-IT" baseline="0" dirty="0" err="1"/>
              <a:t>criminal</a:t>
            </a:r>
            <a:r>
              <a:rPr lang="it-IT" baseline="0" dirty="0"/>
              <a:t>) </a:t>
            </a:r>
            <a:r>
              <a:rPr lang="it-IT" baseline="0" dirty="0" err="1"/>
              <a:t>behaviour</a:t>
            </a:r>
            <a:r>
              <a:rPr lang="it-IT" baseline="0" dirty="0"/>
              <a:t>… </a:t>
            </a:r>
            <a:r>
              <a:rPr lang="it-IT" baseline="0" dirty="0" err="1"/>
              <a:t>looks</a:t>
            </a:r>
            <a:r>
              <a:rPr lang="it-IT" baseline="0" dirty="0"/>
              <a:t> a </a:t>
            </a:r>
            <a:r>
              <a:rPr lang="it-IT" baseline="0" dirty="0" err="1"/>
              <a:t>quite</a:t>
            </a:r>
            <a:r>
              <a:rPr lang="it-IT" baseline="0" dirty="0"/>
              <a:t> </a:t>
            </a:r>
            <a:r>
              <a:rPr lang="it-IT" baseline="0" dirty="0" err="1"/>
              <a:t>debatable</a:t>
            </a:r>
            <a:r>
              <a:rPr lang="it-IT" baseline="0" dirty="0"/>
              <a:t> </a:t>
            </a:r>
            <a:r>
              <a:rPr lang="it-IT" baseline="0" dirty="0" err="1"/>
              <a:t>scientific</a:t>
            </a:r>
            <a:r>
              <a:rPr lang="it-IT" baseline="0" dirty="0"/>
              <a:t> position!</a:t>
            </a:r>
            <a:endParaRPr lang="en-US" dirty="0"/>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28</a:t>
            </a:fld>
            <a:endParaRPr lang="en-US" dirty="0"/>
          </a:p>
        </p:txBody>
      </p:sp>
    </p:spTree>
    <p:extLst>
      <p:ext uri="{BB962C8B-B14F-4D97-AF65-F5344CB8AC3E}">
        <p14:creationId xmlns:p14="http://schemas.microsoft.com/office/powerpoint/2010/main" val="3210180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30</a:t>
            </a:fld>
            <a:endParaRPr lang="en-US" dirty="0"/>
          </a:p>
        </p:txBody>
      </p:sp>
    </p:spTree>
    <p:extLst>
      <p:ext uri="{BB962C8B-B14F-4D97-AF65-F5344CB8AC3E}">
        <p14:creationId xmlns:p14="http://schemas.microsoft.com/office/powerpoint/2010/main" val="3259122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iapositiva titolo">
    <p:bg>
      <p:bgPr>
        <a:solidFill>
          <a:srgbClr val="321428"/>
        </a:solidFill>
        <a:effectLst/>
      </p:bgPr>
    </p:bg>
    <p:spTree>
      <p:nvGrpSpPr>
        <p:cNvPr id="1" name=""/>
        <p:cNvGrpSpPr/>
        <p:nvPr/>
      </p:nvGrpSpPr>
      <p:grpSpPr>
        <a:xfrm>
          <a:off x="0" y="0"/>
          <a:ext cx="0" cy="0"/>
          <a:chOff x="0" y="0"/>
          <a:chExt cx="0" cy="0"/>
        </a:xfrm>
      </p:grpSpPr>
      <p:sp>
        <p:nvSpPr>
          <p:cNvPr id="15" name="Rettangolo 14"/>
          <p:cNvSpPr/>
          <p:nvPr userDrawn="1"/>
        </p:nvSpPr>
        <p:spPr>
          <a:xfrm>
            <a:off x="0" y="0"/>
            <a:ext cx="9144000" cy="112395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ln>
                <a:noFill/>
              </a:ln>
              <a:solidFill>
                <a:srgbClr val="321428"/>
              </a:solidFill>
            </a:endParaRPr>
          </a:p>
        </p:txBody>
      </p:sp>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9" name="Subtitle 8"/>
          <p:cNvSpPr>
            <a:spLocks noGrp="1"/>
          </p:cNvSpPr>
          <p:nvPr>
            <p:ph type="subTitle" idx="1"/>
          </p:nvPr>
        </p:nvSpPr>
        <p:spPr>
          <a:xfrm>
            <a:off x="2362200" y="4537528"/>
            <a:ext cx="6515100" cy="514350"/>
          </a:xfrm>
        </p:spPr>
        <p:txBody>
          <a:bodyPr anchor="ctr">
            <a:normAutofit/>
          </a:bodyPr>
          <a:lstStyle>
            <a:lvl1pPr marL="0" indent="0" algn="l" eaLnBrk="1" latinLnBrk="0" hangingPunct="1">
              <a:buNone/>
              <a:defRPr kumimoji="0" lang="it-IT" sz="2000">
                <a:solidFill>
                  <a:srgbClr val="FFFFFF"/>
                </a:solidFill>
              </a:defRPr>
            </a:lvl1pPr>
            <a:lvl2pPr marL="457200" indent="0" algn="ctr" eaLnBrk="1" latinLnBrk="0" hangingPunct="1">
              <a:buNone/>
            </a:lvl2pPr>
            <a:lvl3pPr marL="914400" indent="0" algn="ctr" eaLnBrk="1" latinLnBrk="0" hangingPunct="1">
              <a:buNone/>
            </a:lvl3pPr>
            <a:lvl4pPr marL="1371600" indent="0" algn="ctr" eaLnBrk="1" latinLnBrk="0" hangingPunct="1">
              <a:buNone/>
            </a:lvl4pPr>
            <a:lvl5pPr marL="1828800" indent="0" algn="ctr" eaLnBrk="1" latinLnBrk="0" hangingPunct="1">
              <a:buNone/>
            </a:lvl5pPr>
            <a:lvl6pPr marL="2286000" indent="0" algn="ctr" eaLnBrk="1" latinLnBrk="0" hangingPunct="1">
              <a:buNone/>
            </a:lvl6pPr>
            <a:lvl7pPr marL="2743200" indent="0" algn="ctr" eaLnBrk="1" latinLnBrk="0" hangingPunct="1">
              <a:buNone/>
            </a:lvl7pPr>
            <a:lvl8pPr marL="3200400" indent="0" algn="ctr" eaLnBrk="1" latinLnBrk="0" hangingPunct="1">
              <a:buNone/>
            </a:lvl8pPr>
            <a:lvl9pPr marL="3657600" indent="0" algn="ctr" eaLnBrk="1" latinLnBrk="0" hangingPunct="1">
              <a:buNone/>
            </a:lvl9pPr>
          </a:lstStyle>
          <a:p>
            <a:pPr eaLnBrk="1" latinLnBrk="0" hangingPunct="1"/>
            <a:r>
              <a:rPr lang="en-US" dirty="0"/>
              <a:t>Click to edit Master subtitle style</a:t>
            </a:r>
            <a:endParaRPr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eaLnBrk="1" latinLnBrk="0" hangingPunct="1">
              <a:defRPr kumimoji="0" lang="it-IT" sz="1800">
                <a:solidFill>
                  <a:srgbClr val="FFFFFF"/>
                </a:solidFill>
              </a:defRPr>
            </a:lvl1pPr>
          </a:lstStyle>
          <a:p>
            <a:fld id="{047E157E-8DCB-4F70-A0AF-5EB586A91DD4}" type="datetime1">
              <a:rPr lang="it-IT" smtClean="0"/>
              <a:pPr/>
              <a:t>18/03/2024</a:t>
            </a:fld>
            <a:endParaRPr lang="it-IT" dirty="0"/>
          </a:p>
        </p:txBody>
      </p:sp>
      <p:sp>
        <p:nvSpPr>
          <p:cNvPr id="12" name="Rectangle 11"/>
          <p:cNvSpPr>
            <a:spLocks noGrp="1"/>
          </p:cNvSpPr>
          <p:nvPr>
            <p:ph type="title"/>
          </p:nvPr>
        </p:nvSpPr>
        <p:spPr>
          <a:xfrm>
            <a:off x="2362200" y="2343150"/>
            <a:ext cx="6477000" cy="2038350"/>
          </a:xfrm>
        </p:spPr>
        <p:txBody>
          <a:bodyPr rtlCol="0" anchor="b">
            <a:normAutofit/>
          </a:bodyPr>
          <a:lstStyle>
            <a:lvl1pPr eaLnBrk="1" latinLnBrk="0" hangingPunct="1">
              <a:defRPr kumimoji="0" lang="it-IT" sz="3600" cap="all" baseline="0"/>
            </a:lvl1pPr>
          </a:lstStyle>
          <a:p>
            <a:pPr eaLnBrk="1" latinLnBrk="0" hangingPunct="1"/>
            <a:r>
              <a:rPr lang="en-US" dirty="0"/>
              <a:t>Click to edit Master title style</a:t>
            </a:r>
            <a:endParaRPr dirty="0"/>
          </a:p>
        </p:txBody>
      </p:sp>
      <p:pic>
        <p:nvPicPr>
          <p:cNvPr id="14" name="Immagine 13" descr="LogoHOCposi.jpg"/>
          <p:cNvPicPr>
            <a:picLocks noChangeAspect="1"/>
          </p:cNvPicPr>
          <p:nvPr userDrawn="1"/>
        </p:nvPicPr>
        <p:blipFill>
          <a:blip r:embed="rId2"/>
          <a:stretch>
            <a:fillRect/>
          </a:stretch>
        </p:blipFill>
        <p:spPr>
          <a:xfrm>
            <a:off x="228600" y="180000"/>
            <a:ext cx="1905000" cy="799704"/>
          </a:xfrm>
          <a:prstGeom prst="rect">
            <a:avLst/>
          </a:prstGeom>
        </p:spPr>
      </p:pic>
      <p:sp>
        <p:nvSpPr>
          <p:cNvPr id="16" name="Footer Placeholder 16"/>
          <p:cNvSpPr>
            <a:spLocks noGrp="1"/>
          </p:cNvSpPr>
          <p:nvPr>
            <p:ph type="ftr" sz="quarter" idx="11"/>
          </p:nvPr>
        </p:nvSpPr>
        <p:spPr>
          <a:xfrm>
            <a:off x="2438399" y="209550"/>
            <a:ext cx="5514393" cy="298848"/>
          </a:xfrm>
        </p:spPr>
        <p:txBody>
          <a:bodyPr/>
          <a:lstStyle>
            <a:lvl1pPr algn="r" eaLnBrk="1" latinLnBrk="0" hangingPunct="1">
              <a:defRPr kumimoji="0" lang="it-IT">
                <a:solidFill>
                  <a:schemeClr val="bg2"/>
                </a:solidFill>
              </a:defRPr>
            </a:lvl1pPr>
          </a:lstStyle>
          <a:p>
            <a:r>
              <a:rPr lang="it-IT" dirty="0"/>
              <a:t>Pie di pagina</a:t>
            </a:r>
          </a:p>
        </p:txBody>
      </p:sp>
      <p:sp>
        <p:nvSpPr>
          <p:cNvPr id="18" name="Slide Number Placeholder 28"/>
          <p:cNvSpPr>
            <a:spLocks noGrp="1"/>
          </p:cNvSpPr>
          <p:nvPr>
            <p:ph type="sldNum" sz="quarter" idx="12"/>
          </p:nvPr>
        </p:nvSpPr>
        <p:spPr>
          <a:xfrm>
            <a:off x="8001000" y="209550"/>
            <a:ext cx="838200" cy="285750"/>
          </a:xfrm>
        </p:spPr>
        <p:txBody>
          <a:bodyPr/>
          <a:lstStyle>
            <a:lvl1pPr eaLnBrk="1" latinLnBrk="0" hangingPunct="1">
              <a:defRPr kumimoji="0" lang="it-IT">
                <a:solidFill>
                  <a:srgbClr val="321428"/>
                </a:solidFill>
              </a:defRPr>
            </a:lvl1pPr>
          </a:lstStyle>
          <a:p>
            <a:fld id="{8F82E0A0-C266-4798-8C8F-B9F91E9DA37E}" type="slidenum">
              <a:rPr lang="it-IT" smtClean="0"/>
              <a:pPr/>
              <a:t>‹#›</a:t>
            </a:fld>
            <a:endParaRPr lang="it-IT"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yout personalizzato">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en-US" dirty="0"/>
              <a:t>Click to edit Master title style</a:t>
            </a:r>
            <a:endParaRPr dirty="0"/>
          </a:p>
        </p:txBody>
      </p:sp>
      <p:sp>
        <p:nvSpPr>
          <p:cNvPr id="3" name="Rectangle 2"/>
          <p:cNvSpPr>
            <a:spLocks noGrp="1"/>
          </p:cNvSpPr>
          <p:nvPr>
            <p:ph type="dt" sz="half" idx="10"/>
          </p:nvPr>
        </p:nvSpPr>
        <p:spPr/>
        <p:txBody>
          <a:bodyPr/>
          <a:lstStyle/>
          <a:p>
            <a:fld id="{E4606EA6-EFEA-4C30-9264-4F9291A5780D}" type="datetime1">
              <a:rPr lang="en-US"/>
              <a:pPr/>
              <a:t>3/18/2024</a:t>
            </a:fld>
            <a:endParaRPr kumimoji="0" lang="it-IT" dirty="0"/>
          </a:p>
        </p:txBody>
      </p:sp>
      <p:sp>
        <p:nvSpPr>
          <p:cNvPr id="4" name="Rectangle 3"/>
          <p:cNvSpPr>
            <a:spLocks noGrp="1"/>
          </p:cNvSpPr>
          <p:nvPr>
            <p:ph type="ftr" sz="quarter" idx="11"/>
          </p:nvPr>
        </p:nvSpPr>
        <p:spPr/>
        <p:txBody>
          <a:bodyPr/>
          <a:lstStyle/>
          <a:p>
            <a:endParaRPr kumimoji="0" lang="it-IT" dirty="0"/>
          </a:p>
        </p:txBody>
      </p:sp>
      <p:sp>
        <p:nvSpPr>
          <p:cNvPr id="5" name="Rectangle 4"/>
          <p:cNvSpPr>
            <a:spLocks noGrp="1"/>
          </p:cNvSpPr>
          <p:nvPr>
            <p:ph type="sldNum" sz="quarter" idx="12"/>
          </p:nvPr>
        </p:nvSpPr>
        <p:spPr/>
        <p:txBody>
          <a:bodyPr/>
          <a:lstStyle/>
          <a:p>
            <a:pPr algn="ctr"/>
            <a:fld id="{8F82E0A0-C266-4798-8C8F-B9F91E9DA37E}" type="slidenum">
              <a:rPr kumimoji="0" lang="it-IT" sz="1400" b="1">
                <a:solidFill>
                  <a:srgbClr val="FFFFFF"/>
                </a:solidFill>
              </a:rPr>
              <a:pPr algn="ctr"/>
              <a:t>‹#›</a:t>
            </a:fld>
            <a:endParaRPr kumimoji="0" lang="it-IT" dirty="0"/>
          </a:p>
        </p:txBody>
      </p:sp>
      <p:sp>
        <p:nvSpPr>
          <p:cNvPr id="7" name="Rectangle 6"/>
          <p:cNvSpPr>
            <a:spLocks noGrp="1"/>
          </p:cNvSpPr>
          <p:nvPr>
            <p:ph sz="quarter" idx="13"/>
          </p:nvPr>
        </p:nvSpPr>
        <p:spPr>
          <a:xfrm>
            <a:off x="609600" y="1352550"/>
            <a:ext cx="8153400" cy="32766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dirty="0"/>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eaLnBrk="1" latinLnBrk="0" hangingPunct="1">
              <a:buNone/>
              <a:defRPr kumimoji="0" lang="it-IT" sz="2800">
                <a:solidFill>
                  <a:schemeClr val="tx2"/>
                </a:solidFill>
              </a:defRPr>
            </a:lvl1pPr>
            <a:lvl2pPr eaLnBrk="1" latinLnBrk="0" hangingPunct="1">
              <a:buNone/>
              <a:defRPr kumimoji="0" lang="it-IT" sz="1800">
                <a:solidFill>
                  <a:schemeClr val="tx1">
                    <a:tint val="75000"/>
                  </a:schemeClr>
                </a:solidFill>
              </a:defRPr>
            </a:lvl2pPr>
            <a:lvl3pPr eaLnBrk="1" latinLnBrk="0" hangingPunct="1">
              <a:buNone/>
              <a:defRPr kumimoji="0" lang="it-IT" sz="1600">
                <a:solidFill>
                  <a:schemeClr val="tx1">
                    <a:tint val="75000"/>
                  </a:schemeClr>
                </a:solidFill>
              </a:defRPr>
            </a:lvl3pPr>
            <a:lvl4pPr eaLnBrk="1" latinLnBrk="0" hangingPunct="1">
              <a:buNone/>
              <a:defRPr kumimoji="0" lang="it-IT" sz="1400">
                <a:solidFill>
                  <a:schemeClr val="tx1">
                    <a:tint val="75000"/>
                  </a:schemeClr>
                </a:solidFill>
              </a:defRPr>
            </a:lvl4pPr>
            <a:lvl5pPr eaLnBrk="1" latinLnBrk="0" hangingPunct="1">
              <a:buNone/>
              <a:defRPr kumimoji="0" lang="it-IT" sz="1400">
                <a:solidFill>
                  <a:schemeClr val="tx1">
                    <a:tint val="75000"/>
                  </a:schemeClr>
                </a:solidFill>
              </a:defRPr>
            </a:lvl5pPr>
          </a:lstStyle>
          <a:p>
            <a:pPr lvl="0" eaLnBrk="1" latinLnBrk="0" hangingPunct="1"/>
            <a:r>
              <a:rPr lang="en-US" dirty="0"/>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2" name="Title 1"/>
          <p:cNvSpPr>
            <a:spLocks noGrp="1"/>
          </p:cNvSpPr>
          <p:nvPr>
            <p:ph type="title" hasCustomPrompt="1"/>
          </p:nvPr>
        </p:nvSpPr>
        <p:spPr>
          <a:xfrm>
            <a:off x="1371600" y="1200150"/>
            <a:ext cx="7620000" cy="742950"/>
          </a:xfrm>
        </p:spPr>
        <p:txBody>
          <a:bodyPr/>
          <a:lstStyle>
            <a:lvl1pPr algn="l" eaLnBrk="1" latinLnBrk="0" hangingPunct="1">
              <a:buNone/>
              <a:defRPr kumimoji="0" lang="it-IT" sz="4400" b="0" cap="none">
                <a:solidFill>
                  <a:srgbClr val="FFFFFF"/>
                </a:solidFill>
              </a:defRPr>
            </a:lvl1pPr>
          </a:lstStyle>
          <a:p>
            <a:r>
              <a:rPr kumimoji="0" lang="it-IT" dirty="0"/>
              <a:t>Fare clic per modificare lo stile del titolo</a:t>
            </a:r>
          </a:p>
        </p:txBody>
      </p:sp>
      <p:sp>
        <p:nvSpPr>
          <p:cNvPr id="12" name="Date Placeholder 11"/>
          <p:cNvSpPr>
            <a:spLocks noGrp="1"/>
          </p:cNvSpPr>
          <p:nvPr>
            <p:ph type="dt" sz="half" idx="10"/>
          </p:nvPr>
        </p:nvSpPr>
        <p:spPr/>
        <p:txBody>
          <a:bodyPr/>
          <a:lstStyle/>
          <a:p>
            <a:fld id="{6FCF9F07-3BC7-4570-B054-79111B0A380C}" type="datetime1">
              <a:rPr lang="en-US"/>
              <a:pPr/>
              <a:t>3/18/2024</a:t>
            </a:fld>
            <a:endParaRPr kumimoji="0" lang="it-IT" dirty="0"/>
          </a:p>
        </p:txBody>
      </p:sp>
      <p:sp>
        <p:nvSpPr>
          <p:cNvPr id="13" name="Slide Number Placeholder 12"/>
          <p:cNvSpPr>
            <a:spLocks noGrp="1"/>
          </p:cNvSpPr>
          <p:nvPr>
            <p:ph type="sldNum" sz="quarter" idx="11"/>
          </p:nvPr>
        </p:nvSpPr>
        <p:spPr>
          <a:xfrm>
            <a:off x="0" y="1314450"/>
            <a:ext cx="1295400" cy="526257"/>
          </a:xfrm>
        </p:spPr>
        <p:txBody>
          <a:bodyPr>
            <a:noAutofit/>
          </a:bodyPr>
          <a:lstStyle>
            <a:lvl1pPr eaLnBrk="1" latinLnBrk="0" hangingPunct="1">
              <a:defRPr kumimoji="0" lang="it-IT" sz="2400">
                <a:solidFill>
                  <a:srgbClr val="FFFFFF"/>
                </a:solidFill>
              </a:defRPr>
            </a:lvl1pPr>
          </a:lstStyle>
          <a:p>
            <a:pPr algn="ctr"/>
            <a:fld id="{8F82E0A0-C266-4798-8C8F-B9F91E9DA37E}" type="slidenum">
              <a:rPr kumimoji="0" lang="it-IT" sz="2400" b="1">
                <a:solidFill>
                  <a:srgbClr val="FFFFFF"/>
                </a:solidFill>
              </a:rPr>
              <a:pPr algn="ctr"/>
              <a:t>‹#›</a:t>
            </a:fld>
            <a:endParaRPr kumimoji="0" lang="it-IT" sz="2400" dirty="0">
              <a:solidFill>
                <a:srgbClr val="FFFFFF"/>
              </a:solidFill>
            </a:endParaRPr>
          </a:p>
        </p:txBody>
      </p:sp>
      <p:sp>
        <p:nvSpPr>
          <p:cNvPr id="14" name="Footer Placeholder 13"/>
          <p:cNvSpPr>
            <a:spLocks noGrp="1"/>
          </p:cNvSpPr>
          <p:nvPr>
            <p:ph type="ftr" sz="quarter" idx="12"/>
          </p:nvPr>
        </p:nvSpPr>
        <p:spPr/>
        <p:txBody>
          <a:bodyPr/>
          <a:lstStyle/>
          <a:p>
            <a:endParaRPr kumimoji="0" lang="it-IT" dirty="0"/>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n-US"/>
              <a:t>Click to edit Master title style</a:t>
            </a:r>
            <a:endParaRPr/>
          </a:p>
        </p:txBody>
      </p:sp>
      <p:sp>
        <p:nvSpPr>
          <p:cNvPr id="9" name="Content Placeholder 8"/>
          <p:cNvSpPr>
            <a:spLocks noGrp="1"/>
          </p:cNvSpPr>
          <p:nvPr>
            <p:ph sz="quarter" idx="13"/>
          </p:nvPr>
        </p:nvSpPr>
        <p:spPr>
          <a:xfrm>
            <a:off x="609600" y="1352551"/>
            <a:ext cx="3886200" cy="3268624"/>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dirty="0"/>
          </a:p>
        </p:txBody>
      </p:sp>
      <p:sp>
        <p:nvSpPr>
          <p:cNvPr id="11" name="Content Placeholder 10"/>
          <p:cNvSpPr>
            <a:spLocks noGrp="1"/>
          </p:cNvSpPr>
          <p:nvPr>
            <p:ph sz="quarter" idx="14"/>
          </p:nvPr>
        </p:nvSpPr>
        <p:spPr>
          <a:xfrm>
            <a:off x="4844901" y="1352549"/>
            <a:ext cx="3886200" cy="326862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a:p>
        </p:txBody>
      </p:sp>
      <p:sp>
        <p:nvSpPr>
          <p:cNvPr id="8" name="Date Placeholder 7"/>
          <p:cNvSpPr>
            <a:spLocks noGrp="1"/>
          </p:cNvSpPr>
          <p:nvPr>
            <p:ph type="dt" sz="half" idx="15"/>
          </p:nvPr>
        </p:nvSpPr>
        <p:spPr/>
        <p:txBody>
          <a:bodyPr rtlCol="0"/>
          <a:lstStyle/>
          <a:p>
            <a:fld id="{E4606EA6-EFEA-4C30-9264-4F9291A5780D}" type="datetime1">
              <a:rPr lang="en-US"/>
              <a:pPr/>
              <a:t>3/18/2024</a:t>
            </a:fld>
            <a:endParaRPr kumimoji="0" lang="it-IT" dirty="0"/>
          </a:p>
        </p:txBody>
      </p:sp>
      <p:sp>
        <p:nvSpPr>
          <p:cNvPr id="10" name="Slide Number Placeholder 9"/>
          <p:cNvSpPr>
            <a:spLocks noGrp="1"/>
          </p:cNvSpPr>
          <p:nvPr>
            <p:ph type="sldNum" sz="quarter" idx="16"/>
          </p:nvPr>
        </p:nvSpPr>
        <p:spPr/>
        <p:txBody>
          <a:bodyPr rtlCol="0"/>
          <a:lstStyle/>
          <a:p>
            <a:pPr algn="ctr"/>
            <a:fld id="{8F82E0A0-C266-4798-8C8F-B9F91E9DA37E}" type="slidenum">
              <a:rPr kumimoji="0" lang="it-IT" sz="1400" b="1">
                <a:solidFill>
                  <a:srgbClr val="FFFFFF"/>
                </a:solidFill>
              </a:rPr>
              <a:pPr algn="ctr"/>
              <a:t>‹#›</a:t>
            </a:fld>
            <a:endParaRPr kumimoji="0" lang="it-IT" dirty="0"/>
          </a:p>
        </p:txBody>
      </p:sp>
      <p:sp>
        <p:nvSpPr>
          <p:cNvPr id="12" name="Footer Placeholder 11"/>
          <p:cNvSpPr>
            <a:spLocks noGrp="1"/>
          </p:cNvSpPr>
          <p:nvPr>
            <p:ph type="ftr" sz="quarter" idx="17"/>
          </p:nvPr>
        </p:nvSpPr>
        <p:spPr/>
        <p:txBody>
          <a:bodyPr rtlCol="0"/>
          <a:lstStyle/>
          <a:p>
            <a:endParaRPr kumimoji="0" lang="it-IT" dirty="0"/>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eaLnBrk="1" latinLnBrk="0" hangingPunct="1">
              <a:defRPr kumimoji="0" lang="it-IT"/>
            </a:lvl1pPr>
          </a:lstStyle>
          <a:p>
            <a:pPr eaLnBrk="1" latinLnBrk="0" hangingPunct="1"/>
            <a:r>
              <a:rPr lang="en-US"/>
              <a:t>Click to edit Master title style</a:t>
            </a:r>
            <a:endParaRPr/>
          </a:p>
        </p:txBody>
      </p:sp>
      <p:sp>
        <p:nvSpPr>
          <p:cNvPr id="11" name="Content Placeholder 10"/>
          <p:cNvSpPr>
            <a:spLocks noGrp="1"/>
          </p:cNvSpPr>
          <p:nvPr>
            <p:ph sz="quarter" idx="13"/>
          </p:nvPr>
        </p:nvSpPr>
        <p:spPr>
          <a:xfrm>
            <a:off x="609600" y="1919818"/>
            <a:ext cx="3886200" cy="26289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dirty="0"/>
          </a:p>
        </p:txBody>
      </p:sp>
      <p:sp>
        <p:nvSpPr>
          <p:cNvPr id="13" name="Content Placeholder 12"/>
          <p:cNvSpPr>
            <a:spLocks noGrp="1"/>
          </p:cNvSpPr>
          <p:nvPr>
            <p:ph sz="quarter" idx="14"/>
          </p:nvPr>
        </p:nvSpPr>
        <p:spPr>
          <a:xfrm>
            <a:off x="4800600" y="1919818"/>
            <a:ext cx="3886200" cy="26289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a:p>
        </p:txBody>
      </p:sp>
      <p:sp>
        <p:nvSpPr>
          <p:cNvPr id="10" name="Date Placeholder 9"/>
          <p:cNvSpPr>
            <a:spLocks noGrp="1"/>
          </p:cNvSpPr>
          <p:nvPr>
            <p:ph type="dt" sz="half" idx="15"/>
          </p:nvPr>
        </p:nvSpPr>
        <p:spPr/>
        <p:txBody>
          <a:bodyPr rtlCol="0"/>
          <a:lstStyle/>
          <a:p>
            <a:fld id="{E4606EA6-EFEA-4C30-9264-4F9291A5780D}" type="datetime1">
              <a:rPr lang="en-US"/>
              <a:pPr/>
              <a:t>3/18/2024</a:t>
            </a:fld>
            <a:endParaRPr kumimoji="0" lang="it-IT" dirty="0"/>
          </a:p>
        </p:txBody>
      </p:sp>
      <p:sp>
        <p:nvSpPr>
          <p:cNvPr id="12" name="Slide Number Placeholder 11"/>
          <p:cNvSpPr>
            <a:spLocks noGrp="1"/>
          </p:cNvSpPr>
          <p:nvPr>
            <p:ph type="sldNum" sz="quarter" idx="16"/>
          </p:nvPr>
        </p:nvSpPr>
        <p:spPr/>
        <p:txBody>
          <a:bodyPr rtlCol="0"/>
          <a:lstStyle/>
          <a:p>
            <a:pPr algn="ctr"/>
            <a:fld id="{8F82E0A0-C266-4798-8C8F-B9F91E9DA37E}" type="slidenum">
              <a:rPr kumimoji="0" lang="it-IT" sz="1400" b="1">
                <a:solidFill>
                  <a:srgbClr val="FFFFFF"/>
                </a:solidFill>
              </a:rPr>
              <a:pPr algn="ctr"/>
              <a:t>‹#›</a:t>
            </a:fld>
            <a:endParaRPr kumimoji="0" lang="it-IT" dirty="0"/>
          </a:p>
        </p:txBody>
      </p:sp>
      <p:sp>
        <p:nvSpPr>
          <p:cNvPr id="14" name="Footer Placeholder 13"/>
          <p:cNvSpPr>
            <a:spLocks noGrp="1"/>
          </p:cNvSpPr>
          <p:nvPr>
            <p:ph type="ftr" sz="quarter" idx="17"/>
          </p:nvPr>
        </p:nvSpPr>
        <p:spPr/>
        <p:txBody>
          <a:bodyPr rtlCol="0"/>
          <a:lstStyle/>
          <a:p>
            <a:endParaRPr kumimoji="0" lang="it-IT"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normAutofit/>
          </a:bodyPr>
          <a:lstStyle>
            <a:lvl1pPr eaLnBrk="1" latinLnBrk="0" hangingPunct="1">
              <a:buFontTx/>
              <a:buNone/>
              <a:defRPr kumimoji="0" lang="it-IT" sz="1800" b="1">
                <a:solidFill>
                  <a:srgbClr val="FFFFFF"/>
                </a:solidFill>
              </a:defRPr>
            </a:lvl1pPr>
          </a:lstStyle>
          <a:p>
            <a:pPr lvl="0" eaLnBrk="1" latinLnBrk="0" hangingPunct="1"/>
            <a:r>
              <a:rPr lang="en-US" dirty="0"/>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2"/>
          </a:solidFill>
        </p:spPr>
        <p:txBody>
          <a:bodyPr rtlCol="0" anchor="ctr">
            <a:normAutofit/>
          </a:bodyPr>
          <a:lstStyle>
            <a:lvl1pPr eaLnBrk="1" latinLnBrk="0" hangingPunct="1">
              <a:buFontTx/>
              <a:buNone/>
              <a:defRPr kumimoji="0" lang="it-IT" sz="1800" b="1">
                <a:solidFill>
                  <a:srgbClr val="FFFFFF"/>
                </a:solidFill>
              </a:defRPr>
            </a:lvl1pPr>
          </a:lstStyle>
          <a:p>
            <a:pPr lvl="0" eaLnBrk="1" latinLnBrk="0" hangingPunct="1"/>
            <a:r>
              <a:rPr lang="en-US" dirty="0"/>
              <a:t>Click to edit Master text styles</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n-US"/>
              <a:t>Click to edit Master title style</a:t>
            </a:r>
            <a:endParaRPr/>
          </a:p>
        </p:txBody>
      </p:sp>
      <p:sp>
        <p:nvSpPr>
          <p:cNvPr id="3" name="Date Placeholder 2"/>
          <p:cNvSpPr>
            <a:spLocks noGrp="1"/>
          </p:cNvSpPr>
          <p:nvPr>
            <p:ph type="dt" sz="half" idx="10"/>
          </p:nvPr>
        </p:nvSpPr>
        <p:spPr/>
        <p:txBody>
          <a:bodyPr/>
          <a:lstStyle/>
          <a:p>
            <a:fld id="{6DFADB5D-B7A0-47E3-AD2D-B1A6F8614213}" type="datetime1">
              <a:rPr lang="en-US"/>
              <a:pPr/>
              <a:t>3/18/2024</a:t>
            </a:fld>
            <a:endParaRPr kumimoji="0" lang="it-IT" dirty="0"/>
          </a:p>
        </p:txBody>
      </p:sp>
      <p:sp>
        <p:nvSpPr>
          <p:cNvPr id="4" name="Footer Placeholder 3"/>
          <p:cNvSpPr>
            <a:spLocks noGrp="1"/>
          </p:cNvSpPr>
          <p:nvPr>
            <p:ph type="ftr" sz="quarter" idx="11"/>
          </p:nvPr>
        </p:nvSpPr>
        <p:spPr/>
        <p:txBody>
          <a:bodyPr/>
          <a:lstStyle/>
          <a:p>
            <a:endParaRPr kumimoji="0" lang="it-IT" dirty="0"/>
          </a:p>
        </p:txBody>
      </p:sp>
      <p:sp>
        <p:nvSpPr>
          <p:cNvPr id="5" name="Slide Number Placeholder 4"/>
          <p:cNvSpPr>
            <a:spLocks noGrp="1"/>
          </p:cNvSpPr>
          <p:nvPr>
            <p:ph type="sldNum" sz="quarter" idx="12"/>
          </p:nvPr>
        </p:nvSpPr>
        <p:spPr/>
        <p:txBody>
          <a:bodyPr/>
          <a:lstStyle>
            <a:lvl1pPr eaLnBrk="1" latinLnBrk="0" hangingPunct="1">
              <a:defRPr kumimoji="0" lang="it-IT">
                <a:solidFill>
                  <a:srgbClr val="FFFFFF"/>
                </a:solidFill>
              </a:defRPr>
            </a:lvl1pPr>
          </a:lstStyle>
          <a:p>
            <a:fld id="{A3F7CB7D-F184-43C7-B6FD-03D728E1BBFF}" type="slidenum">
              <a:rPr kumimoji="0" lang="it-IT">
                <a:solidFill>
                  <a:srgbClr val="FFFFFF"/>
                </a:solidFill>
              </a:rPr>
              <a:pPr/>
              <a:t>‹#›</a:t>
            </a:fld>
            <a:endParaRPr kumimoji="0" lang="it-IT" dirty="0">
              <a:solidFill>
                <a:srgbClr val="FFFFFF"/>
              </a:solidFill>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a:pPr/>
              <a:t>3/18/2024</a:t>
            </a:fld>
            <a:endParaRPr kumimoji="0" lang="it-IT" dirty="0"/>
          </a:p>
        </p:txBody>
      </p:sp>
      <p:sp>
        <p:nvSpPr>
          <p:cNvPr id="3" name="Footer Placeholder 2"/>
          <p:cNvSpPr>
            <a:spLocks noGrp="1"/>
          </p:cNvSpPr>
          <p:nvPr>
            <p:ph type="ftr" sz="quarter" idx="11"/>
          </p:nvPr>
        </p:nvSpPr>
        <p:spPr/>
        <p:txBody>
          <a:bodyPr/>
          <a:lstStyle/>
          <a:p>
            <a:endParaRPr kumimoji="0" lang="it-IT" dirty="0"/>
          </a:p>
        </p:txBody>
      </p:sp>
      <p:sp>
        <p:nvSpPr>
          <p:cNvPr id="4" name="Slide Number Placeholder 3"/>
          <p:cNvSpPr>
            <a:spLocks noGrp="1"/>
          </p:cNvSpPr>
          <p:nvPr>
            <p:ph type="sldNum" sz="quarter" idx="12"/>
          </p:nvPr>
        </p:nvSpPr>
        <p:spPr>
          <a:xfrm>
            <a:off x="0" y="4686300"/>
            <a:ext cx="533400" cy="285750"/>
          </a:xfrm>
        </p:spPr>
        <p:txBody>
          <a:bodyPr/>
          <a:lstStyle>
            <a:lvl1pPr eaLnBrk="1" latinLnBrk="0" hangingPunct="1">
              <a:defRPr kumimoji="0" lang="it-IT">
                <a:solidFill>
                  <a:schemeClr val="tx2"/>
                </a:solidFill>
              </a:defRPr>
            </a:lvl1pPr>
          </a:lstStyle>
          <a:p>
            <a:fld id="{A3F7CB7D-F184-43C7-B6FD-03D728E1BBFF}" type="slidenum">
              <a:rPr kumimoji="0" lang="it-IT">
                <a:solidFill>
                  <a:schemeClr val="tx2"/>
                </a:solidFill>
              </a:rPr>
              <a:pPr/>
              <a:t>‹#›</a:t>
            </a:fld>
            <a:endParaRPr kumimoji="0" lang="it-IT" dirty="0">
              <a:solidFill>
                <a:schemeClr val="tx2"/>
              </a:solidFill>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eaLnBrk="1" latinLnBrk="0" hangingPunct="1">
              <a:buNone/>
              <a:defRPr kumimoji="0" lang="it-IT" sz="4200" b="0"/>
            </a:lvl1pPr>
          </a:lstStyle>
          <a:p>
            <a:pPr eaLnBrk="1" latinLnBrk="0" hangingPunct="1"/>
            <a:r>
              <a:rPr lang="en-US"/>
              <a:t>Click to edit Master title style</a:t>
            </a:r>
            <a:endParaRPr/>
          </a:p>
        </p:txBody>
      </p:sp>
      <p:sp>
        <p:nvSpPr>
          <p:cNvPr id="5" name="Date Placeholder 4"/>
          <p:cNvSpPr>
            <a:spLocks noGrp="1"/>
          </p:cNvSpPr>
          <p:nvPr>
            <p:ph type="dt" sz="half" idx="10"/>
          </p:nvPr>
        </p:nvSpPr>
        <p:spPr/>
        <p:txBody>
          <a:bodyPr/>
          <a:lstStyle/>
          <a:p>
            <a:fld id="{F49A8198-4617-485E-9585-4840B69DBBA6}" type="datetime1">
              <a:rPr lang="en-US"/>
              <a:pPr/>
              <a:t>3/18/2024</a:t>
            </a:fld>
            <a:endParaRPr kumimoji="0" lang="it-IT" dirty="0"/>
          </a:p>
        </p:txBody>
      </p:sp>
      <p:sp>
        <p:nvSpPr>
          <p:cNvPr id="6" name="Footer Placeholder 5"/>
          <p:cNvSpPr>
            <a:spLocks noGrp="1"/>
          </p:cNvSpPr>
          <p:nvPr>
            <p:ph type="ftr" sz="quarter" idx="11"/>
          </p:nvPr>
        </p:nvSpPr>
        <p:spPr/>
        <p:txBody>
          <a:bodyPr/>
          <a:lstStyle/>
          <a:p>
            <a:endParaRPr kumimoji="0" lang="it-IT" dirty="0"/>
          </a:p>
        </p:txBody>
      </p:sp>
      <p:sp>
        <p:nvSpPr>
          <p:cNvPr id="7" name="Slide Number Placeholder 6"/>
          <p:cNvSpPr>
            <a:spLocks noGrp="1"/>
          </p:cNvSpPr>
          <p:nvPr>
            <p:ph type="sldNum" sz="quarter" idx="12"/>
          </p:nvPr>
        </p:nvSpPr>
        <p:spPr/>
        <p:txBody>
          <a:bodyPr/>
          <a:lstStyle>
            <a:lvl1pPr eaLnBrk="1" latinLnBrk="0" hangingPunct="1">
              <a:defRPr kumimoji="0" lang="it-IT">
                <a:solidFill>
                  <a:srgbClr val="FFFFFF"/>
                </a:solidFill>
              </a:defRPr>
            </a:lvl1pPr>
          </a:lstStyle>
          <a:p>
            <a:fld id="{A3F7CB7D-F184-43C7-B6FD-03D728E1BBFF}" type="slidenum">
              <a:rPr kumimoji="0" lang="it-IT">
                <a:solidFill>
                  <a:srgbClr val="FFFFFF"/>
                </a:solidFill>
              </a:rPr>
              <a:pPr/>
              <a:t>‹#›</a:t>
            </a:fld>
            <a:endParaRPr kumimoji="0" lang="it-IT"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eaLnBrk="1" latinLnBrk="0" hangingPunct="1">
              <a:spcAft>
                <a:spcPts val="1000"/>
              </a:spcAft>
              <a:buNone/>
              <a:defRPr kumimoji="0" lang="it-IT" sz="1800"/>
            </a:lvl1pPr>
            <a:lvl2pPr eaLnBrk="1" latinLnBrk="0" hangingPunct="1">
              <a:buNone/>
              <a:defRPr kumimoji="0" lang="it-IT" sz="1200"/>
            </a:lvl2pPr>
            <a:lvl3pPr eaLnBrk="1" latinLnBrk="0" hangingPunct="1">
              <a:buNone/>
              <a:defRPr kumimoji="0" lang="it-IT" sz="1000"/>
            </a:lvl3pPr>
            <a:lvl4pPr eaLnBrk="1" latinLnBrk="0" hangingPunct="1">
              <a:buNone/>
              <a:defRPr kumimoji="0" lang="it-IT" sz="900"/>
            </a:lvl4pPr>
            <a:lvl5pPr eaLnBrk="1" latinLnBrk="0" hangingPunct="1">
              <a:buNone/>
              <a:defRPr kumimoji="0" lang="it-IT" sz="900"/>
            </a:lvl5pPr>
          </a:lstStyle>
          <a:p>
            <a:pPr lvl="0" eaLnBrk="1" latinLnBrk="0" hangingPunct="1"/>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accent2"/>
          </a:solidFill>
          <a:ln>
            <a:noFill/>
          </a:ln>
        </p:spPr>
        <p:txBody>
          <a:bodyPr/>
          <a:lstStyle>
            <a:lvl1pPr eaLnBrk="1" latinLnBrk="0" hangingPunct="1">
              <a:buNone/>
              <a:defRPr kumimoji="0" lang="it-IT" sz="3200"/>
            </a:lvl1pPr>
          </a:lstStyle>
          <a:p>
            <a:r>
              <a:rPr kumimoji="0" lang="en-US" dirty="0"/>
              <a:t>Click icon to add picture</a:t>
            </a:r>
            <a:endParaRPr kumimoji="0" lang="it-IT" dirty="0"/>
          </a:p>
        </p:txBody>
      </p:sp>
      <p:sp>
        <p:nvSpPr>
          <p:cNvPr id="4" name="Text Placeholder 3"/>
          <p:cNvSpPr>
            <a:spLocks noGrp="1"/>
          </p:cNvSpPr>
          <p:nvPr>
            <p:ph type="body" sz="half" idx="2"/>
          </p:nvPr>
        </p:nvSpPr>
        <p:spPr>
          <a:xfrm>
            <a:off x="1600200" y="4114800"/>
            <a:ext cx="7315200" cy="514350"/>
          </a:xfrm>
        </p:spPr>
        <p:txBody>
          <a:bodyPr/>
          <a:lstStyle>
            <a:lvl1pPr marL="0" indent="0" eaLnBrk="1" latinLnBrk="0" hangingPunct="1">
              <a:buFontTx/>
              <a:buNone/>
              <a:defRPr kumimoji="0" lang="it-IT" sz="1700"/>
            </a:lvl1pPr>
            <a:lvl2pPr eaLnBrk="1" latinLnBrk="0" hangingPunct="1">
              <a:buFontTx/>
              <a:buNone/>
              <a:defRPr kumimoji="0" lang="it-IT" sz="1200"/>
            </a:lvl2pPr>
            <a:lvl3pPr eaLnBrk="1" latinLnBrk="0" hangingPunct="1">
              <a:buFontTx/>
              <a:buNone/>
              <a:defRPr kumimoji="0" lang="it-IT" sz="1000"/>
            </a:lvl3pPr>
            <a:lvl4pPr eaLnBrk="1" latinLnBrk="0" hangingPunct="1">
              <a:buFontTx/>
              <a:buNone/>
              <a:defRPr kumimoji="0" lang="it-IT" sz="900"/>
            </a:lvl4pPr>
            <a:lvl5pPr eaLnBrk="1" latinLnBrk="0" hangingPunct="1">
              <a:buFontTx/>
              <a:buNone/>
              <a:defRPr kumimoji="0" lang="it-IT" sz="900"/>
            </a:lvl5pPr>
          </a:lstStyle>
          <a:p>
            <a:pPr lvl="0" eaLnBrk="1" latinLnBrk="0" hangingPunct="1"/>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2" name="Title 1"/>
          <p:cNvSpPr>
            <a:spLocks noGrp="1"/>
          </p:cNvSpPr>
          <p:nvPr>
            <p:ph type="title"/>
          </p:nvPr>
        </p:nvSpPr>
        <p:spPr>
          <a:xfrm>
            <a:off x="1600200" y="3543300"/>
            <a:ext cx="7315200" cy="457200"/>
          </a:xfrm>
        </p:spPr>
        <p:txBody>
          <a:bodyPr anchor="ctr"/>
          <a:lstStyle>
            <a:lvl1pPr algn="l" eaLnBrk="1" latinLnBrk="0" hangingPunct="1">
              <a:buNone/>
              <a:defRPr kumimoji="0" lang="it-IT" sz="2800" b="0">
                <a:solidFill>
                  <a:srgbClr val="FFFFFF"/>
                </a:solidFill>
              </a:defRPr>
            </a:lvl1pPr>
          </a:lstStyle>
          <a:p>
            <a:pPr eaLnBrk="1" latinLnBrk="0" hangingPunct="1"/>
            <a:r>
              <a:rPr lang="en-US"/>
              <a:t>Click to edit Master title style</a:t>
            </a:r>
            <a:endParaRPr/>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12" name="Date Placeholder 11"/>
          <p:cNvSpPr>
            <a:spLocks noGrp="1"/>
          </p:cNvSpPr>
          <p:nvPr>
            <p:ph type="dt" sz="half" idx="10"/>
          </p:nvPr>
        </p:nvSpPr>
        <p:spPr>
          <a:xfrm>
            <a:off x="6248400" y="4686300"/>
            <a:ext cx="2667000" cy="273844"/>
          </a:xfrm>
        </p:spPr>
        <p:txBody>
          <a:bodyPr rtlCol="0"/>
          <a:lstStyle/>
          <a:p>
            <a:fld id="{E4606EA6-EFEA-4C30-9264-4F9291A5780D}" type="datetime1">
              <a:rPr lang="en-US"/>
              <a:pPr/>
              <a:t>3/18/2024</a:t>
            </a:fld>
            <a:endParaRPr kumimoji="0" lang="it-IT" dirty="0"/>
          </a:p>
        </p:txBody>
      </p:sp>
      <p:sp>
        <p:nvSpPr>
          <p:cNvPr id="13" name="Slide Number Placeholder 12"/>
          <p:cNvSpPr>
            <a:spLocks noGrp="1"/>
          </p:cNvSpPr>
          <p:nvPr>
            <p:ph type="sldNum" sz="quarter" idx="11"/>
          </p:nvPr>
        </p:nvSpPr>
        <p:spPr>
          <a:xfrm>
            <a:off x="0" y="3500437"/>
            <a:ext cx="1447800" cy="497684"/>
          </a:xfrm>
        </p:spPr>
        <p:txBody>
          <a:bodyPr rtlCol="0"/>
          <a:lstStyle>
            <a:lvl1pPr eaLnBrk="1" latinLnBrk="0" hangingPunct="1">
              <a:defRPr kumimoji="0" lang="it-IT" sz="2800"/>
            </a:lvl1pPr>
          </a:lstStyle>
          <a:p>
            <a:pPr algn="ctr"/>
            <a:fld id="{8F82E0A0-C266-4798-8C8F-B9F91E9DA37E}" type="slidenum">
              <a:rPr kumimoji="0" lang="it-IT" sz="2800" b="1">
                <a:solidFill>
                  <a:srgbClr val="FFFFFF"/>
                </a:solidFill>
              </a:rPr>
              <a:pPr algn="ctr"/>
              <a:t>‹#›</a:t>
            </a:fld>
            <a:endParaRPr kumimoji="0" lang="it-IT"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kumimoji="0" lang="it-IT"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it-IT"/>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it-IT"/>
          </a:p>
        </p:txBody>
      </p:sp>
      <p:sp>
        <p:nvSpPr>
          <p:cNvPr id="4" name="Date Placeholder 3"/>
          <p:cNvSpPr>
            <a:spLocks noGrp="1"/>
          </p:cNvSpPr>
          <p:nvPr>
            <p:ph type="dt" sz="half" idx="10"/>
          </p:nvPr>
        </p:nvSpPr>
        <p:spPr/>
        <p:txBody>
          <a:bodyPr/>
          <a:lstStyle/>
          <a:p>
            <a:fld id="{2397B91A-08CD-4EB3-B707-95D06554E4EE}" type="datetimeFigureOut">
              <a:rPr lang="it-IT" smtClean="0"/>
              <a:t>18/03/2024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BD4D1031-DC50-4EB5-B35B-B55A3F0B2C1E}" type="slidenum">
              <a:rPr lang="it-IT" smtClean="0"/>
              <a:t>‹#›</a:t>
            </a:fld>
            <a:endParaRPr lang="it-IT"/>
          </a:p>
        </p:txBody>
      </p:sp>
    </p:spTree>
    <p:extLst>
      <p:ext uri="{BB962C8B-B14F-4D97-AF65-F5344CB8AC3E}">
        <p14:creationId xmlns:p14="http://schemas.microsoft.com/office/powerpoint/2010/main" val="3565205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414EE459-CD86-4E2B-8073-921406E6E665}" type="datetimeFigureOut">
              <a:rPr lang="it-IT" smtClean="0"/>
              <a:t>18/03/2024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42A2624-398F-47F3-9D07-BC4251AE55C3}" type="slidenum">
              <a:rPr lang="it-IT" smtClean="0"/>
              <a:t>‹#›</a:t>
            </a:fld>
            <a:endParaRPr lang="it-IT"/>
          </a:p>
        </p:txBody>
      </p:sp>
    </p:spTree>
    <p:extLst>
      <p:ext uri="{BB962C8B-B14F-4D97-AF65-F5344CB8AC3E}">
        <p14:creationId xmlns:p14="http://schemas.microsoft.com/office/powerpoint/2010/main" val="62689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eaLnBrk="1" latinLnBrk="0" hangingPunct="1">
              <a:defRPr kumimoji="0" lang="it-IT" sz="1400">
                <a:solidFill>
                  <a:schemeClr val="tx2"/>
                </a:solidFill>
              </a:defRPr>
            </a:lvl1pPr>
          </a:lstStyle>
          <a:p>
            <a:fld id="{E4606EA6-EFEA-4C30-9264-4F9291A5780D}" type="datetime1">
              <a:rPr lang="en-US"/>
              <a:pPr/>
              <a:t>3/18/2024</a:t>
            </a:fld>
            <a:endParaRPr kumimoji="0" lang="it-IT"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eaLnBrk="1" latinLnBrk="0" hangingPunct="1">
              <a:defRPr kumimoji="0" lang="it-IT" sz="1400">
                <a:solidFill>
                  <a:schemeClr val="tx2"/>
                </a:solidFill>
              </a:defRPr>
            </a:lvl1pPr>
          </a:lstStyle>
          <a:p>
            <a:pPr algn="r"/>
            <a:endParaRPr kumimoji="0" lang="it-IT"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dirty="0"/>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eaLnBrk="1" latinLnBrk="0" hangingPunct="1">
              <a:defRPr kumimoji="0" lang="it-IT" sz="1400" b="1">
                <a:solidFill>
                  <a:srgbClr val="FFFFFF"/>
                </a:solidFill>
              </a:defRPr>
            </a:lvl1pPr>
          </a:lstStyle>
          <a:p>
            <a:pPr algn="ctr"/>
            <a:fld id="{8F82E0A0-C266-4798-8C8F-B9F91E9DA37E}" type="slidenum">
              <a:rPr kumimoji="0" lang="it-IT" sz="1400" b="1">
                <a:solidFill>
                  <a:srgbClr val="FFFFFF"/>
                </a:solidFill>
              </a:rPr>
              <a:pPr algn="ctr"/>
              <a:t>‹#›</a:t>
            </a:fld>
            <a:endParaRPr kumimoji="0" lang="it-IT"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pPr eaLnBrk="1" latinLnBrk="0" hangingPunct="1"/>
            <a:r>
              <a:rPr kumimoji="0" 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Lst>
  <p:transition spd="med">
    <p:fade/>
  </p:transition>
  <p:txStyles>
    <p:titleStyle>
      <a:lvl1pPr algn="l" rtl="0" eaLnBrk="1" latinLnBrk="0" hangingPunct="1">
        <a:spcBef>
          <a:spcPct val="0"/>
        </a:spcBef>
        <a:buNone/>
        <a:defRPr kumimoji="0" lang="it-IT" sz="36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lang="it-IT" sz="26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it-IT" sz="24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it-IT" sz="20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it-IT" sz="18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it-IT" sz="16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it-IT"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it-IT"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it-IT"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it-IT" sz="1800" kern="1200" baseline="0">
          <a:solidFill>
            <a:schemeClr val="tx1"/>
          </a:solidFill>
          <a:latin typeface="+mn-lt"/>
          <a:ea typeface="+mn-ea"/>
          <a:cs typeface="+mn-cs"/>
        </a:defRPr>
      </a:lvl9pPr>
    </p:bodyStyle>
    <p:otherStyle>
      <a:lvl1pPr marL="0" algn="l" rtl="0" eaLnBrk="1" latinLnBrk="0" hangingPunct="1">
        <a:defRPr kumimoji="0" lang="it-IT" kern="1200">
          <a:solidFill>
            <a:schemeClr val="tx1"/>
          </a:solidFill>
          <a:latin typeface="+mn-lt"/>
          <a:ea typeface="+mn-ea"/>
          <a:cs typeface="+mn-cs"/>
        </a:defRPr>
      </a:lvl1pPr>
      <a:lvl2pPr marL="457200" algn="l" rtl="0" eaLnBrk="1" latinLnBrk="0" hangingPunct="1">
        <a:defRPr kumimoji="0" lang="it-IT" kern="1200">
          <a:solidFill>
            <a:schemeClr val="tx1"/>
          </a:solidFill>
          <a:latin typeface="+mn-lt"/>
          <a:ea typeface="+mn-ea"/>
          <a:cs typeface="+mn-cs"/>
        </a:defRPr>
      </a:lvl2pPr>
      <a:lvl3pPr marL="914400" algn="l" rtl="0" eaLnBrk="1" latinLnBrk="0" hangingPunct="1">
        <a:defRPr kumimoji="0" lang="it-IT" kern="1200">
          <a:solidFill>
            <a:schemeClr val="tx1"/>
          </a:solidFill>
          <a:latin typeface="+mn-lt"/>
          <a:ea typeface="+mn-ea"/>
          <a:cs typeface="+mn-cs"/>
        </a:defRPr>
      </a:lvl3pPr>
      <a:lvl4pPr marL="1371600" algn="l" rtl="0" eaLnBrk="1" latinLnBrk="0" hangingPunct="1">
        <a:defRPr kumimoji="0" lang="it-IT" kern="1200">
          <a:solidFill>
            <a:schemeClr val="tx1"/>
          </a:solidFill>
          <a:latin typeface="+mn-lt"/>
          <a:ea typeface="+mn-ea"/>
          <a:cs typeface="+mn-cs"/>
        </a:defRPr>
      </a:lvl4pPr>
      <a:lvl5pPr marL="1828800" algn="l" rtl="0" eaLnBrk="1" latinLnBrk="0" hangingPunct="1">
        <a:defRPr kumimoji="0" lang="it-IT" kern="1200">
          <a:solidFill>
            <a:schemeClr val="tx1"/>
          </a:solidFill>
          <a:latin typeface="+mn-lt"/>
          <a:ea typeface="+mn-ea"/>
          <a:cs typeface="+mn-cs"/>
        </a:defRPr>
      </a:lvl5pPr>
      <a:lvl6pPr marL="2286000" algn="l" rtl="0" eaLnBrk="1" latinLnBrk="0" hangingPunct="1">
        <a:defRPr kumimoji="0" lang="it-IT" kern="1200">
          <a:solidFill>
            <a:schemeClr val="tx1"/>
          </a:solidFill>
          <a:latin typeface="+mn-lt"/>
          <a:ea typeface="+mn-ea"/>
          <a:cs typeface="+mn-cs"/>
        </a:defRPr>
      </a:lvl6pPr>
      <a:lvl7pPr marL="2743200" algn="l" rtl="0" eaLnBrk="1" latinLnBrk="0" hangingPunct="1">
        <a:defRPr kumimoji="0" lang="it-IT" kern="1200">
          <a:solidFill>
            <a:schemeClr val="tx1"/>
          </a:solidFill>
          <a:latin typeface="+mn-lt"/>
          <a:ea typeface="+mn-ea"/>
          <a:cs typeface="+mn-cs"/>
        </a:defRPr>
      </a:lvl7pPr>
      <a:lvl8pPr marL="3200400" algn="l" rtl="0" eaLnBrk="1" latinLnBrk="0" hangingPunct="1">
        <a:defRPr kumimoji="0" lang="it-IT" kern="1200">
          <a:solidFill>
            <a:schemeClr val="tx1"/>
          </a:solidFill>
          <a:latin typeface="+mn-lt"/>
          <a:ea typeface="+mn-ea"/>
          <a:cs typeface="+mn-cs"/>
        </a:defRPr>
      </a:lvl8pPr>
      <a:lvl9pPr marL="3657600" algn="l" rtl="0" eaLnBrk="1" latinLnBrk="0" hangingPunct="1">
        <a:defRPr kumimoji="0" lang="it-IT"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philosophy.lander.edu/logic"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intelligenceofpersuasion.blogspot.it/2015/04/philosophical-rhetoric-beginners-guide.html" TargetMode="External"/><Relationship Id="rId4" Type="http://schemas.openxmlformats.org/officeDocument/2006/relationships/hyperlink" Target="http://www.logicallyfallaciou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p:txBody>
          <a:bodyPr>
            <a:normAutofit/>
          </a:bodyPr>
          <a:lstStyle/>
          <a:p>
            <a:r>
              <a:rPr lang="en-US" dirty="0"/>
              <a:t>COMMUNICATION SKILLS COURSE - ARGUMENTATION</a:t>
            </a:r>
          </a:p>
        </p:txBody>
      </p:sp>
      <p:sp>
        <p:nvSpPr>
          <p:cNvPr id="5" name="Rectangle 4"/>
          <p:cNvSpPr>
            <a:spLocks noGrp="1"/>
          </p:cNvSpPr>
          <p:nvPr>
            <p:ph type="subTitle" idx="1"/>
          </p:nvPr>
        </p:nvSpPr>
        <p:spPr/>
        <p:txBody>
          <a:bodyPr>
            <a:normAutofit/>
          </a:bodyPr>
          <a:lstStyle/>
          <a:p>
            <a:r>
              <a:rPr lang="it-IT" dirty="0"/>
              <a:t>Nicoletta Di Blas - </a:t>
            </a:r>
            <a:r>
              <a:rPr lang="it-IT" dirty="0" err="1"/>
              <a:t>Introduction</a:t>
            </a:r>
            <a:endParaRPr lang="it-IT"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Definition</a:t>
            </a:r>
            <a:endParaRPr lang="en-US" dirty="0"/>
          </a:p>
        </p:txBody>
      </p:sp>
      <p:sp>
        <p:nvSpPr>
          <p:cNvPr id="3" name="Content Placeholder 2"/>
          <p:cNvSpPr>
            <a:spLocks noGrp="1"/>
          </p:cNvSpPr>
          <p:nvPr>
            <p:ph sz="quarter" idx="13"/>
          </p:nvPr>
        </p:nvSpPr>
        <p:spPr/>
        <p:txBody>
          <a:bodyPr/>
          <a:lstStyle/>
          <a:p>
            <a:r>
              <a:rPr lang="it-IT" dirty="0" err="1"/>
              <a:t>Argumentation</a:t>
            </a:r>
            <a:r>
              <a:rPr lang="it-IT" dirty="0"/>
              <a:t> </a:t>
            </a:r>
            <a:r>
              <a:rPr lang="it-IT" dirty="0" err="1"/>
              <a:t>is</a:t>
            </a:r>
            <a:r>
              <a:rPr lang="it-IT" dirty="0"/>
              <a:t> a </a:t>
            </a:r>
            <a:r>
              <a:rPr lang="it-IT" dirty="0" err="1"/>
              <a:t>verbal</a:t>
            </a:r>
            <a:r>
              <a:rPr lang="it-IT" dirty="0"/>
              <a:t>, social, and </a:t>
            </a:r>
            <a:r>
              <a:rPr lang="it-IT" dirty="0" err="1"/>
              <a:t>rational</a:t>
            </a:r>
            <a:r>
              <a:rPr lang="it-IT" dirty="0"/>
              <a:t> </a:t>
            </a:r>
            <a:r>
              <a:rPr lang="it-IT" dirty="0" err="1"/>
              <a:t>activity</a:t>
            </a:r>
            <a:r>
              <a:rPr lang="it-IT" dirty="0"/>
              <a:t> </a:t>
            </a:r>
            <a:r>
              <a:rPr lang="it-IT" dirty="0" err="1"/>
              <a:t>aimed</a:t>
            </a:r>
            <a:r>
              <a:rPr lang="it-IT" dirty="0"/>
              <a:t> </a:t>
            </a:r>
            <a:r>
              <a:rPr lang="it-IT" dirty="0" err="1"/>
              <a:t>at</a:t>
            </a:r>
            <a:r>
              <a:rPr lang="it-IT" dirty="0"/>
              <a:t> </a:t>
            </a:r>
            <a:r>
              <a:rPr lang="it-IT" dirty="0" err="1"/>
              <a:t>convincing</a:t>
            </a:r>
            <a:r>
              <a:rPr lang="it-IT" dirty="0"/>
              <a:t> a </a:t>
            </a:r>
            <a:r>
              <a:rPr lang="it-IT" dirty="0" err="1"/>
              <a:t>reasonable</a:t>
            </a:r>
            <a:r>
              <a:rPr lang="it-IT" dirty="0"/>
              <a:t> </a:t>
            </a:r>
            <a:r>
              <a:rPr lang="it-IT" dirty="0" err="1"/>
              <a:t>critic</a:t>
            </a:r>
            <a:r>
              <a:rPr lang="it-IT" dirty="0"/>
              <a:t> of the </a:t>
            </a:r>
            <a:r>
              <a:rPr lang="it-IT" dirty="0" err="1"/>
              <a:t>acceptability</a:t>
            </a:r>
            <a:r>
              <a:rPr lang="it-IT" dirty="0"/>
              <a:t> of a </a:t>
            </a:r>
            <a:r>
              <a:rPr lang="it-IT" dirty="0" err="1"/>
              <a:t>standpoint</a:t>
            </a:r>
            <a:r>
              <a:rPr lang="it-IT" dirty="0"/>
              <a:t> by </a:t>
            </a:r>
            <a:r>
              <a:rPr lang="it-IT" dirty="0" err="1"/>
              <a:t>putting</a:t>
            </a:r>
            <a:r>
              <a:rPr lang="it-IT" dirty="0"/>
              <a:t> </a:t>
            </a:r>
            <a:r>
              <a:rPr lang="it-IT" dirty="0" err="1"/>
              <a:t>forward</a:t>
            </a:r>
            <a:r>
              <a:rPr lang="it-IT" dirty="0"/>
              <a:t> a </a:t>
            </a:r>
            <a:r>
              <a:rPr lang="it-IT" dirty="0" err="1"/>
              <a:t>constellation</a:t>
            </a:r>
            <a:r>
              <a:rPr lang="it-IT" dirty="0"/>
              <a:t> of </a:t>
            </a:r>
            <a:r>
              <a:rPr lang="it-IT" dirty="0" err="1"/>
              <a:t>one</a:t>
            </a:r>
            <a:r>
              <a:rPr lang="it-IT" dirty="0"/>
              <a:t> or more </a:t>
            </a:r>
            <a:r>
              <a:rPr lang="it-IT" dirty="0" err="1"/>
              <a:t>propositions</a:t>
            </a:r>
            <a:r>
              <a:rPr lang="it-IT" dirty="0"/>
              <a:t> to </a:t>
            </a:r>
            <a:r>
              <a:rPr lang="it-IT" dirty="0" err="1"/>
              <a:t>justify</a:t>
            </a:r>
            <a:r>
              <a:rPr lang="it-IT" dirty="0"/>
              <a:t> </a:t>
            </a:r>
            <a:r>
              <a:rPr lang="it-IT" dirty="0" err="1"/>
              <a:t>this</a:t>
            </a:r>
            <a:r>
              <a:rPr lang="it-IT" dirty="0"/>
              <a:t> </a:t>
            </a:r>
            <a:r>
              <a:rPr lang="it-IT" dirty="0" err="1"/>
              <a:t>standpoint</a:t>
            </a:r>
            <a:endParaRPr lang="it-IT" dirty="0"/>
          </a:p>
          <a:p>
            <a:pPr algn="r"/>
            <a:r>
              <a:rPr lang="it-IT" dirty="0"/>
              <a:t>[F. van </a:t>
            </a:r>
            <a:r>
              <a:rPr lang="it-IT" dirty="0" err="1"/>
              <a:t>Eemeren</a:t>
            </a:r>
            <a:r>
              <a:rPr lang="it-IT" dirty="0"/>
              <a:t>]</a:t>
            </a:r>
            <a:endParaRPr lang="en-US" dirty="0"/>
          </a:p>
        </p:txBody>
      </p:sp>
    </p:spTree>
    <p:extLst>
      <p:ext uri="{BB962C8B-B14F-4D97-AF65-F5344CB8AC3E}">
        <p14:creationId xmlns:p14="http://schemas.microsoft.com/office/powerpoint/2010/main" val="4167274544"/>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Two main ways</a:t>
            </a:r>
            <a:endParaRPr lang="it-IT" dirty="0"/>
          </a:p>
        </p:txBody>
      </p:sp>
      <p:sp>
        <p:nvSpPr>
          <p:cNvPr id="5" name="Content Placeholder 4"/>
          <p:cNvSpPr>
            <a:spLocks noGrp="1"/>
          </p:cNvSpPr>
          <p:nvPr>
            <p:ph sz="quarter" idx="13"/>
          </p:nvPr>
        </p:nvSpPr>
        <p:spPr/>
        <p:txBody>
          <a:bodyPr/>
          <a:lstStyle/>
          <a:p>
            <a:r>
              <a:rPr lang="en-US" dirty="0"/>
              <a:t>Use rhetorical strategies</a:t>
            </a:r>
          </a:p>
          <a:p>
            <a:pPr lvl="1"/>
            <a:r>
              <a:rPr lang="en-US" dirty="0"/>
              <a:t>“Technical” proofs (rhetoric is a “</a:t>
            </a:r>
            <a:r>
              <a:rPr lang="en-US" dirty="0" err="1"/>
              <a:t>techne</a:t>
            </a:r>
            <a:r>
              <a:rPr lang="en-US" dirty="0"/>
              <a:t>”)</a:t>
            </a:r>
          </a:p>
          <a:p>
            <a:r>
              <a:rPr lang="en-US" dirty="0"/>
              <a:t>Find facts, figures, data…</a:t>
            </a:r>
          </a:p>
          <a:p>
            <a:pPr lvl="1"/>
            <a:r>
              <a:rPr lang="en-US" dirty="0"/>
              <a:t>(no rhetorical technique needed; “extra-technical” proofs)</a:t>
            </a:r>
            <a:endParaRPr lang="it-IT" dirty="0"/>
          </a:p>
        </p:txBody>
      </p:sp>
    </p:spTree>
    <p:extLst>
      <p:ext uri="{BB962C8B-B14F-4D97-AF65-F5344CB8AC3E}">
        <p14:creationId xmlns:p14="http://schemas.microsoft.com/office/powerpoint/2010/main" val="422222530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it-IT" dirty="0" err="1"/>
              <a:t>Demonstrate</a:t>
            </a:r>
            <a:endParaRPr lang="en-US" dirty="0"/>
          </a:p>
        </p:txBody>
      </p:sp>
      <p:sp>
        <p:nvSpPr>
          <p:cNvPr id="5" name="Content Placeholder 4"/>
          <p:cNvSpPr>
            <a:spLocks noGrp="1"/>
          </p:cNvSpPr>
          <p:nvPr>
            <p:ph sz="quarter" idx="13"/>
          </p:nvPr>
        </p:nvSpPr>
        <p:spPr/>
        <p:txBody>
          <a:bodyPr>
            <a:normAutofit lnSpcReduction="10000"/>
          </a:bodyPr>
          <a:lstStyle/>
          <a:p>
            <a:r>
              <a:rPr lang="en-US" dirty="0"/>
              <a:t>Main form of reasoning: the syllogism:</a:t>
            </a:r>
          </a:p>
          <a:p>
            <a:pPr marL="320040" lvl="1" indent="0">
              <a:buNone/>
            </a:pPr>
            <a:r>
              <a:rPr lang="en-US" b="1" dirty="0"/>
              <a:t>Major premise:</a:t>
            </a:r>
            <a:r>
              <a:rPr lang="en-US" dirty="0"/>
              <a:t> All men are mortal</a:t>
            </a:r>
            <a:br>
              <a:rPr lang="en-US" dirty="0"/>
            </a:br>
            <a:r>
              <a:rPr lang="en-US" b="1" dirty="0"/>
              <a:t>Minor premise:</a:t>
            </a:r>
            <a:r>
              <a:rPr lang="en-US" dirty="0"/>
              <a:t> Socrates is a man</a:t>
            </a:r>
            <a:br>
              <a:rPr lang="en-US" dirty="0"/>
            </a:br>
            <a:r>
              <a:rPr lang="en-US" b="1" dirty="0"/>
              <a:t>Conclusion:</a:t>
            </a:r>
            <a:r>
              <a:rPr lang="en-US" dirty="0"/>
              <a:t> Socrates is mortal </a:t>
            </a:r>
          </a:p>
          <a:p>
            <a:pPr marL="342900" indent="-342900"/>
            <a:r>
              <a:rPr lang="en-US" dirty="0"/>
              <a:t>Scientific syllogism: both premises must be valid</a:t>
            </a:r>
          </a:p>
          <a:p>
            <a:pPr marL="342900" indent="-342900"/>
            <a:r>
              <a:rPr lang="en-US" dirty="0"/>
              <a:t>The conclusion is therefore valid as well</a:t>
            </a:r>
          </a:p>
          <a:p>
            <a:pPr marL="342900" indent="-342900"/>
            <a:r>
              <a:rPr lang="en-US" dirty="0"/>
              <a:t>There is NO DISCUSSION about this</a:t>
            </a:r>
          </a:p>
        </p:txBody>
      </p:sp>
    </p:spTree>
    <p:extLst>
      <p:ext uri="{BB962C8B-B14F-4D97-AF65-F5344CB8AC3E}">
        <p14:creationId xmlns:p14="http://schemas.microsoft.com/office/powerpoint/2010/main" val="101901662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Convince</a:t>
            </a:r>
          </a:p>
        </p:txBody>
      </p:sp>
      <p:sp>
        <p:nvSpPr>
          <p:cNvPr id="3" name="Content Placeholder 2"/>
          <p:cNvSpPr>
            <a:spLocks noGrp="1"/>
          </p:cNvSpPr>
          <p:nvPr>
            <p:ph sz="quarter" idx="13"/>
          </p:nvPr>
        </p:nvSpPr>
        <p:spPr/>
        <p:txBody>
          <a:bodyPr>
            <a:normAutofit/>
          </a:bodyPr>
          <a:lstStyle/>
          <a:p>
            <a:r>
              <a:rPr lang="en-US" dirty="0"/>
              <a:t>An «enthymeme» is a syllogism based on a </a:t>
            </a:r>
            <a:r>
              <a:rPr lang="en-US" u="sng" dirty="0"/>
              <a:t>generally</a:t>
            </a:r>
            <a:r>
              <a:rPr lang="en-US" dirty="0"/>
              <a:t> valid proposition</a:t>
            </a:r>
          </a:p>
          <a:p>
            <a:pPr lvl="1"/>
            <a:r>
              <a:rPr lang="en-US" dirty="0"/>
              <a:t>All mothers love their children</a:t>
            </a:r>
          </a:p>
          <a:p>
            <a:pPr lvl="1"/>
            <a:r>
              <a:rPr lang="en-US" dirty="0"/>
              <a:t>Mary is a mother</a:t>
            </a:r>
          </a:p>
          <a:p>
            <a:pPr lvl="1"/>
            <a:r>
              <a:rPr lang="en-US" dirty="0"/>
              <a:t>Mary loves her children</a:t>
            </a:r>
          </a:p>
          <a:p>
            <a:pPr marL="365760" lvl="1" indent="0">
              <a:buNone/>
            </a:pPr>
            <a:r>
              <a:rPr lang="en-US" dirty="0"/>
              <a:t>Counter-facts do not invalidate the </a:t>
            </a:r>
            <a:r>
              <a:rPr lang="en-US"/>
              <a:t>major premise</a:t>
            </a:r>
            <a:endParaRPr lang="en-US" dirty="0"/>
          </a:p>
          <a:p>
            <a:pPr marL="365760" lvl="1" indent="0">
              <a:buNone/>
            </a:pPr>
            <a:endParaRPr lang="en-US" dirty="0"/>
          </a:p>
        </p:txBody>
      </p:sp>
    </p:spTree>
    <p:extLst>
      <p:ext uri="{BB962C8B-B14F-4D97-AF65-F5344CB8AC3E}">
        <p14:creationId xmlns:p14="http://schemas.microsoft.com/office/powerpoint/2010/main" val="295654345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Enthymeme/1</a:t>
            </a:r>
          </a:p>
        </p:txBody>
      </p:sp>
      <p:sp>
        <p:nvSpPr>
          <p:cNvPr id="3" name="Content Placeholder 2"/>
          <p:cNvSpPr>
            <a:spLocks noGrp="1"/>
          </p:cNvSpPr>
          <p:nvPr>
            <p:ph sz="quarter" idx="13"/>
          </p:nvPr>
        </p:nvSpPr>
        <p:spPr>
          <a:xfrm>
            <a:off x="609600" y="1352550"/>
            <a:ext cx="4754488" cy="3276600"/>
          </a:xfrm>
        </p:spPr>
        <p:txBody>
          <a:bodyPr>
            <a:normAutofit fontScale="92500" lnSpcReduction="20000"/>
          </a:bodyPr>
          <a:lstStyle/>
          <a:p>
            <a:r>
              <a:rPr lang="en-US" dirty="0"/>
              <a:t>Usually, enthymemes in a discussion are introduced in INCOMPLETE form</a:t>
            </a:r>
          </a:p>
          <a:p>
            <a:r>
              <a:rPr lang="en-US" dirty="0"/>
              <a:t>“Mary is John’s mother, she must love him!”</a:t>
            </a:r>
          </a:p>
          <a:p>
            <a:pPr lvl="1"/>
            <a:r>
              <a:rPr lang="en-US" dirty="0"/>
              <a:t>(The major premise is implicit)</a:t>
            </a:r>
          </a:p>
          <a:p>
            <a:r>
              <a:rPr lang="en-US" dirty="0"/>
              <a:t>“Mary is John’s mother!”</a:t>
            </a:r>
          </a:p>
          <a:p>
            <a:pPr lvl="1"/>
            <a:r>
              <a:rPr lang="en-US" dirty="0"/>
              <a:t>(Both the major premise and the conclusion are implicit)</a:t>
            </a:r>
          </a:p>
          <a:p>
            <a:pPr lvl="1"/>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8579" y="1491630"/>
            <a:ext cx="3242915" cy="3137520"/>
          </a:xfrm>
          <a:prstGeom prst="rect">
            <a:avLst/>
          </a:prstGeom>
        </p:spPr>
      </p:pic>
    </p:spTree>
    <p:extLst>
      <p:ext uri="{BB962C8B-B14F-4D97-AF65-F5344CB8AC3E}">
        <p14:creationId xmlns:p14="http://schemas.microsoft.com/office/powerpoint/2010/main" val="2037846428"/>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Enthymeme/2</a:t>
            </a:r>
          </a:p>
        </p:txBody>
      </p:sp>
      <p:sp>
        <p:nvSpPr>
          <p:cNvPr id="3" name="Content Placeholder 2"/>
          <p:cNvSpPr>
            <a:spLocks noGrp="1"/>
          </p:cNvSpPr>
          <p:nvPr>
            <p:ph sz="quarter" idx="13"/>
          </p:nvPr>
        </p:nvSpPr>
        <p:spPr/>
        <p:txBody>
          <a:bodyPr>
            <a:normAutofit fontScale="77500" lnSpcReduction="20000"/>
          </a:bodyPr>
          <a:lstStyle/>
          <a:p>
            <a:r>
              <a:rPr lang="en-US" dirty="0"/>
              <a:t>Why are some parts left implicit?</a:t>
            </a:r>
          </a:p>
          <a:p>
            <a:r>
              <a:rPr lang="en-US" dirty="0"/>
              <a:t>To speed the talk up (no manipulation meant)</a:t>
            </a:r>
          </a:p>
          <a:p>
            <a:r>
              <a:rPr lang="en-US" dirty="0"/>
              <a:t>But it may help “reaching a goal”:</a:t>
            </a:r>
          </a:p>
          <a:p>
            <a:pPr lvl="1"/>
            <a:r>
              <a:rPr lang="en-US" dirty="0"/>
              <a:t>Implicit premises</a:t>
            </a:r>
          </a:p>
          <a:p>
            <a:pPr lvl="2"/>
            <a:r>
              <a:rPr lang="en-US" dirty="0"/>
              <a:t>they are more «acceptable»</a:t>
            </a:r>
          </a:p>
          <a:p>
            <a:pPr lvl="2"/>
            <a:r>
              <a:rPr lang="en-US" dirty="0"/>
              <a:t>the addressee hardly takes notice of them</a:t>
            </a:r>
          </a:p>
          <a:p>
            <a:pPr lvl="1"/>
            <a:r>
              <a:rPr lang="en-US" dirty="0"/>
              <a:t>Implicit conclusions:</a:t>
            </a:r>
          </a:p>
          <a:p>
            <a:pPr lvl="2"/>
            <a:r>
              <a:rPr lang="en-US" dirty="0"/>
              <a:t>To draw conclusions is gratifying </a:t>
            </a:r>
          </a:p>
          <a:p>
            <a:pPr lvl="2"/>
            <a:r>
              <a:rPr lang="en-US" dirty="0"/>
              <a:t>The effort of drawing conclusions distracts from the validity of the conclusions</a:t>
            </a:r>
          </a:p>
          <a:p>
            <a:pPr lvl="2"/>
            <a:r>
              <a:rPr lang="en-US" dirty="0"/>
              <a:t>Letting the addressee draw conclusions is generally more effective</a:t>
            </a:r>
          </a:p>
        </p:txBody>
      </p:sp>
    </p:spTree>
    <p:extLst>
      <p:ext uri="{BB962C8B-B14F-4D97-AF65-F5344CB8AC3E}">
        <p14:creationId xmlns:p14="http://schemas.microsoft.com/office/powerpoint/2010/main" val="229849365"/>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Topoi</a:t>
            </a:r>
            <a:endParaRPr lang="it-IT" dirty="0"/>
          </a:p>
        </p:txBody>
      </p:sp>
      <p:sp>
        <p:nvSpPr>
          <p:cNvPr id="5" name="Text Placeholder 4"/>
          <p:cNvSpPr>
            <a:spLocks noGrp="1"/>
          </p:cNvSpPr>
          <p:nvPr>
            <p:ph type="body" idx="1"/>
          </p:nvPr>
        </p:nvSpPr>
        <p:spPr/>
        <p:txBody>
          <a:bodyPr/>
          <a:lstStyle/>
          <a:p>
            <a:r>
              <a:rPr lang="en-US" dirty="0"/>
              <a:t>Argumentation schemas</a:t>
            </a:r>
            <a:endParaRPr lang="it-IT" dirty="0"/>
          </a:p>
        </p:txBody>
      </p:sp>
    </p:spTree>
    <p:extLst>
      <p:ext uri="{BB962C8B-B14F-4D97-AF65-F5344CB8AC3E}">
        <p14:creationId xmlns:p14="http://schemas.microsoft.com/office/powerpoint/2010/main" val="4157923099"/>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Contradiction </a:t>
            </a:r>
            <a:endParaRPr lang="it-IT" dirty="0"/>
          </a:p>
        </p:txBody>
      </p:sp>
      <p:sp>
        <p:nvSpPr>
          <p:cNvPr id="5" name="Content Placeholder 4"/>
          <p:cNvSpPr>
            <a:spLocks noGrp="1"/>
          </p:cNvSpPr>
          <p:nvPr>
            <p:ph idx="1"/>
          </p:nvPr>
        </p:nvSpPr>
        <p:spPr/>
        <p:txBody>
          <a:bodyPr>
            <a:normAutofit lnSpcReduction="10000"/>
          </a:bodyPr>
          <a:lstStyle/>
          <a:p>
            <a:r>
              <a:rPr lang="en-US" dirty="0"/>
              <a:t>A position may be refuted by demonstrating that the opposite is false</a:t>
            </a:r>
          </a:p>
          <a:p>
            <a:pPr marL="0" indent="0">
              <a:buNone/>
            </a:pPr>
            <a:r>
              <a:rPr lang="en-US" dirty="0"/>
              <a:t>EXAMPLE:</a:t>
            </a:r>
          </a:p>
          <a:p>
            <a:pPr marL="0" indent="0">
              <a:buNone/>
            </a:pPr>
            <a:r>
              <a:rPr lang="en-US" dirty="0"/>
              <a:t>You are against nuclear since you think it is bad for people’s health. But also fossil fuels are bad for the health, and you accept them!</a:t>
            </a:r>
          </a:p>
          <a:p>
            <a:pPr marL="0" indent="0">
              <a:buNone/>
            </a:pPr>
            <a:r>
              <a:rPr lang="en-US" sz="2300" dirty="0"/>
              <a:t>[</a:t>
            </a:r>
            <a:r>
              <a:rPr lang="en-US" sz="2300" i="1" dirty="0"/>
              <a:t>I do not accept things that are bad for the health – fossil fuels are bad – I accept fossil fuels</a:t>
            </a:r>
            <a:r>
              <a:rPr lang="en-US" sz="2300" dirty="0"/>
              <a:t>]</a:t>
            </a:r>
          </a:p>
          <a:p>
            <a:pPr marL="0" indent="0">
              <a:buNone/>
            </a:pPr>
            <a:endParaRPr lang="en-US" dirty="0"/>
          </a:p>
          <a:p>
            <a:pPr marL="0" indent="0">
              <a:buNone/>
            </a:pPr>
            <a:endParaRPr lang="it-IT" dirty="0"/>
          </a:p>
        </p:txBody>
      </p:sp>
    </p:spTree>
    <p:extLst>
      <p:ext uri="{BB962C8B-B14F-4D97-AF65-F5344CB8AC3E}">
        <p14:creationId xmlns:p14="http://schemas.microsoft.com/office/powerpoint/2010/main" val="177846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Analogy </a:t>
            </a:r>
            <a:endParaRPr lang="it-IT" dirty="0"/>
          </a:p>
        </p:txBody>
      </p:sp>
      <p:sp>
        <p:nvSpPr>
          <p:cNvPr id="3" name="Content Placeholder 2"/>
          <p:cNvSpPr>
            <a:spLocks noGrp="1"/>
          </p:cNvSpPr>
          <p:nvPr>
            <p:ph idx="1"/>
          </p:nvPr>
        </p:nvSpPr>
        <p:spPr/>
        <p:txBody>
          <a:bodyPr>
            <a:normAutofit/>
          </a:bodyPr>
          <a:lstStyle/>
          <a:p>
            <a:r>
              <a:rPr lang="en-US" dirty="0"/>
              <a:t>The validity of a position is proved by means of an irrefutable and striking similarity (…AS IF…)</a:t>
            </a:r>
          </a:p>
          <a:p>
            <a:pPr marL="0" indent="0">
              <a:buNone/>
            </a:pPr>
            <a:r>
              <a:rPr lang="en-US" dirty="0"/>
              <a:t>EXAMPLE: </a:t>
            </a:r>
            <a:endParaRPr lang="it-IT" dirty="0"/>
          </a:p>
          <a:p>
            <a:r>
              <a:rPr lang="it-IT" dirty="0" err="1"/>
              <a:t>Radiations</a:t>
            </a:r>
            <a:r>
              <a:rPr lang="it-IT" dirty="0"/>
              <a:t> are </a:t>
            </a:r>
            <a:r>
              <a:rPr lang="it-IT" dirty="0" err="1"/>
              <a:t>used</a:t>
            </a:r>
            <a:r>
              <a:rPr lang="it-IT" dirty="0"/>
              <a:t> to </a:t>
            </a:r>
            <a:r>
              <a:rPr lang="it-IT" dirty="0" err="1"/>
              <a:t>treat</a:t>
            </a:r>
            <a:r>
              <a:rPr lang="it-IT" dirty="0"/>
              <a:t> </a:t>
            </a:r>
            <a:r>
              <a:rPr lang="it-IT" dirty="0" err="1"/>
              <a:t>cancer</a:t>
            </a:r>
            <a:r>
              <a:rPr lang="it-IT" dirty="0"/>
              <a:t>. Like </a:t>
            </a:r>
            <a:r>
              <a:rPr lang="it-IT" dirty="0" err="1"/>
              <a:t>drugs</a:t>
            </a:r>
            <a:r>
              <a:rPr lang="it-IT" dirty="0"/>
              <a:t>: </a:t>
            </a:r>
            <a:r>
              <a:rPr lang="it-IT" dirty="0" err="1"/>
              <a:t>sure</a:t>
            </a:r>
            <a:r>
              <a:rPr lang="it-IT" dirty="0"/>
              <a:t>, </a:t>
            </a:r>
            <a:r>
              <a:rPr lang="it-IT" dirty="0" err="1"/>
              <a:t>they</a:t>
            </a:r>
            <a:r>
              <a:rPr lang="it-IT" dirty="0"/>
              <a:t> can be </a:t>
            </a:r>
            <a:r>
              <a:rPr lang="it-IT" dirty="0" err="1"/>
              <a:t>poisonous</a:t>
            </a:r>
            <a:r>
              <a:rPr lang="it-IT" dirty="0"/>
              <a:t> </a:t>
            </a:r>
            <a:r>
              <a:rPr lang="it-IT" dirty="0" err="1"/>
              <a:t>at</a:t>
            </a:r>
            <a:r>
              <a:rPr lang="it-IT" dirty="0"/>
              <a:t> </a:t>
            </a:r>
            <a:r>
              <a:rPr lang="it-IT" dirty="0" err="1"/>
              <a:t>times</a:t>
            </a:r>
            <a:r>
              <a:rPr lang="it-IT" dirty="0"/>
              <a:t>, </a:t>
            </a:r>
            <a:r>
              <a:rPr lang="it-IT" dirty="0" err="1"/>
              <a:t>but</a:t>
            </a:r>
            <a:r>
              <a:rPr lang="it-IT" dirty="0"/>
              <a:t> </a:t>
            </a:r>
            <a:r>
              <a:rPr lang="it-IT" dirty="0" err="1"/>
              <a:t>they</a:t>
            </a:r>
            <a:r>
              <a:rPr lang="it-IT" dirty="0"/>
              <a:t> help </a:t>
            </a:r>
            <a:r>
              <a:rPr lang="it-IT" dirty="0" err="1"/>
              <a:t>us</a:t>
            </a:r>
            <a:r>
              <a:rPr lang="it-IT" dirty="0"/>
              <a:t> </a:t>
            </a:r>
            <a:r>
              <a:rPr lang="it-IT" dirty="0" err="1"/>
              <a:t>treat</a:t>
            </a:r>
            <a:r>
              <a:rPr lang="it-IT" dirty="0"/>
              <a:t> </a:t>
            </a:r>
            <a:r>
              <a:rPr lang="it-IT" dirty="0" err="1"/>
              <a:t>conditions</a:t>
            </a:r>
            <a:r>
              <a:rPr lang="it-IT" dirty="0"/>
              <a:t>. </a:t>
            </a:r>
            <a:r>
              <a:rPr lang="it-IT" dirty="0" err="1"/>
              <a:t>Would</a:t>
            </a:r>
            <a:r>
              <a:rPr lang="it-IT" dirty="0"/>
              <a:t> </a:t>
            </a:r>
            <a:r>
              <a:rPr lang="it-IT" dirty="0" err="1"/>
              <a:t>we</a:t>
            </a:r>
            <a:r>
              <a:rPr lang="it-IT" dirty="0"/>
              <a:t> do </a:t>
            </a:r>
            <a:r>
              <a:rPr lang="it-IT" dirty="0" err="1"/>
              <a:t>without</a:t>
            </a:r>
            <a:r>
              <a:rPr lang="it-IT" dirty="0"/>
              <a:t> </a:t>
            </a:r>
            <a:r>
              <a:rPr lang="it-IT" dirty="0" err="1"/>
              <a:t>drugs</a:t>
            </a:r>
            <a:r>
              <a:rPr lang="it-IT" dirty="0"/>
              <a:t>?</a:t>
            </a:r>
            <a:endParaRPr lang="it-IT" dirty="0">
              <a:effectLst/>
            </a:endParaRPr>
          </a:p>
          <a:p>
            <a:endParaRPr lang="it-IT" dirty="0"/>
          </a:p>
        </p:txBody>
      </p:sp>
    </p:spTree>
    <p:extLst>
      <p:ext uri="{BB962C8B-B14F-4D97-AF65-F5344CB8AC3E}">
        <p14:creationId xmlns:p14="http://schemas.microsoft.com/office/powerpoint/2010/main" val="3399920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1255-55B3-453E-B554-9963A2D5693A}"/>
              </a:ext>
            </a:extLst>
          </p:cNvPr>
          <p:cNvSpPr>
            <a:spLocks noGrp="1"/>
          </p:cNvSpPr>
          <p:nvPr>
            <p:ph type="title"/>
          </p:nvPr>
        </p:nvSpPr>
        <p:spPr/>
        <p:txBody>
          <a:bodyPr/>
          <a:lstStyle/>
          <a:p>
            <a:r>
              <a:rPr lang="en-US" dirty="0" err="1"/>
              <a:t>Reductio</a:t>
            </a:r>
            <a:r>
              <a:rPr lang="en-US" dirty="0"/>
              <a:t> ad absurdum/1.1</a:t>
            </a:r>
          </a:p>
        </p:txBody>
      </p:sp>
      <p:sp>
        <p:nvSpPr>
          <p:cNvPr id="3" name="Content Placeholder 2">
            <a:extLst>
              <a:ext uri="{FF2B5EF4-FFF2-40B4-BE49-F238E27FC236}">
                <a16:creationId xmlns:a16="http://schemas.microsoft.com/office/drawing/2014/main" id="{FD43F717-AD44-4C8B-B048-D27655C70D4B}"/>
              </a:ext>
            </a:extLst>
          </p:cNvPr>
          <p:cNvSpPr>
            <a:spLocks noGrp="1"/>
          </p:cNvSpPr>
          <p:nvPr>
            <p:ph idx="1"/>
          </p:nvPr>
        </p:nvSpPr>
        <p:spPr/>
        <p:txBody>
          <a:bodyPr>
            <a:normAutofit fontScale="92500" lnSpcReduction="10000"/>
          </a:bodyPr>
          <a:lstStyle/>
          <a:p>
            <a:r>
              <a:rPr lang="en-US" dirty="0"/>
              <a:t>String theory [is…] an example of “non-empirical theory assessment”. By this he means that to select a good theory, its ability to describe observation isn’t’ the only criterion. He claims that certain criteria that are not based on observations are also philosophically sound, and he concludes that </a:t>
            </a:r>
            <a:r>
              <a:rPr lang="en-US" b="1" dirty="0">
                <a:latin typeface="Arial Black" panose="020B0A04020102020204" pitchFamily="34" charset="0"/>
              </a:rPr>
              <a:t>the scientific method must be amended so that hypothesis can be evaluated on purely theoretical ground</a:t>
            </a:r>
          </a:p>
        </p:txBody>
      </p:sp>
    </p:spTree>
    <p:extLst>
      <p:ext uri="{BB962C8B-B14F-4D97-AF65-F5344CB8AC3E}">
        <p14:creationId xmlns:p14="http://schemas.microsoft.com/office/powerpoint/2010/main" val="2821975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1255-55B3-453E-B554-9963A2D5693A}"/>
              </a:ext>
            </a:extLst>
          </p:cNvPr>
          <p:cNvSpPr>
            <a:spLocks noGrp="1"/>
          </p:cNvSpPr>
          <p:nvPr>
            <p:ph type="title"/>
          </p:nvPr>
        </p:nvSpPr>
        <p:spPr/>
        <p:txBody>
          <a:bodyPr/>
          <a:lstStyle/>
          <a:p>
            <a:r>
              <a:rPr lang="en-US" dirty="0" err="1"/>
              <a:t>Reductio</a:t>
            </a:r>
            <a:r>
              <a:rPr lang="en-US" dirty="0"/>
              <a:t> ad absurdum/1.2</a:t>
            </a:r>
          </a:p>
        </p:txBody>
      </p:sp>
      <p:sp>
        <p:nvSpPr>
          <p:cNvPr id="3" name="Content Placeholder 2">
            <a:extLst>
              <a:ext uri="{FF2B5EF4-FFF2-40B4-BE49-F238E27FC236}">
                <a16:creationId xmlns:a16="http://schemas.microsoft.com/office/drawing/2014/main" id="{FD43F717-AD44-4C8B-B048-D27655C70D4B}"/>
              </a:ext>
            </a:extLst>
          </p:cNvPr>
          <p:cNvSpPr>
            <a:spLocks noGrp="1"/>
          </p:cNvSpPr>
          <p:nvPr>
            <p:ph idx="1"/>
          </p:nvPr>
        </p:nvSpPr>
        <p:spPr/>
        <p:txBody>
          <a:bodyPr>
            <a:normAutofit/>
          </a:bodyPr>
          <a:lstStyle/>
          <a:p>
            <a:r>
              <a:rPr lang="en-US" dirty="0"/>
              <a:t>[BUT] if we accept a new philosophy that promotes selecting theories based on something other than facts, </a:t>
            </a:r>
            <a:r>
              <a:rPr lang="en-US" dirty="0">
                <a:latin typeface="Arial Black" panose="020B0A04020102020204" pitchFamily="34" charset="0"/>
              </a:rPr>
              <a:t>why stop at physics?</a:t>
            </a:r>
            <a:r>
              <a:rPr lang="en-US" dirty="0"/>
              <a:t> I envision a future in which climate scientists choose models according to criteria some philosopher dreamed up. The thought makes me sweat…</a:t>
            </a:r>
          </a:p>
          <a:p>
            <a:pPr marL="0" indent="0" algn="r">
              <a:buNone/>
            </a:pPr>
            <a:r>
              <a:rPr lang="en-US" sz="1400" dirty="0"/>
              <a:t>S. </a:t>
            </a:r>
            <a:r>
              <a:rPr lang="en-US" sz="1400" dirty="0" err="1"/>
              <a:t>Hossenfelder</a:t>
            </a:r>
            <a:r>
              <a:rPr lang="en-US" sz="1400" dirty="0"/>
              <a:t>, (2018). </a:t>
            </a:r>
            <a:r>
              <a:rPr lang="en-US" sz="1400" i="1" dirty="0"/>
              <a:t>Lost in math. How beauty led physics astray</a:t>
            </a:r>
            <a:r>
              <a:rPr lang="en-US" sz="1400" dirty="0"/>
              <a:t>. Basic Books, New York</a:t>
            </a:r>
          </a:p>
          <a:p>
            <a:endParaRPr lang="en-US" dirty="0"/>
          </a:p>
          <a:p>
            <a:pPr marL="0" indent="0" algn="r">
              <a:buNone/>
            </a:pPr>
            <a:endParaRPr lang="en-US" dirty="0"/>
          </a:p>
        </p:txBody>
      </p:sp>
    </p:spTree>
    <p:extLst>
      <p:ext uri="{BB962C8B-B14F-4D97-AF65-F5344CB8AC3E}">
        <p14:creationId xmlns:p14="http://schemas.microsoft.com/office/powerpoint/2010/main" val="119817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Irreparable direction</a:t>
            </a:r>
            <a:endParaRPr lang="it-IT" dirty="0"/>
          </a:p>
        </p:txBody>
      </p:sp>
      <p:sp>
        <p:nvSpPr>
          <p:cNvPr id="3" name="Content Placeholder 2"/>
          <p:cNvSpPr>
            <a:spLocks noGrp="1"/>
          </p:cNvSpPr>
          <p:nvPr>
            <p:ph idx="1"/>
          </p:nvPr>
        </p:nvSpPr>
        <p:spPr/>
        <p:txBody>
          <a:bodyPr>
            <a:normAutofit/>
          </a:bodyPr>
          <a:lstStyle/>
          <a:p>
            <a:r>
              <a:rPr lang="en-US" dirty="0"/>
              <a:t>Example: “The freedom speech”</a:t>
            </a:r>
          </a:p>
          <a:p>
            <a:r>
              <a:rPr lang="en-US" dirty="0"/>
              <a:t>If you choose something, there will be consequences you do not want – and you won’t be able to repair</a:t>
            </a:r>
          </a:p>
          <a:p>
            <a:r>
              <a:rPr lang="en-US" dirty="0"/>
              <a:t>“Now or never”; “This is the last time I ask you…”</a:t>
            </a:r>
          </a:p>
          <a:p>
            <a:endParaRPr lang="en-US" dirty="0"/>
          </a:p>
        </p:txBody>
      </p:sp>
    </p:spTree>
    <p:extLst>
      <p:ext uri="{BB962C8B-B14F-4D97-AF65-F5344CB8AC3E}">
        <p14:creationId xmlns:p14="http://schemas.microsoft.com/office/powerpoint/2010/main" val="259020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it-IT"/>
          </a:p>
        </p:txBody>
      </p:sp>
      <p:sp>
        <p:nvSpPr>
          <p:cNvPr id="4" name="Title 3"/>
          <p:cNvSpPr>
            <a:spLocks noGrp="1"/>
          </p:cNvSpPr>
          <p:nvPr>
            <p:ph type="title"/>
          </p:nvPr>
        </p:nvSpPr>
        <p:spPr/>
        <p:txBody>
          <a:bodyPr>
            <a:normAutofit fontScale="90000"/>
          </a:bodyPr>
          <a:lstStyle/>
          <a:p>
            <a:r>
              <a:rPr lang="en-US" dirty="0"/>
              <a:t>Quasi-logic arguments</a:t>
            </a:r>
            <a:endParaRPr lang="it-IT" dirty="0"/>
          </a:p>
        </p:txBody>
      </p:sp>
    </p:spTree>
    <p:extLst>
      <p:ext uri="{BB962C8B-B14F-4D97-AF65-F5344CB8AC3E}">
        <p14:creationId xmlns:p14="http://schemas.microsoft.com/office/powerpoint/2010/main" val="295993306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Quasi-logic arguments</a:t>
            </a:r>
            <a:endParaRPr lang="it-IT" dirty="0"/>
          </a:p>
        </p:txBody>
      </p:sp>
      <p:sp>
        <p:nvSpPr>
          <p:cNvPr id="3" name="Content Placeholder 2"/>
          <p:cNvSpPr>
            <a:spLocks noGrp="1"/>
          </p:cNvSpPr>
          <p:nvPr>
            <p:ph sz="quarter" idx="13"/>
          </p:nvPr>
        </p:nvSpPr>
        <p:spPr/>
        <p:txBody>
          <a:bodyPr>
            <a:normAutofit/>
          </a:bodyPr>
          <a:lstStyle/>
          <a:p>
            <a:r>
              <a:rPr lang="en-US" dirty="0"/>
              <a:t>The speakers trying to convince their audience, or their opponents often design their arguments, in such ways as to resemble </a:t>
            </a:r>
            <a:r>
              <a:rPr lang="it-IT" dirty="0" err="1"/>
              <a:t>logical</a:t>
            </a:r>
            <a:r>
              <a:rPr lang="it-IT" dirty="0"/>
              <a:t> or </a:t>
            </a:r>
            <a:r>
              <a:rPr lang="it-IT" dirty="0" err="1"/>
              <a:t>mathematical</a:t>
            </a:r>
            <a:r>
              <a:rPr lang="it-IT" dirty="0"/>
              <a:t> </a:t>
            </a:r>
            <a:r>
              <a:rPr lang="it-IT" dirty="0" err="1"/>
              <a:t>demonstrations</a:t>
            </a:r>
            <a:endParaRPr lang="en-US" dirty="0"/>
          </a:p>
          <a:p>
            <a:r>
              <a:rPr lang="en-US" dirty="0"/>
              <a:t>Their persuasiveness derives from their resemblance to formal logic</a:t>
            </a:r>
          </a:p>
          <a:p>
            <a:pPr marL="0" indent="0" algn="r">
              <a:buNone/>
            </a:pPr>
            <a:r>
              <a:rPr lang="en-US" sz="1800" dirty="0"/>
              <a:t>(1958, Chaim Perelman and Lucie </a:t>
            </a:r>
            <a:r>
              <a:rPr lang="en-US" sz="1800" dirty="0" err="1"/>
              <a:t>Olbrechts-Tyteca</a:t>
            </a:r>
            <a:r>
              <a:rPr lang="en-US" sz="1800" dirty="0"/>
              <a:t>)</a:t>
            </a:r>
          </a:p>
          <a:p>
            <a:endParaRPr lang="it-IT" dirty="0"/>
          </a:p>
        </p:txBody>
      </p:sp>
    </p:spTree>
    <p:extLst>
      <p:ext uri="{BB962C8B-B14F-4D97-AF65-F5344CB8AC3E}">
        <p14:creationId xmlns:p14="http://schemas.microsoft.com/office/powerpoint/2010/main" val="310451654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Quasi-logic arguments/1</a:t>
            </a:r>
            <a:endParaRPr lang="it-IT" dirty="0"/>
          </a:p>
        </p:txBody>
      </p:sp>
      <p:sp>
        <p:nvSpPr>
          <p:cNvPr id="3" name="Content Placeholder 2"/>
          <p:cNvSpPr>
            <a:spLocks noGrp="1"/>
          </p:cNvSpPr>
          <p:nvPr>
            <p:ph sz="quarter" idx="13"/>
          </p:nvPr>
        </p:nvSpPr>
        <p:spPr/>
        <p:txBody>
          <a:bodyPr>
            <a:normAutofit fontScale="92500" lnSpcReduction="20000"/>
          </a:bodyPr>
          <a:lstStyle/>
          <a:p>
            <a:r>
              <a:rPr lang="en-US" dirty="0"/>
              <a:t>Reciprocity </a:t>
            </a:r>
            <a:r>
              <a:rPr lang="en-US" b="1" dirty="0"/>
              <a:t>(A:B=B:A)</a:t>
            </a:r>
          </a:p>
          <a:p>
            <a:pPr lvl="1"/>
            <a:r>
              <a:rPr lang="en-US" dirty="0"/>
              <a:t>“If they bully you at school, just hit them back”</a:t>
            </a:r>
          </a:p>
          <a:p>
            <a:pPr lvl="1"/>
            <a:r>
              <a:rPr lang="en-US" dirty="0"/>
              <a:t>“Is it justice of Germany to refuse debt relief to Greece when the country was itself given debt relief by Greece in 1953?”</a:t>
            </a:r>
          </a:p>
          <a:p>
            <a:pPr lvl="1"/>
            <a:endParaRPr lang="en-US" dirty="0"/>
          </a:p>
          <a:p>
            <a:pPr lvl="1"/>
            <a:endParaRPr lang="it-IT"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4384" y="1352551"/>
            <a:ext cx="4560103" cy="3617682"/>
          </a:xfrm>
          <a:prstGeom prst="rect">
            <a:avLst/>
          </a:prstGeom>
        </p:spPr>
      </p:pic>
    </p:spTree>
    <p:extLst>
      <p:ext uri="{BB962C8B-B14F-4D97-AF65-F5344CB8AC3E}">
        <p14:creationId xmlns:p14="http://schemas.microsoft.com/office/powerpoint/2010/main" val="1813333119"/>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Quasi-logic arguments/2</a:t>
            </a:r>
            <a:endParaRPr lang="it-IT" dirty="0"/>
          </a:p>
        </p:txBody>
      </p:sp>
      <p:sp>
        <p:nvSpPr>
          <p:cNvPr id="5" name="Content Placeholder 4"/>
          <p:cNvSpPr>
            <a:spLocks noGrp="1"/>
          </p:cNvSpPr>
          <p:nvPr>
            <p:ph sz="quarter" idx="13"/>
          </p:nvPr>
        </p:nvSpPr>
        <p:spPr/>
        <p:txBody>
          <a:bodyPr>
            <a:normAutofit/>
          </a:bodyPr>
          <a:lstStyle/>
          <a:p>
            <a:r>
              <a:rPr lang="en-US" dirty="0"/>
              <a:t>RULE OF JUSTICE:</a:t>
            </a:r>
          </a:p>
          <a:p>
            <a:r>
              <a:rPr lang="en-US" dirty="0"/>
              <a:t>Beings in the same essential category should be treated in the same way</a:t>
            </a:r>
          </a:p>
          <a:p>
            <a:r>
              <a:rPr lang="en-US" dirty="0"/>
              <a:t>“Siblings should be treated the same way”</a:t>
            </a:r>
          </a:p>
          <a:p>
            <a:endParaRPr lang="en-US" dirty="0"/>
          </a:p>
        </p:txBody>
      </p:sp>
    </p:spTree>
    <p:extLst>
      <p:ext uri="{BB962C8B-B14F-4D97-AF65-F5344CB8AC3E}">
        <p14:creationId xmlns:p14="http://schemas.microsoft.com/office/powerpoint/2010/main" val="99935564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Quasi-logic arguments/3	</a:t>
            </a:r>
            <a:endParaRPr lang="it-IT" dirty="0"/>
          </a:p>
        </p:txBody>
      </p:sp>
      <p:sp>
        <p:nvSpPr>
          <p:cNvPr id="3" name="Content Placeholder 2"/>
          <p:cNvSpPr>
            <a:spLocks noGrp="1"/>
          </p:cNvSpPr>
          <p:nvPr>
            <p:ph sz="quarter" idx="13"/>
          </p:nvPr>
        </p:nvSpPr>
        <p:spPr/>
        <p:txBody>
          <a:bodyPr>
            <a:normAutofit fontScale="92500" lnSpcReduction="10000"/>
          </a:bodyPr>
          <a:lstStyle/>
          <a:p>
            <a:r>
              <a:rPr lang="en-US" dirty="0"/>
              <a:t>Of sacrifice</a:t>
            </a:r>
          </a:p>
          <a:p>
            <a:r>
              <a:rPr lang="en-US" dirty="0"/>
              <a:t>In the absence of an objective standard, things are judged only by the value people attach to them</a:t>
            </a:r>
          </a:p>
          <a:p>
            <a:r>
              <a:rPr lang="en-US" dirty="0"/>
              <a:t>“We don’t know what the purpose of the Stonehenge was, but we can tell from the effort it took to bring these stones all the way here that this was important for whoever built this.”</a:t>
            </a:r>
          </a:p>
          <a:p>
            <a:r>
              <a:rPr lang="en-US" dirty="0"/>
              <a:t>“We have come too far to give up now.”</a:t>
            </a:r>
            <a:endParaRPr lang="it-IT" dirty="0"/>
          </a:p>
        </p:txBody>
      </p:sp>
    </p:spTree>
    <p:extLst>
      <p:ext uri="{BB962C8B-B14F-4D97-AF65-F5344CB8AC3E}">
        <p14:creationId xmlns:p14="http://schemas.microsoft.com/office/powerpoint/2010/main" val="177436008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normAutofit/>
          </a:bodyPr>
          <a:lstStyle/>
          <a:p>
            <a:pPr marL="0"/>
            <a:r>
              <a:rPr lang="en-US" dirty="0"/>
              <a:t>Arguments apparently correct in form but </a:t>
            </a:r>
            <a:r>
              <a:rPr lang="en-US"/>
              <a:t>actually invalid</a:t>
            </a:r>
            <a:endParaRPr lang="en-US" dirty="0"/>
          </a:p>
        </p:txBody>
      </p:sp>
      <p:sp>
        <p:nvSpPr>
          <p:cNvPr id="4" name="Title 3"/>
          <p:cNvSpPr>
            <a:spLocks noGrp="1"/>
          </p:cNvSpPr>
          <p:nvPr>
            <p:ph type="title"/>
          </p:nvPr>
        </p:nvSpPr>
        <p:spPr/>
        <p:txBody>
          <a:bodyPr>
            <a:normAutofit fontScale="90000"/>
          </a:bodyPr>
          <a:lstStyle/>
          <a:p>
            <a:r>
              <a:rPr lang="it-IT" dirty="0" err="1"/>
              <a:t>Sophisms</a:t>
            </a:r>
            <a:r>
              <a:rPr lang="it-IT" dirty="0"/>
              <a:t> or </a:t>
            </a:r>
            <a:r>
              <a:rPr lang="it-IT" dirty="0" err="1"/>
              <a:t>Fallacies</a:t>
            </a:r>
            <a:endParaRPr lang="en-US" dirty="0"/>
          </a:p>
        </p:txBody>
      </p:sp>
    </p:spTree>
    <p:extLst>
      <p:ext uri="{BB962C8B-B14F-4D97-AF65-F5344CB8AC3E}">
        <p14:creationId xmlns:p14="http://schemas.microsoft.com/office/powerpoint/2010/main" val="1087662819"/>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err="1"/>
              <a:t>Argument</a:t>
            </a:r>
            <a:r>
              <a:rPr lang="it-IT" dirty="0"/>
              <a:t> from </a:t>
            </a:r>
            <a:r>
              <a:rPr lang="it-IT" dirty="0" err="1"/>
              <a:t>ignorance</a:t>
            </a:r>
            <a:endParaRPr lang="en-US" dirty="0"/>
          </a:p>
        </p:txBody>
      </p:sp>
      <p:sp>
        <p:nvSpPr>
          <p:cNvPr id="3" name="Content Placeholder 2"/>
          <p:cNvSpPr>
            <a:spLocks noGrp="1"/>
          </p:cNvSpPr>
          <p:nvPr>
            <p:ph sz="quarter" idx="13"/>
          </p:nvPr>
        </p:nvSpPr>
        <p:spPr/>
        <p:txBody>
          <a:bodyPr>
            <a:normAutofit fontScale="85000" lnSpcReduction="20000"/>
          </a:bodyPr>
          <a:lstStyle/>
          <a:p>
            <a:r>
              <a:rPr lang="it-IT" dirty="0"/>
              <a:t>Appeal to </a:t>
            </a:r>
            <a:r>
              <a:rPr lang="it-IT" dirty="0" err="1"/>
              <a:t>ignorance</a:t>
            </a:r>
            <a:r>
              <a:rPr lang="it-IT" dirty="0"/>
              <a:t>, in the </a:t>
            </a:r>
            <a:r>
              <a:rPr lang="it-IT" dirty="0" err="1"/>
              <a:t>sense</a:t>
            </a:r>
            <a:r>
              <a:rPr lang="it-IT" dirty="0"/>
              <a:t> of «</a:t>
            </a:r>
            <a:r>
              <a:rPr lang="it-IT" dirty="0" err="1"/>
              <a:t>lack</a:t>
            </a:r>
            <a:r>
              <a:rPr lang="it-IT" dirty="0"/>
              <a:t> of </a:t>
            </a:r>
            <a:r>
              <a:rPr lang="it-IT" dirty="0" err="1"/>
              <a:t>evidence</a:t>
            </a:r>
            <a:r>
              <a:rPr lang="it-IT" dirty="0"/>
              <a:t>»</a:t>
            </a:r>
          </a:p>
          <a:p>
            <a:pPr lvl="1"/>
            <a:r>
              <a:rPr lang="en-US" dirty="0"/>
              <a:t>“If a proposition has not been disproven, then it cannot be considered false and must therefore be considered true.”</a:t>
            </a:r>
          </a:p>
          <a:p>
            <a:pPr lvl="1"/>
            <a:r>
              <a:rPr lang="en-US" dirty="0"/>
              <a:t>“If a proposition has not been proven, then it cannot be considered true and must therefore be considered false.”</a:t>
            </a:r>
          </a:p>
          <a:p>
            <a:r>
              <a:rPr lang="it-IT" dirty="0"/>
              <a:t>In LAW: </a:t>
            </a:r>
            <a:r>
              <a:rPr lang="it-IT" dirty="0" err="1"/>
              <a:t>You</a:t>
            </a:r>
            <a:r>
              <a:rPr lang="it-IT" dirty="0"/>
              <a:t> are </a:t>
            </a:r>
            <a:r>
              <a:rPr lang="it-IT" dirty="0" err="1"/>
              <a:t>innocent</a:t>
            </a:r>
            <a:r>
              <a:rPr lang="it-IT" dirty="0"/>
              <a:t> </a:t>
            </a:r>
            <a:r>
              <a:rPr lang="it-IT" dirty="0" err="1"/>
              <a:t>until</a:t>
            </a:r>
            <a:r>
              <a:rPr lang="it-IT" dirty="0"/>
              <a:t> </a:t>
            </a:r>
            <a:r>
              <a:rPr lang="it-IT" dirty="0" err="1"/>
              <a:t>it’s</a:t>
            </a:r>
            <a:r>
              <a:rPr lang="it-IT" dirty="0"/>
              <a:t> </a:t>
            </a:r>
            <a:r>
              <a:rPr lang="it-IT" dirty="0" err="1"/>
              <a:t>proven</a:t>
            </a:r>
            <a:r>
              <a:rPr lang="it-IT" dirty="0"/>
              <a:t> </a:t>
            </a:r>
            <a:r>
              <a:rPr lang="it-IT" dirty="0" err="1"/>
              <a:t>that</a:t>
            </a:r>
            <a:r>
              <a:rPr lang="it-IT" dirty="0"/>
              <a:t> </a:t>
            </a:r>
            <a:r>
              <a:rPr lang="it-IT" dirty="0" err="1"/>
              <a:t>you</a:t>
            </a:r>
            <a:r>
              <a:rPr lang="it-IT" dirty="0"/>
              <a:t> are </a:t>
            </a:r>
            <a:r>
              <a:rPr lang="it-IT" dirty="0" err="1"/>
              <a:t>guilty</a:t>
            </a:r>
            <a:endParaRPr lang="it-IT" dirty="0"/>
          </a:p>
          <a:p>
            <a:r>
              <a:rPr lang="it-IT" dirty="0" err="1"/>
              <a:t>It’s</a:t>
            </a:r>
            <a:r>
              <a:rPr lang="it-IT" dirty="0"/>
              <a:t> an </a:t>
            </a:r>
            <a:r>
              <a:rPr lang="it-IT" dirty="0" err="1"/>
              <a:t>argument</a:t>
            </a:r>
            <a:r>
              <a:rPr lang="it-IT" dirty="0"/>
              <a:t> from </a:t>
            </a:r>
            <a:r>
              <a:rPr lang="it-IT" dirty="0" err="1"/>
              <a:t>ignorance</a:t>
            </a:r>
            <a:r>
              <a:rPr lang="it-IT" dirty="0"/>
              <a:t>, </a:t>
            </a:r>
            <a:r>
              <a:rPr lang="it-IT" dirty="0" err="1"/>
              <a:t>adopted</a:t>
            </a:r>
            <a:r>
              <a:rPr lang="it-IT" dirty="0"/>
              <a:t> for the </a:t>
            </a:r>
            <a:r>
              <a:rPr lang="it-IT" dirty="0" err="1"/>
              <a:t>reason</a:t>
            </a:r>
            <a:r>
              <a:rPr lang="it-IT" dirty="0"/>
              <a:t> </a:t>
            </a:r>
            <a:r>
              <a:rPr lang="it-IT" dirty="0" err="1"/>
              <a:t>that</a:t>
            </a:r>
            <a:r>
              <a:rPr lang="it-IT" dirty="0"/>
              <a:t> </a:t>
            </a:r>
            <a:r>
              <a:rPr lang="it-IT" dirty="0" err="1"/>
              <a:t>it’s</a:t>
            </a:r>
            <a:r>
              <a:rPr lang="it-IT" dirty="0"/>
              <a:t> a </a:t>
            </a:r>
            <a:r>
              <a:rPr lang="it-IT" dirty="0" err="1"/>
              <a:t>worse</a:t>
            </a:r>
            <a:r>
              <a:rPr lang="it-IT" dirty="0"/>
              <a:t> </a:t>
            </a:r>
            <a:r>
              <a:rPr lang="it-IT" dirty="0" err="1"/>
              <a:t>mistake</a:t>
            </a:r>
            <a:r>
              <a:rPr lang="it-IT" dirty="0"/>
              <a:t> to </a:t>
            </a:r>
            <a:r>
              <a:rPr lang="it-IT" dirty="0" err="1"/>
              <a:t>consider</a:t>
            </a:r>
            <a:r>
              <a:rPr lang="it-IT" dirty="0"/>
              <a:t> </a:t>
            </a:r>
            <a:r>
              <a:rPr lang="it-IT" dirty="0" err="1"/>
              <a:t>guilty</a:t>
            </a:r>
            <a:r>
              <a:rPr lang="it-IT" dirty="0"/>
              <a:t> </a:t>
            </a:r>
            <a:r>
              <a:rPr lang="it-IT" dirty="0" err="1"/>
              <a:t>someone</a:t>
            </a:r>
            <a:r>
              <a:rPr lang="it-IT" dirty="0"/>
              <a:t> </a:t>
            </a:r>
            <a:r>
              <a:rPr lang="it-IT" dirty="0" err="1"/>
              <a:t>who</a:t>
            </a:r>
            <a:r>
              <a:rPr lang="it-IT" dirty="0"/>
              <a:t> </a:t>
            </a:r>
            <a:r>
              <a:rPr lang="it-IT" dirty="0" err="1"/>
              <a:t>is</a:t>
            </a:r>
            <a:r>
              <a:rPr lang="it-IT" dirty="0"/>
              <a:t> </a:t>
            </a:r>
            <a:r>
              <a:rPr lang="it-IT" dirty="0" err="1"/>
              <a:t>innocent</a:t>
            </a:r>
            <a:r>
              <a:rPr lang="it-IT" dirty="0"/>
              <a:t> </a:t>
            </a:r>
            <a:r>
              <a:rPr lang="it-IT" dirty="0" err="1"/>
              <a:t>than</a:t>
            </a:r>
            <a:r>
              <a:rPr lang="it-IT" dirty="0"/>
              <a:t> the opposite (to </a:t>
            </a:r>
            <a:r>
              <a:rPr lang="it-IT" dirty="0" err="1"/>
              <a:t>consider</a:t>
            </a:r>
            <a:r>
              <a:rPr lang="it-IT" dirty="0"/>
              <a:t> </a:t>
            </a:r>
            <a:r>
              <a:rPr lang="it-IT" dirty="0" err="1"/>
              <a:t>innocent</a:t>
            </a:r>
            <a:r>
              <a:rPr lang="it-IT" dirty="0"/>
              <a:t> </a:t>
            </a:r>
            <a:r>
              <a:rPr lang="it-IT" dirty="0" err="1"/>
              <a:t>someone</a:t>
            </a:r>
            <a:r>
              <a:rPr lang="it-IT" dirty="0"/>
              <a:t> </a:t>
            </a:r>
            <a:r>
              <a:rPr lang="it-IT" dirty="0" err="1"/>
              <a:t>who</a:t>
            </a:r>
            <a:r>
              <a:rPr lang="it-IT" dirty="0"/>
              <a:t> </a:t>
            </a:r>
            <a:r>
              <a:rPr lang="it-IT" dirty="0" err="1"/>
              <a:t>is</a:t>
            </a:r>
            <a:r>
              <a:rPr lang="it-IT" dirty="0"/>
              <a:t> </a:t>
            </a:r>
            <a:r>
              <a:rPr lang="it-IT" dirty="0" err="1"/>
              <a:t>guilty</a:t>
            </a:r>
            <a:r>
              <a:rPr lang="it-IT" dirty="0"/>
              <a:t>).</a:t>
            </a:r>
            <a:endParaRPr lang="en-US" dirty="0"/>
          </a:p>
          <a:p>
            <a:endParaRPr lang="en-US" dirty="0"/>
          </a:p>
          <a:p>
            <a:endParaRPr lang="it-IT" dirty="0"/>
          </a:p>
          <a:p>
            <a:endParaRPr lang="it-IT" dirty="0"/>
          </a:p>
          <a:p>
            <a:endParaRPr lang="it-IT" dirty="0"/>
          </a:p>
          <a:p>
            <a:endParaRPr lang="en-US" dirty="0"/>
          </a:p>
        </p:txBody>
      </p:sp>
    </p:spTree>
    <p:extLst>
      <p:ext uri="{BB962C8B-B14F-4D97-AF65-F5344CB8AC3E}">
        <p14:creationId xmlns:p14="http://schemas.microsoft.com/office/powerpoint/2010/main" val="3511041936"/>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dirty="0" err="1"/>
              <a:t>Argument</a:t>
            </a:r>
            <a:r>
              <a:rPr lang="it-IT" dirty="0"/>
              <a:t> from </a:t>
            </a:r>
            <a:r>
              <a:rPr lang="it-IT" dirty="0" err="1"/>
              <a:t>ignorance</a:t>
            </a:r>
            <a:r>
              <a:rPr lang="it-IT" dirty="0"/>
              <a:t>/</a:t>
            </a:r>
            <a:r>
              <a:rPr lang="it-IT" dirty="0" err="1"/>
              <a:t>example</a:t>
            </a:r>
            <a:endParaRPr lang="en-US" dirty="0"/>
          </a:p>
        </p:txBody>
      </p:sp>
      <p:sp>
        <p:nvSpPr>
          <p:cNvPr id="3" name="Content Placeholder 2"/>
          <p:cNvSpPr>
            <a:spLocks noGrp="1"/>
          </p:cNvSpPr>
          <p:nvPr>
            <p:ph sz="quarter" idx="13"/>
          </p:nvPr>
        </p:nvSpPr>
        <p:spPr/>
        <p:txBody>
          <a:bodyPr>
            <a:normAutofit/>
          </a:bodyPr>
          <a:lstStyle/>
          <a:p>
            <a:r>
              <a:rPr lang="en-US" dirty="0"/>
              <a:t>She didn't say that I couldn't borrow her car, so I figured it was just fine if I borrowed it for the weekend.</a:t>
            </a:r>
          </a:p>
        </p:txBody>
      </p:sp>
    </p:spTree>
    <p:extLst>
      <p:ext uri="{BB962C8B-B14F-4D97-AF65-F5344CB8AC3E}">
        <p14:creationId xmlns:p14="http://schemas.microsoft.com/office/powerpoint/2010/main" val="3258602605"/>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err="1"/>
              <a:t>Argument</a:t>
            </a:r>
            <a:r>
              <a:rPr lang="it-IT" dirty="0"/>
              <a:t> from authority/1</a:t>
            </a:r>
            <a:endParaRPr lang="en-US" dirty="0"/>
          </a:p>
        </p:txBody>
      </p:sp>
      <p:sp>
        <p:nvSpPr>
          <p:cNvPr id="3" name="Content Placeholder 2"/>
          <p:cNvSpPr>
            <a:spLocks noGrp="1"/>
          </p:cNvSpPr>
          <p:nvPr>
            <p:ph sz="quarter" idx="13"/>
          </p:nvPr>
        </p:nvSpPr>
        <p:spPr/>
        <p:txBody>
          <a:bodyPr>
            <a:normAutofit fontScale="92500" lnSpcReduction="20000"/>
          </a:bodyPr>
          <a:lstStyle/>
          <a:p>
            <a:r>
              <a:rPr lang="en-US" sz="2000" dirty="0"/>
              <a:t>The opinion of an authority on a topic is used as evidence to support an argument.</a:t>
            </a:r>
          </a:p>
          <a:p>
            <a:r>
              <a:rPr lang="en-US" sz="2000" dirty="0"/>
              <a:t>This approach is based on the assumption that if an expert or authoritative figure believes or states something, it must therefore be true.</a:t>
            </a:r>
          </a:p>
          <a:p>
            <a:r>
              <a:rPr lang="en-US" sz="2000" dirty="0"/>
              <a:t>The validity of this argument depends heavily on the credibility, expertise, and relevance of the authority in question.</a:t>
            </a:r>
          </a:p>
          <a:p>
            <a:r>
              <a:rPr lang="en-US" sz="2000" dirty="0"/>
              <a:t>The fallacy occurs when:</a:t>
            </a:r>
          </a:p>
          <a:p>
            <a:pPr lvl="1"/>
            <a:r>
              <a:rPr lang="en-US" sz="1800" dirty="0"/>
              <a:t>the argument relies solely on the authority's status or reputation, rather than on the evidence or reasoning behind their claim</a:t>
            </a:r>
          </a:p>
          <a:p>
            <a:pPr lvl="1"/>
            <a:r>
              <a:rPr lang="en-US" sz="1800" dirty="0"/>
              <a:t>when the authority is not actually an expert in the specific subject matter of the argument.</a:t>
            </a:r>
          </a:p>
        </p:txBody>
      </p:sp>
    </p:spTree>
    <p:extLst>
      <p:ext uri="{BB962C8B-B14F-4D97-AF65-F5344CB8AC3E}">
        <p14:creationId xmlns:p14="http://schemas.microsoft.com/office/powerpoint/2010/main" val="3756009789"/>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err="1"/>
              <a:t>Argument</a:t>
            </a:r>
            <a:r>
              <a:rPr lang="it-IT" dirty="0"/>
              <a:t> from authority/2</a:t>
            </a:r>
            <a:endParaRPr lang="en-US" dirty="0"/>
          </a:p>
        </p:txBody>
      </p:sp>
      <p:sp>
        <p:nvSpPr>
          <p:cNvPr id="3" name="Content Placeholder 2"/>
          <p:cNvSpPr>
            <a:spLocks noGrp="1"/>
          </p:cNvSpPr>
          <p:nvPr>
            <p:ph sz="quarter" idx="13"/>
          </p:nvPr>
        </p:nvSpPr>
        <p:spPr/>
        <p:txBody>
          <a:bodyPr>
            <a:normAutofit fontScale="77500" lnSpcReduction="20000"/>
          </a:bodyPr>
          <a:lstStyle/>
          <a:p>
            <a:r>
              <a:rPr lang="en-US" dirty="0"/>
              <a:t>Many advertising campaigns are built on this fallacy.</a:t>
            </a:r>
          </a:p>
          <a:p>
            <a:r>
              <a:rPr lang="en-US" dirty="0"/>
              <a:t>Popular sports figures, musicians, or actors endorse products of which they have no special expertise, and, in this context, this fact is offered as a mistaken reason we should use those products.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1548625"/>
            <a:ext cx="3096344" cy="2319269"/>
          </a:xfrm>
          <a:prstGeom prst="rect">
            <a:avLst/>
          </a:prstGeom>
        </p:spPr>
      </p:pic>
    </p:spTree>
    <p:extLst>
      <p:ext uri="{BB962C8B-B14F-4D97-AF65-F5344CB8AC3E}">
        <p14:creationId xmlns:p14="http://schemas.microsoft.com/office/powerpoint/2010/main" val="3923559723"/>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err="1"/>
              <a:t>Argument</a:t>
            </a:r>
            <a:r>
              <a:rPr lang="it-IT" dirty="0"/>
              <a:t> «to the </a:t>
            </a:r>
            <a:r>
              <a:rPr lang="it-IT" dirty="0" err="1"/>
              <a:t>person</a:t>
            </a:r>
            <a:r>
              <a:rPr lang="it-IT" dirty="0"/>
              <a:t>»</a:t>
            </a:r>
            <a:endParaRPr lang="en-US" dirty="0"/>
          </a:p>
        </p:txBody>
      </p:sp>
      <p:sp>
        <p:nvSpPr>
          <p:cNvPr id="3" name="Content Placeholder 2"/>
          <p:cNvSpPr>
            <a:spLocks noGrp="1"/>
          </p:cNvSpPr>
          <p:nvPr>
            <p:ph sz="quarter" idx="13"/>
          </p:nvPr>
        </p:nvSpPr>
        <p:spPr/>
        <p:txBody>
          <a:bodyPr>
            <a:normAutofit fontScale="92500" lnSpcReduction="20000"/>
          </a:bodyPr>
          <a:lstStyle/>
          <a:p>
            <a:r>
              <a:rPr lang="en-US" dirty="0"/>
              <a:t>The fallacy of attacking the character or circumstances of an individual who is advancing a statement or an argument instead of trying to disprove the truth of the statement or the soundness of the argument</a:t>
            </a:r>
          </a:p>
          <a:p>
            <a:r>
              <a:rPr lang="en-US" dirty="0"/>
              <a:t>The assumption is that what the </a:t>
            </a:r>
            <a:r>
              <a:rPr lang="en-US" dirty="0" err="1"/>
              <a:t>locutor</a:t>
            </a:r>
            <a:r>
              <a:rPr lang="en-US" dirty="0"/>
              <a:t> is saying is entirely or partially dictated by his character or special circumstances and so should be disregarded</a:t>
            </a:r>
          </a:p>
          <a:p>
            <a:r>
              <a:rPr lang="en-US" dirty="0"/>
              <a:t>… even if you win, it is a bitter win</a:t>
            </a:r>
          </a:p>
        </p:txBody>
      </p:sp>
    </p:spTree>
    <p:extLst>
      <p:ext uri="{BB962C8B-B14F-4D97-AF65-F5344CB8AC3E}">
        <p14:creationId xmlns:p14="http://schemas.microsoft.com/office/powerpoint/2010/main" val="3741971221"/>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dirty="0" err="1"/>
              <a:t>Argument</a:t>
            </a:r>
            <a:r>
              <a:rPr lang="it-IT" dirty="0"/>
              <a:t> «to the </a:t>
            </a:r>
            <a:r>
              <a:rPr lang="it-IT" dirty="0" err="1"/>
              <a:t>person</a:t>
            </a:r>
            <a:r>
              <a:rPr lang="it-IT" dirty="0"/>
              <a:t>»/</a:t>
            </a:r>
            <a:r>
              <a:rPr lang="it-IT" dirty="0" err="1"/>
              <a:t>example</a:t>
            </a:r>
            <a:endParaRPr lang="en-US" dirty="0"/>
          </a:p>
        </p:txBody>
      </p:sp>
      <p:sp>
        <p:nvSpPr>
          <p:cNvPr id="3" name="Content Placeholder 2"/>
          <p:cNvSpPr>
            <a:spLocks noGrp="1"/>
          </p:cNvSpPr>
          <p:nvPr>
            <p:ph sz="quarter" idx="13"/>
          </p:nvPr>
        </p:nvSpPr>
        <p:spPr>
          <a:xfrm>
            <a:off x="609600" y="1352550"/>
            <a:ext cx="5186536" cy="3276600"/>
          </a:xfrm>
        </p:spPr>
        <p:txBody>
          <a:bodyPr>
            <a:normAutofit fontScale="70000" lnSpcReduction="20000"/>
          </a:bodyPr>
          <a:lstStyle/>
          <a:p>
            <a:r>
              <a:rPr lang="en-US" i="1" dirty="0"/>
              <a:t>Context: Alfie Evans case (April, 2018). Alfie has an undiagnosed brain condition and UK wants to </a:t>
            </a:r>
            <a:r>
              <a:rPr lang="en-US" i="1" dirty="0" err="1"/>
              <a:t>to</a:t>
            </a:r>
            <a:r>
              <a:rPr lang="en-US" i="1" dirty="0"/>
              <a:t> stop life-support treatment and thus terminate his life</a:t>
            </a:r>
            <a:endParaRPr lang="it-IT" dirty="0"/>
          </a:p>
          <a:p>
            <a:pPr marL="0" indent="0">
              <a:buNone/>
            </a:pPr>
            <a:r>
              <a:rPr lang="en-US" dirty="0"/>
              <a:t>TWITTER POST (by a man on the street): “Who’s more knowledge [= knowledgeable] when it comes to Alfie Evans’ well-being? Doctors with decades of experience and lawyers, judges who know every letter of the law to the point where they rule over an entire continent </a:t>
            </a:r>
            <a:r>
              <a:rPr lang="en-US" u="sng" dirty="0"/>
              <a:t>or Alfie’s dad who went to prison for stabbing someone</a:t>
            </a:r>
            <a:r>
              <a:rPr lang="en-US" dirty="0"/>
              <a:t>?.”</a:t>
            </a:r>
            <a:endParaRPr lang="it-IT" dirty="0"/>
          </a:p>
          <a:p>
            <a:pPr marL="0" indent="0">
              <a:buNone/>
            </a:pPr>
            <a:endParaRPr lang="en-US" dirty="0"/>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136" y="1419622"/>
            <a:ext cx="3100000" cy="2065000"/>
          </a:xfrm>
          <a:prstGeom prst="rect">
            <a:avLst/>
          </a:prstGeom>
        </p:spPr>
      </p:pic>
    </p:spTree>
    <p:extLst>
      <p:ext uri="{BB962C8B-B14F-4D97-AF65-F5344CB8AC3E}">
        <p14:creationId xmlns:p14="http://schemas.microsoft.com/office/powerpoint/2010/main" val="1555401568"/>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err="1"/>
              <a:t>Argument</a:t>
            </a:r>
            <a:r>
              <a:rPr lang="it-IT" dirty="0"/>
              <a:t> from </a:t>
            </a:r>
            <a:r>
              <a:rPr lang="it-IT" dirty="0" err="1"/>
              <a:t>pity</a:t>
            </a:r>
            <a:endParaRPr lang="en-US" dirty="0"/>
          </a:p>
        </p:txBody>
      </p:sp>
      <p:sp>
        <p:nvSpPr>
          <p:cNvPr id="3" name="Content Placeholder 2"/>
          <p:cNvSpPr>
            <a:spLocks noGrp="1"/>
          </p:cNvSpPr>
          <p:nvPr>
            <p:ph sz="quarter" idx="13"/>
          </p:nvPr>
        </p:nvSpPr>
        <p:spPr/>
        <p:txBody>
          <a:bodyPr>
            <a:normAutofit/>
          </a:bodyPr>
          <a:lstStyle/>
          <a:p>
            <a:r>
              <a:rPr lang="it-IT" dirty="0" err="1"/>
              <a:t>Irrelevant</a:t>
            </a:r>
            <a:r>
              <a:rPr lang="it-IT" dirty="0"/>
              <a:t> appeal to </a:t>
            </a:r>
            <a:r>
              <a:rPr lang="it-IT" dirty="0" err="1"/>
              <a:t>emotions</a:t>
            </a:r>
            <a:r>
              <a:rPr lang="it-IT" dirty="0"/>
              <a:t> to </a:t>
            </a:r>
            <a:r>
              <a:rPr lang="it-IT" dirty="0" err="1"/>
              <a:t>get</a:t>
            </a:r>
            <a:r>
              <a:rPr lang="it-IT" dirty="0"/>
              <a:t> a </a:t>
            </a:r>
            <a:r>
              <a:rPr lang="it-IT" dirty="0" err="1"/>
              <a:t>conclusion</a:t>
            </a:r>
            <a:r>
              <a:rPr lang="it-IT" dirty="0"/>
              <a:t> </a:t>
            </a:r>
            <a:r>
              <a:rPr lang="it-IT" dirty="0" err="1"/>
              <a:t>accepted</a:t>
            </a:r>
            <a:endParaRPr lang="en-US" dirty="0"/>
          </a:p>
          <a:p>
            <a:r>
              <a:rPr lang="en-US" dirty="0"/>
              <a:t>Example: </a:t>
            </a:r>
          </a:p>
          <a:p>
            <a:pPr marL="320040" lvl="1" indent="0">
              <a:buNone/>
            </a:pPr>
            <a:r>
              <a:rPr lang="en-US" dirty="0"/>
              <a:t>You should do as your mother says: you know how sorry she would be otherwise!</a:t>
            </a:r>
          </a:p>
        </p:txBody>
      </p:sp>
    </p:spTree>
    <p:extLst>
      <p:ext uri="{BB962C8B-B14F-4D97-AF65-F5344CB8AC3E}">
        <p14:creationId xmlns:p14="http://schemas.microsoft.com/office/powerpoint/2010/main" val="3794639620"/>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The </a:t>
            </a:r>
            <a:r>
              <a:rPr lang="it-IT" dirty="0" err="1"/>
              <a:t>complex</a:t>
            </a:r>
            <a:r>
              <a:rPr lang="it-IT" dirty="0"/>
              <a:t> </a:t>
            </a:r>
            <a:r>
              <a:rPr lang="it-IT" dirty="0" err="1"/>
              <a:t>question</a:t>
            </a:r>
            <a:endParaRPr lang="en-US" dirty="0"/>
          </a:p>
        </p:txBody>
      </p:sp>
      <p:sp>
        <p:nvSpPr>
          <p:cNvPr id="3" name="Content Placeholder 2"/>
          <p:cNvSpPr>
            <a:spLocks noGrp="1"/>
          </p:cNvSpPr>
          <p:nvPr>
            <p:ph sz="quarter" idx="13"/>
          </p:nvPr>
        </p:nvSpPr>
        <p:spPr/>
        <p:txBody>
          <a:bodyPr>
            <a:normAutofit/>
          </a:bodyPr>
          <a:lstStyle/>
          <a:p>
            <a:r>
              <a:rPr lang="en-US" dirty="0"/>
              <a:t>The fallacy of phrasing a question that, by the way it is worded, assumes something not contextually granted, assumes something not true, or assumes a false dichotomy.</a:t>
            </a:r>
          </a:p>
          <a:p>
            <a:r>
              <a:rPr lang="en-US" b="1" dirty="0"/>
              <a:t>EXAMPLE</a:t>
            </a:r>
            <a:r>
              <a:rPr lang="en-US" dirty="0"/>
              <a:t>: “How many school shootings should we tolerate before we change the gun laws?”</a:t>
            </a:r>
          </a:p>
          <a:p>
            <a:pPr marL="0" indent="0">
              <a:buNone/>
            </a:pPr>
            <a:endParaRPr lang="en-US" dirty="0"/>
          </a:p>
          <a:p>
            <a:endParaRPr lang="en-US" dirty="0"/>
          </a:p>
        </p:txBody>
      </p:sp>
    </p:spTree>
    <p:extLst>
      <p:ext uri="{BB962C8B-B14F-4D97-AF65-F5344CB8AC3E}">
        <p14:creationId xmlns:p14="http://schemas.microsoft.com/office/powerpoint/2010/main" val="164928140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The false cause</a:t>
            </a:r>
            <a:endParaRPr lang="en-US" dirty="0"/>
          </a:p>
        </p:txBody>
      </p:sp>
      <p:sp>
        <p:nvSpPr>
          <p:cNvPr id="3" name="Content Placeholder 2"/>
          <p:cNvSpPr>
            <a:spLocks noGrp="1"/>
          </p:cNvSpPr>
          <p:nvPr>
            <p:ph sz="quarter" idx="13"/>
          </p:nvPr>
        </p:nvSpPr>
        <p:spPr/>
        <p:txBody>
          <a:bodyPr>
            <a:normAutofit fontScale="85000" lnSpcReduction="20000"/>
          </a:bodyPr>
          <a:lstStyle/>
          <a:p>
            <a:r>
              <a:rPr lang="en-US" dirty="0"/>
              <a:t>The fallacy committed when an argument mistakenly attempts to establish a causal connection.</a:t>
            </a:r>
          </a:p>
          <a:p>
            <a:r>
              <a:rPr lang="en-US" b="1" dirty="0"/>
              <a:t>Post hoc ergo propter hoc</a:t>
            </a:r>
            <a:r>
              <a:rPr lang="en-US" dirty="0"/>
              <a:t> (after this – so because of this)</a:t>
            </a:r>
          </a:p>
          <a:p>
            <a:r>
              <a:rPr lang="en-US" dirty="0"/>
              <a:t>The fallacy of arguing that one event was caused by another merely because it occurred after that event.</a:t>
            </a:r>
          </a:p>
          <a:p>
            <a:pPr lvl="1"/>
            <a:r>
              <a:rPr lang="it-IT" b="1" dirty="0"/>
              <a:t>«</a:t>
            </a:r>
            <a:r>
              <a:rPr lang="en-US" dirty="0"/>
              <a:t>We never had a problem with this elevator until you moved into the building”</a:t>
            </a:r>
          </a:p>
          <a:p>
            <a:pPr lvl="1"/>
            <a:r>
              <a:rPr lang="it-IT" dirty="0"/>
              <a:t>«</a:t>
            </a:r>
            <a:r>
              <a:rPr lang="it-IT" dirty="0" err="1"/>
              <a:t>You</a:t>
            </a:r>
            <a:r>
              <a:rPr lang="it-IT" dirty="0"/>
              <a:t> </a:t>
            </a:r>
            <a:r>
              <a:rPr lang="it-IT" dirty="0" err="1"/>
              <a:t>were</a:t>
            </a:r>
            <a:r>
              <a:rPr lang="it-IT" dirty="0"/>
              <a:t> </a:t>
            </a:r>
            <a:r>
              <a:rPr lang="it-IT" dirty="0" err="1"/>
              <a:t>such</a:t>
            </a:r>
            <a:r>
              <a:rPr lang="it-IT" dirty="0"/>
              <a:t> a </a:t>
            </a:r>
            <a:r>
              <a:rPr lang="it-IT" dirty="0" err="1"/>
              <a:t>good</a:t>
            </a:r>
            <a:r>
              <a:rPr lang="it-IT" dirty="0"/>
              <a:t> boy </a:t>
            </a:r>
            <a:r>
              <a:rPr lang="it-IT" dirty="0" err="1"/>
              <a:t>before</a:t>
            </a:r>
            <a:r>
              <a:rPr lang="it-IT" dirty="0"/>
              <a:t> </a:t>
            </a:r>
            <a:r>
              <a:rPr lang="it-IT" dirty="0" err="1"/>
              <a:t>you</a:t>
            </a:r>
            <a:r>
              <a:rPr lang="it-IT" dirty="0"/>
              <a:t> made </a:t>
            </a:r>
            <a:r>
              <a:rPr lang="it-IT" dirty="0" err="1"/>
              <a:t>friendship</a:t>
            </a:r>
            <a:r>
              <a:rPr lang="it-IT" dirty="0"/>
              <a:t> with Louis»</a:t>
            </a:r>
            <a:endParaRPr lang="en-US" dirty="0"/>
          </a:p>
          <a:p>
            <a:endParaRPr lang="en-US" dirty="0"/>
          </a:p>
        </p:txBody>
      </p:sp>
    </p:spTree>
    <p:extLst>
      <p:ext uri="{BB962C8B-B14F-4D97-AF65-F5344CB8AC3E}">
        <p14:creationId xmlns:p14="http://schemas.microsoft.com/office/powerpoint/2010/main" val="3258866744"/>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Straw man</a:t>
            </a:r>
            <a:endParaRPr lang="it-IT" dirty="0"/>
          </a:p>
        </p:txBody>
      </p:sp>
      <p:sp>
        <p:nvSpPr>
          <p:cNvPr id="5" name="Content Placeholder 4"/>
          <p:cNvSpPr>
            <a:spLocks noGrp="1"/>
          </p:cNvSpPr>
          <p:nvPr>
            <p:ph sz="quarter" idx="13"/>
          </p:nvPr>
        </p:nvSpPr>
        <p:spPr/>
        <p:txBody>
          <a:bodyPr>
            <a:normAutofit fontScale="92500" lnSpcReduction="20000"/>
          </a:bodyPr>
          <a:lstStyle/>
          <a:p>
            <a:r>
              <a:rPr lang="en-US" dirty="0"/>
              <a:t>Modify the interlocutor’s thesis turning it from A to B and then into answering to B instead of to A. This happens if A is too hard a bite and if the B is similar enough to A to deceive</a:t>
            </a:r>
          </a:p>
          <a:p>
            <a:r>
              <a:rPr lang="en-US" dirty="0"/>
              <a:t>“I’m actually in favor of renewable sources. I think they can contribute to a nation’s energy demand”</a:t>
            </a:r>
            <a:endParaRPr lang="it-IT" dirty="0"/>
          </a:p>
          <a:p>
            <a:r>
              <a:rPr lang="en-US" dirty="0"/>
              <a:t>“Oh, but if we were to use renewable sources </a:t>
            </a:r>
            <a:r>
              <a:rPr lang="en-US" u="sng" dirty="0"/>
              <a:t>only</a:t>
            </a:r>
            <a:r>
              <a:rPr lang="en-US" dirty="0"/>
              <a:t>, we could not do all the things that we do now, they are not constant and moreover they don’t generate enough energy!”</a:t>
            </a:r>
            <a:endParaRPr lang="it-IT" dirty="0"/>
          </a:p>
          <a:p>
            <a:endParaRPr lang="it-IT" dirty="0"/>
          </a:p>
        </p:txBody>
      </p:sp>
    </p:spTree>
    <p:extLst>
      <p:ext uri="{BB962C8B-B14F-4D97-AF65-F5344CB8AC3E}">
        <p14:creationId xmlns:p14="http://schemas.microsoft.com/office/powerpoint/2010/main" val="856678111"/>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END</a:t>
            </a:r>
            <a:endParaRPr lang="en-US" dirty="0"/>
          </a:p>
        </p:txBody>
      </p:sp>
      <p:sp>
        <p:nvSpPr>
          <p:cNvPr id="3" name="Content Placeholder 2"/>
          <p:cNvSpPr>
            <a:spLocks noGrp="1"/>
          </p:cNvSpPr>
          <p:nvPr>
            <p:ph sz="quarter" idx="13"/>
          </p:nvPr>
        </p:nvSpPr>
        <p:spPr/>
        <p:txBody>
          <a:bodyPr>
            <a:normAutofit fontScale="85000" lnSpcReduction="20000"/>
          </a:bodyPr>
          <a:lstStyle/>
          <a:p>
            <a:r>
              <a:rPr lang="it-IT" dirty="0"/>
              <a:t>CREDITS:</a:t>
            </a:r>
          </a:p>
          <a:p>
            <a:pPr lvl="1"/>
            <a:r>
              <a:rPr lang="it-IT" sz="2000" dirty="0">
                <a:hlinkClick r:id="rId3"/>
              </a:rPr>
              <a:t>http://philosophy.lander.edu/logic</a:t>
            </a:r>
            <a:endParaRPr lang="it-IT" sz="2000" dirty="0"/>
          </a:p>
          <a:p>
            <a:pPr lvl="1"/>
            <a:r>
              <a:rPr lang="it-IT" sz="2000" dirty="0">
                <a:hlinkClick r:id="rId4"/>
              </a:rPr>
              <a:t>http://www.logicallyfallacious.com/</a:t>
            </a:r>
            <a:endParaRPr lang="it-IT" sz="2000" dirty="0"/>
          </a:p>
          <a:p>
            <a:pPr lvl="1"/>
            <a:r>
              <a:rPr lang="it-IT" sz="2000" dirty="0">
                <a:hlinkClick r:id="rId5"/>
              </a:rPr>
              <a:t>http://intelligenceofpersuasion.blogspot.it/2015/04/philosophical-rhetoric-beginners-guide.html</a:t>
            </a:r>
            <a:endParaRPr lang="it-IT" sz="2000" dirty="0"/>
          </a:p>
          <a:p>
            <a:pPr lvl="1"/>
            <a:r>
              <a:rPr lang="it-IT" sz="2100" dirty="0"/>
              <a:t>van </a:t>
            </a:r>
            <a:r>
              <a:rPr lang="it-IT" sz="2100" dirty="0" err="1"/>
              <a:t>Eemeren</a:t>
            </a:r>
            <a:r>
              <a:rPr lang="it-IT" sz="2100" dirty="0"/>
              <a:t>, F.H., </a:t>
            </a:r>
            <a:r>
              <a:rPr lang="it-IT" sz="2100" dirty="0" err="1"/>
              <a:t>Grootendorst</a:t>
            </a:r>
            <a:r>
              <a:rPr lang="it-IT" sz="2100" dirty="0"/>
              <a:t>, R., </a:t>
            </a:r>
            <a:r>
              <a:rPr lang="it-IT" sz="2100" dirty="0" err="1"/>
              <a:t>Snoeck</a:t>
            </a:r>
            <a:r>
              <a:rPr lang="it-IT" sz="2100" dirty="0"/>
              <a:t> </a:t>
            </a:r>
            <a:r>
              <a:rPr lang="it-IT" sz="2100" dirty="0" err="1"/>
              <a:t>Henkemans</a:t>
            </a:r>
            <a:r>
              <a:rPr lang="it-IT" sz="2100" dirty="0"/>
              <a:t>, A.F. (2002). </a:t>
            </a:r>
            <a:r>
              <a:rPr lang="it-IT" sz="2100" dirty="0" err="1"/>
              <a:t>Argumentation</a:t>
            </a:r>
            <a:r>
              <a:rPr lang="it-IT" sz="2100" dirty="0"/>
              <a:t>: Analysis, Evaluation, Presentation. </a:t>
            </a:r>
            <a:r>
              <a:rPr lang="en-US" sz="2100" dirty="0"/>
              <a:t>Mahwah, NJ: Lawrence Erlbaum Associates</a:t>
            </a:r>
          </a:p>
          <a:p>
            <a:pPr lvl="1"/>
            <a:r>
              <a:rPr lang="fr-FR" sz="2100" dirty="0" err="1"/>
              <a:t>Perelman</a:t>
            </a:r>
            <a:r>
              <a:rPr lang="fr-FR" sz="2100" dirty="0"/>
              <a:t>, C., &amp; </a:t>
            </a:r>
            <a:r>
              <a:rPr lang="fr-FR" sz="2100" dirty="0" err="1"/>
              <a:t>Olbrechts-Tyteca</a:t>
            </a:r>
            <a:r>
              <a:rPr lang="fr-FR" sz="2100" dirty="0"/>
              <a:t>, L. (1952). Rhétorique et philosophie pour une théorie de l'argumentation en philosophie.</a:t>
            </a:r>
          </a:p>
          <a:p>
            <a:pPr lvl="1"/>
            <a:r>
              <a:rPr lang="it-IT" sz="2100" dirty="0"/>
              <a:t>Cantoni, L., Di Blas, N., </a:t>
            </a:r>
            <a:r>
              <a:rPr lang="it-IT" sz="2100" dirty="0" err="1"/>
              <a:t>Rubinelli</a:t>
            </a:r>
            <a:r>
              <a:rPr lang="it-IT" sz="2100" dirty="0"/>
              <a:t>, S., </a:t>
            </a:r>
            <a:r>
              <a:rPr lang="it-IT" sz="2100" dirty="0" err="1"/>
              <a:t>Tardini</a:t>
            </a:r>
            <a:r>
              <a:rPr lang="it-IT" sz="2100" dirty="0"/>
              <a:t>, S. (2008). Pensare e comunicare, Apogeo, Milano</a:t>
            </a:r>
            <a:endParaRPr lang="fr-FR" sz="2100" dirty="0"/>
          </a:p>
          <a:p>
            <a:pPr lvl="1"/>
            <a:endParaRPr lang="it-IT" sz="2000" dirty="0"/>
          </a:p>
          <a:p>
            <a:endParaRPr lang="en-US" dirty="0"/>
          </a:p>
        </p:txBody>
      </p:sp>
    </p:spTree>
    <p:extLst>
      <p:ext uri="{BB962C8B-B14F-4D97-AF65-F5344CB8AC3E}">
        <p14:creationId xmlns:p14="http://schemas.microsoft.com/office/powerpoint/2010/main" val="4208279465"/>
      </p:ext>
    </p:extLst>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Impostazioni personalizzate 7">
      <a:dk1>
        <a:srgbClr val="321428"/>
      </a:dk1>
      <a:lt1>
        <a:sysClr val="window" lastClr="FFFFFF"/>
      </a:lt1>
      <a:dk2>
        <a:srgbClr val="321428"/>
      </a:dk2>
      <a:lt2>
        <a:srgbClr val="DEF5FA"/>
      </a:lt2>
      <a:accent1>
        <a:srgbClr val="C51788"/>
      </a:accent1>
      <a:accent2>
        <a:srgbClr val="939598"/>
      </a:accent2>
      <a:accent3>
        <a:srgbClr val="53009F"/>
      </a:accent3>
      <a:accent4>
        <a:srgbClr val="A351D5"/>
      </a:accent4>
      <a:accent5>
        <a:srgbClr val="8413F5"/>
      </a:accent5>
      <a:accent6>
        <a:srgbClr val="4A2542"/>
      </a:accent6>
      <a:hlink>
        <a:srgbClr val="C51788"/>
      </a:hlink>
      <a:folHlink>
        <a:srgbClr val="939598"/>
      </a:folHlink>
    </a:clrScheme>
    <a:fontScheme name="Vial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0533bd5-f776-44c5-9f61-19548ec744a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14DE34EB326D1044914FE4DE54A3CC94" ma:contentTypeVersion="18" ma:contentTypeDescription="Creare un nuovo documento." ma:contentTypeScope="" ma:versionID="a59e656e9adcc5afa544b03b96583f50">
  <xsd:schema xmlns:xsd="http://www.w3.org/2001/XMLSchema" xmlns:xs="http://www.w3.org/2001/XMLSchema" xmlns:p="http://schemas.microsoft.com/office/2006/metadata/properties" xmlns:ns3="9391745a-4adf-4b35-a980-eadf7ee3a66e" xmlns:ns4="60533bd5-f776-44c5-9f61-19548ec744a4" targetNamespace="http://schemas.microsoft.com/office/2006/metadata/properties" ma:root="true" ma:fieldsID="bb3c1ef8321041d0b12798360570c291" ns3:_="" ns4:_="">
    <xsd:import namespace="9391745a-4adf-4b35-a980-eadf7ee3a66e"/>
    <xsd:import namespace="60533bd5-f776-44c5-9f61-19548ec744a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91745a-4adf-4b35-a980-eadf7ee3a66e" elementFormDefault="qualified">
    <xsd:import namespace="http://schemas.microsoft.com/office/2006/documentManagement/types"/>
    <xsd:import namespace="http://schemas.microsoft.com/office/infopath/2007/PartnerControls"/>
    <xsd:element name="SharedWithUsers" ma:index="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internalName="SharedWithDetails" ma:readOnly="true">
      <xsd:simpleType>
        <xsd:restriction base="dms:Note">
          <xsd:maxLength value="255"/>
        </xsd:restriction>
      </xsd:simpleType>
    </xsd:element>
    <xsd:element name="SharingHintHash" ma:index="10" nillable="true" ma:displayName="Hash suggerimento condivisione"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533bd5-f776-44c5-9f61-19548ec744a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01E735-1A30-4B2D-B72D-1972E3BC6DBA}">
  <ds:schemaRefs>
    <ds:schemaRef ds:uri="http://schemas.microsoft.com/sharepoint/v3/contenttype/forms"/>
  </ds:schemaRefs>
</ds:datastoreItem>
</file>

<file path=customXml/itemProps2.xml><?xml version="1.0" encoding="utf-8"?>
<ds:datastoreItem xmlns:ds="http://schemas.openxmlformats.org/officeDocument/2006/customXml" ds:itemID="{594ACF35-B85D-4012-B601-F7A741F7172E}">
  <ds:schemaRefs>
    <ds:schemaRef ds:uri="http://schemas.microsoft.com/office/infopath/2007/PartnerControls"/>
    <ds:schemaRef ds:uri="http://purl.org/dc/elements/1.1/"/>
    <ds:schemaRef ds:uri="9391745a-4adf-4b35-a980-eadf7ee3a66e"/>
    <ds:schemaRef ds:uri="http://schemas.openxmlformats.org/package/2006/metadata/core-properties"/>
    <ds:schemaRef ds:uri="http://www.w3.org/XML/1998/namespace"/>
    <ds:schemaRef ds:uri="http://schemas.microsoft.com/office/2006/documentManagement/types"/>
    <ds:schemaRef ds:uri="60533bd5-f776-44c5-9f61-19548ec744a4"/>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0EA07E2D-AAE1-4991-8731-E4C74A06BA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91745a-4adf-4b35-a980-eadf7ee3a66e"/>
    <ds:schemaRef ds:uri="60533bd5-f776-44c5-9f61-19548ec744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WidescreenPresentation</Template>
  <TotalTime>0</TotalTime>
  <Words>2646</Words>
  <Application>Microsoft Office PowerPoint</Application>
  <PresentationFormat>On-screen Show (16:9)</PresentationFormat>
  <Paragraphs>192</Paragraphs>
  <Slides>30</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 Black</vt:lpstr>
      <vt:lpstr>Calibri</vt:lpstr>
      <vt:lpstr>Lucida Sans Unicode</vt:lpstr>
      <vt:lpstr>Wingdings</vt:lpstr>
      <vt:lpstr>Wingdings 2</vt:lpstr>
      <vt:lpstr>WidescreenPresentation</vt:lpstr>
      <vt:lpstr>COMMUNICATION SKILLS COURSE - ARGUMENTATION</vt:lpstr>
      <vt:lpstr>Definition</vt:lpstr>
      <vt:lpstr>Two main ways</vt:lpstr>
      <vt:lpstr>Demonstrate</vt:lpstr>
      <vt:lpstr>Convince</vt:lpstr>
      <vt:lpstr>Enthymeme/1</vt:lpstr>
      <vt:lpstr>Enthymeme/2</vt:lpstr>
      <vt:lpstr>Topoi</vt:lpstr>
      <vt:lpstr>Contradiction </vt:lpstr>
      <vt:lpstr>Analogy </vt:lpstr>
      <vt:lpstr>Reductio ad absurdum/1.1</vt:lpstr>
      <vt:lpstr>Reductio ad absurdum/1.2</vt:lpstr>
      <vt:lpstr>Irreparable direction</vt:lpstr>
      <vt:lpstr>Quasi-logic arguments</vt:lpstr>
      <vt:lpstr>Quasi-logic arguments</vt:lpstr>
      <vt:lpstr>Quasi-logic arguments/1</vt:lpstr>
      <vt:lpstr>Quasi-logic arguments/2</vt:lpstr>
      <vt:lpstr>Quasi-logic arguments/3 </vt:lpstr>
      <vt:lpstr>Sophisms or Fallacies</vt:lpstr>
      <vt:lpstr>Argument from ignorance</vt:lpstr>
      <vt:lpstr>Argument from ignorance/example</vt:lpstr>
      <vt:lpstr>Argument from authority/1</vt:lpstr>
      <vt:lpstr>Argument from authority/2</vt:lpstr>
      <vt:lpstr>Argument «to the person»</vt:lpstr>
      <vt:lpstr>Argument «to the person»/example</vt:lpstr>
      <vt:lpstr>Argument from pity</vt:lpstr>
      <vt:lpstr>The complex question</vt:lpstr>
      <vt:lpstr>The false cause</vt:lpstr>
      <vt:lpstr>Straw man</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2010-02-08T10:14:15Z</dcterms:created>
  <dcterms:modified xsi:type="dcterms:W3CDTF">2024-03-18T14:28:47Z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1040</vt:i4>
  </property>
  <property fmtid="{D5CDD505-2E9C-101B-9397-08002B2CF9AE}" pid="3" name="_Version">
    <vt:lpwstr>12.0.4518</vt:lpwstr>
  </property>
  <property fmtid="{D5CDD505-2E9C-101B-9397-08002B2CF9AE}" pid="4" name="ContentTypeId">
    <vt:lpwstr>0x01010014DE34EB326D1044914FE4DE54A3CC94</vt:lpwstr>
  </property>
</Properties>
</file>