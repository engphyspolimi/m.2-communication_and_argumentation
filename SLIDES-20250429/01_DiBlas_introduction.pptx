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85" r:id="rId3"/>
    <p:sldId id="309" r:id="rId4"/>
    <p:sldId id="304" r:id="rId5"/>
    <p:sldId id="313" r:id="rId6"/>
    <p:sldId id="286" r:id="rId7"/>
    <p:sldId id="302" r:id="rId8"/>
    <p:sldId id="311" r:id="rId9"/>
    <p:sldId id="290" r:id="rId10"/>
    <p:sldId id="289" r:id="rId11"/>
    <p:sldId id="292" r:id="rId12"/>
    <p:sldId id="303" r:id="rId13"/>
    <p:sldId id="299" r:id="rId14"/>
    <p:sldId id="314" r:id="rId15"/>
    <p:sldId id="291" r:id="rId16"/>
    <p:sldId id="295" r:id="rId17"/>
  </p:sldIdLst>
  <p:sldSz cx="9144000" cy="5143500" type="screen16x9"/>
  <p:notesSz cx="7099300" cy="10234613"/>
  <p:defaultTextStyle>
    <a:lvl1pPr marL="0" algn="l" rtl="0" latinLnBrk="0">
      <a:defRPr lang="it-IT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it-IT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it-IT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it-IT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it-IT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it-IT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it-IT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it-IT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it-IT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1129"/>
    <a:srgbClr val="3214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721D5A-6258-4EC3-A6A5-237449FA5E62}" v="24" dt="2025-02-17T15:17:57.1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30" autoAdjust="0"/>
    <p:restoredTop sz="87621" autoAdjust="0"/>
  </p:normalViewPr>
  <p:slideViewPr>
    <p:cSldViewPr>
      <p:cViewPr varScale="1">
        <p:scale>
          <a:sx n="77" d="100"/>
          <a:sy n="77" d="100"/>
        </p:scale>
        <p:origin x="884" y="6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74029A-FB94-46E3-BCCC-180111E56553}" type="datetimeFigureOut">
              <a:rPr lang="it-IT" smtClean="0"/>
              <a:t>17/02/2025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EA46C5-7A39-40A2-8F88-F1D4EB9A3219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431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 latinLnBrk="0">
              <a:defRPr lang="it-IT" sz="1300"/>
            </a:lvl1pPr>
          </a:lstStyle>
          <a:p>
            <a:endParaRPr lang="it-IT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 latinLnBrk="0">
              <a:defRPr lang="it-IT" sz="1300"/>
            </a:lvl1pPr>
          </a:lstStyle>
          <a:p>
            <a:fld id="{A8ADFD5B-A66C-449C-B6E8-FB716D07777D}" type="datetimeFigureOut">
              <a:rPr lang="en-US"/>
              <a:pPr/>
              <a:t>2/17/2025</a:t>
            </a:fld>
            <a:endParaRPr lang="it-IT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8350"/>
            <a:ext cx="681990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it-IT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 latinLnBrk="0">
              <a:defRPr lang="it-IT" sz="1300"/>
            </a:lvl1pPr>
          </a:lstStyle>
          <a:p>
            <a:endParaRPr lang="it-I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6"/>
            <a:ext cx="3076363" cy="511731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 latinLnBrk="0">
              <a:defRPr lang="it-IT" sz="1300"/>
            </a:lvl1pPr>
          </a:lstStyle>
          <a:p>
            <a:fld id="{CA5D3BF3-D352-46FC-8343-31F56E6730EA}" type="slidenum">
              <a:rPr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072575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it-IT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it-IT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it-IT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it-IT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it-IT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it-IT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it-IT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it-IT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it-IT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Rectangl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it-IT" smtClean="0"/>
              <a:pPr/>
              <a:t>1</a:t>
            </a:fld>
            <a:endParaRPr 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5D3BF3-D352-46FC-8343-31F56E6730EA}" type="slidenum">
              <a:rPr lang="it-IT" smtClean="0"/>
              <a:pPr/>
              <a:t>3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46953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D3BF3-D352-46FC-8343-31F56E6730EA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311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titolo">
    <p:bg>
      <p:bgPr>
        <a:solidFill>
          <a:srgbClr val="32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/>
          <p:cNvSpPr/>
          <p:nvPr userDrawn="1"/>
        </p:nvSpPr>
        <p:spPr>
          <a:xfrm>
            <a:off x="0" y="0"/>
            <a:ext cx="9144000" cy="112395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n>
                <a:noFill/>
              </a:ln>
              <a:solidFill>
                <a:srgbClr val="321428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4478274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10" name="Rectangle 9"/>
          <p:cNvSpPr/>
          <p:nvPr/>
        </p:nvSpPr>
        <p:spPr>
          <a:xfrm>
            <a:off x="-9144" y="4539996"/>
            <a:ext cx="2249424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11" name="Rectangle 10"/>
          <p:cNvSpPr/>
          <p:nvPr/>
        </p:nvSpPr>
        <p:spPr>
          <a:xfrm>
            <a:off x="2359152" y="4533138"/>
            <a:ext cx="6784848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4537528"/>
            <a:ext cx="6515100" cy="514350"/>
          </a:xfrm>
        </p:spPr>
        <p:txBody>
          <a:bodyPr anchor="ctr">
            <a:normAutofit/>
          </a:bodyPr>
          <a:lstStyle>
            <a:lvl1pPr marL="0" indent="0" algn="l" eaLnBrk="1" latinLnBrk="0" hangingPunct="1">
              <a:buNone/>
              <a:defRPr kumimoji="0" lang="it-IT" sz="2000">
                <a:solidFill>
                  <a:srgbClr val="FFFFFF"/>
                </a:solidFill>
              </a:defRPr>
            </a:lvl1pPr>
            <a:lvl2pPr marL="457200" indent="0" algn="ctr" eaLnBrk="1" latinLnBrk="0" hangingPunct="1">
              <a:buNone/>
            </a:lvl2pPr>
            <a:lvl3pPr marL="914400" indent="0" algn="ctr" eaLnBrk="1" latinLnBrk="0" hangingPunct="1">
              <a:buNone/>
            </a:lvl3pPr>
            <a:lvl4pPr marL="1371600" indent="0" algn="ctr" eaLnBrk="1" latinLnBrk="0" hangingPunct="1">
              <a:buNone/>
            </a:lvl4pPr>
            <a:lvl5pPr marL="1828800" indent="0" algn="ctr" eaLnBrk="1" latinLnBrk="0" hangingPunct="1">
              <a:buNone/>
            </a:lvl5pPr>
            <a:lvl6pPr marL="2286000" indent="0" algn="ctr" eaLnBrk="1" latinLnBrk="0" hangingPunct="1">
              <a:buNone/>
            </a:lvl6pPr>
            <a:lvl7pPr marL="2743200" indent="0" algn="ctr" eaLnBrk="1" latinLnBrk="0" hangingPunct="1">
              <a:buNone/>
            </a:lvl7pPr>
            <a:lvl8pPr marL="3200400" indent="0" algn="ctr" eaLnBrk="1" latinLnBrk="0" hangingPunct="1">
              <a:buNone/>
            </a:lvl8pPr>
            <a:lvl9pPr marL="3657600" indent="0" algn="ctr" eaLnBrk="1" latinLnBrk="0" hangingPunct="1">
              <a:buNone/>
            </a:lvl9pPr>
          </a:lstStyle>
          <a:p>
            <a:pPr eaLnBrk="1" latinLnBrk="0" hangingPunct="1"/>
            <a:r>
              <a:rPr lang="en-US" dirty="0"/>
              <a:t>Click to edit Master subtitle style</a:t>
            </a:r>
            <a:endParaRPr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4551524"/>
            <a:ext cx="2057400" cy="514350"/>
          </a:xfrm>
        </p:spPr>
        <p:txBody>
          <a:bodyPr>
            <a:noAutofit/>
          </a:bodyPr>
          <a:lstStyle>
            <a:lvl1pPr algn="ctr" eaLnBrk="1" latinLnBrk="0" hangingPunct="1">
              <a:defRPr kumimoji="0" lang="it-IT" sz="1800">
                <a:solidFill>
                  <a:srgbClr val="FFFFFF"/>
                </a:solidFill>
              </a:defRPr>
            </a:lvl1pPr>
          </a:lstStyle>
          <a:p>
            <a:fld id="{047E157E-8DCB-4F70-A0AF-5EB586A91DD4}" type="datetime1">
              <a:rPr lang="it-IT" smtClean="0"/>
              <a:pPr/>
              <a:t>17/02/2025</a:t>
            </a:fld>
            <a:endParaRPr lang="it-IT" dirty="0"/>
          </a:p>
        </p:txBody>
      </p:sp>
      <p:sp>
        <p:nvSpPr>
          <p:cNvPr id="12" name="Rectangle 11"/>
          <p:cNvSpPr>
            <a:spLocks noGrp="1"/>
          </p:cNvSpPr>
          <p:nvPr>
            <p:ph type="title"/>
          </p:nvPr>
        </p:nvSpPr>
        <p:spPr>
          <a:xfrm>
            <a:off x="2362200" y="2343150"/>
            <a:ext cx="6477000" cy="2038350"/>
          </a:xfrm>
        </p:spPr>
        <p:txBody>
          <a:bodyPr rtlCol="0" anchor="b">
            <a:normAutofit/>
          </a:bodyPr>
          <a:lstStyle>
            <a:lvl1pPr eaLnBrk="1" latinLnBrk="0" hangingPunct="1">
              <a:defRPr kumimoji="0" lang="it-IT" sz="3600" cap="all" baseline="0"/>
            </a:lvl1pPr>
          </a:lstStyle>
          <a:p>
            <a:pPr eaLnBrk="1" latinLnBrk="0" hangingPunct="1"/>
            <a:r>
              <a:rPr lang="en-US" dirty="0"/>
              <a:t>Click to edit Master title style</a:t>
            </a:r>
            <a:endParaRPr dirty="0"/>
          </a:p>
        </p:txBody>
      </p:sp>
      <p:pic>
        <p:nvPicPr>
          <p:cNvPr id="14" name="Immagine 13" descr="LogoHOCposi.jp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28600" y="180000"/>
            <a:ext cx="1905000" cy="799704"/>
          </a:xfrm>
          <a:prstGeom prst="rect">
            <a:avLst/>
          </a:prstGeom>
        </p:spPr>
      </p:pic>
      <p:sp>
        <p:nvSpPr>
          <p:cNvPr id="16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438399" y="209550"/>
            <a:ext cx="5514393" cy="298848"/>
          </a:xfrm>
        </p:spPr>
        <p:txBody>
          <a:bodyPr/>
          <a:lstStyle>
            <a:lvl1pPr algn="r" eaLnBrk="1" latinLnBrk="0" hangingPunct="1">
              <a:defRPr kumimoji="0" lang="it-IT">
                <a:solidFill>
                  <a:schemeClr val="bg2"/>
                </a:solidFill>
              </a:defRPr>
            </a:lvl1pPr>
          </a:lstStyle>
          <a:p>
            <a:r>
              <a:rPr lang="it-IT" dirty="0"/>
              <a:t>Pie di pagina</a:t>
            </a:r>
          </a:p>
        </p:txBody>
      </p:sp>
      <p:sp>
        <p:nvSpPr>
          <p:cNvPr id="18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09550"/>
            <a:ext cx="838200" cy="285750"/>
          </a:xfrm>
        </p:spPr>
        <p:txBody>
          <a:bodyPr/>
          <a:lstStyle>
            <a:lvl1pPr eaLnBrk="1" latinLnBrk="0" hangingPunct="1">
              <a:defRPr kumimoji="0" lang="it-IT">
                <a:solidFill>
                  <a:srgbClr val="321428"/>
                </a:solidFill>
              </a:defRPr>
            </a:lvl1pPr>
          </a:lstStyle>
          <a:p>
            <a:fld id="{8F82E0A0-C266-4798-8C8F-B9F91E9DA37E}" type="slidenum">
              <a:rPr lang="it-IT" smtClean="0"/>
              <a:pPr/>
              <a:t>‹#›</a:t>
            </a:fld>
            <a:endParaRPr lang="it-IT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Rectangl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6EA6-EFEA-4C30-9264-4F9291A5780D}" type="datetime1">
              <a:rPr lang="en-US"/>
              <a:pPr/>
              <a:t>2/17/2025</a:t>
            </a:fld>
            <a:endParaRPr kumimoji="0" lang="it-IT" dirty="0"/>
          </a:p>
        </p:txBody>
      </p:sp>
      <p:sp>
        <p:nvSpPr>
          <p:cNvPr id="4" name="Rectangl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it-IT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8F82E0A0-C266-4798-8C8F-B9F91E9DA37E}" type="slidenum">
              <a:rPr kumimoji="0" lang="it-IT" sz="1400" b="1">
                <a:solidFill>
                  <a:srgbClr val="FFFFFF"/>
                </a:solidFill>
              </a:rPr>
              <a:pPr algn="ctr"/>
              <a:t>‹#›</a:t>
            </a:fld>
            <a:endParaRPr kumimoji="0" lang="it-IT" dirty="0"/>
          </a:p>
        </p:txBody>
      </p:sp>
      <p:sp>
        <p:nvSpPr>
          <p:cNvPr id="7" name="Rectangle 6"/>
          <p:cNvSpPr>
            <a:spLocks noGrp="1"/>
          </p:cNvSpPr>
          <p:nvPr>
            <p:ph sz="quarter" idx="13"/>
          </p:nvPr>
        </p:nvSpPr>
        <p:spPr>
          <a:xfrm>
            <a:off x="609600" y="1352550"/>
            <a:ext cx="8153400" cy="3276600"/>
          </a:xfrm>
        </p:spPr>
        <p:txBody>
          <a:bodyPr/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dirty="0"/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057400"/>
            <a:ext cx="7123113" cy="1254919"/>
          </a:xfrm>
        </p:spPr>
        <p:txBody>
          <a:bodyPr anchor="t"/>
          <a:lstStyle>
            <a:lvl1pPr eaLnBrk="1" latinLnBrk="0" hangingPunct="1">
              <a:buNone/>
              <a:defRPr kumimoji="0" lang="it-IT" sz="2800">
                <a:solidFill>
                  <a:schemeClr val="tx2"/>
                </a:solidFill>
              </a:defRPr>
            </a:lvl1pPr>
            <a:lvl2pPr eaLnBrk="1" latinLnBrk="0" hangingPunct="1">
              <a:buNone/>
              <a:defRPr kumimoji="0" lang="it-IT" sz="1800">
                <a:solidFill>
                  <a:schemeClr val="tx1">
                    <a:tint val="75000"/>
                  </a:schemeClr>
                </a:solidFill>
              </a:defRPr>
            </a:lvl2pPr>
            <a:lvl3pPr eaLnBrk="1" latinLnBrk="0" hangingPunct="1">
              <a:buNone/>
              <a:defRPr kumimoji="0" lang="it-IT" sz="1600">
                <a:solidFill>
                  <a:schemeClr val="tx1">
                    <a:tint val="75000"/>
                  </a:schemeClr>
                </a:solidFill>
              </a:defRPr>
            </a:lvl3pPr>
            <a:lvl4pPr eaLnBrk="1" latinLnBrk="0" hangingPunct="1">
              <a:buNone/>
              <a:defRPr kumimoji="0" lang="it-IT" sz="1400">
                <a:solidFill>
                  <a:schemeClr val="tx1">
                    <a:tint val="75000"/>
                  </a:schemeClr>
                </a:solidFill>
              </a:defRPr>
            </a:lvl4pPr>
            <a:lvl5pPr eaLnBrk="1" latinLnBrk="0" hangingPunct="1">
              <a:buNone/>
              <a:defRPr kumimoji="0" lang="it-IT"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143000"/>
            <a:ext cx="9144000" cy="85725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8" name="Rectangle 7"/>
          <p:cNvSpPr/>
          <p:nvPr/>
        </p:nvSpPr>
        <p:spPr>
          <a:xfrm>
            <a:off x="0" y="1200150"/>
            <a:ext cx="1295400" cy="7429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9" name="Rectangle 8"/>
          <p:cNvSpPr/>
          <p:nvPr/>
        </p:nvSpPr>
        <p:spPr>
          <a:xfrm>
            <a:off x="1371600" y="1200150"/>
            <a:ext cx="7772400" cy="7429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371600" y="1200150"/>
            <a:ext cx="7620000" cy="742950"/>
          </a:xfrm>
        </p:spPr>
        <p:txBody>
          <a:bodyPr/>
          <a:lstStyle>
            <a:lvl1pPr algn="l" eaLnBrk="1" latinLnBrk="0" hangingPunct="1">
              <a:buNone/>
              <a:defRPr kumimoji="0" lang="it-IT"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it-IT" dirty="0"/>
              <a:t>Fare clic per modificare lo stile del titolo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CF9F07-3BC7-4570-B054-79111B0A380C}" type="datetime1">
              <a:rPr lang="en-US"/>
              <a:pPr/>
              <a:t>2/17/2025</a:t>
            </a:fld>
            <a:endParaRPr kumimoji="0" lang="it-IT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314450"/>
            <a:ext cx="1295400" cy="526257"/>
          </a:xfrm>
        </p:spPr>
        <p:txBody>
          <a:bodyPr>
            <a:noAutofit/>
          </a:bodyPr>
          <a:lstStyle>
            <a:lvl1pPr eaLnBrk="1" latinLnBrk="0" hangingPunct="1">
              <a:defRPr kumimoji="0" lang="it-IT" sz="2400">
                <a:solidFill>
                  <a:srgbClr val="FFFFFF"/>
                </a:solidFill>
              </a:defRPr>
            </a:lvl1pPr>
          </a:lstStyle>
          <a:p>
            <a:pPr algn="ctr"/>
            <a:fld id="{8F82E0A0-C266-4798-8C8F-B9F91E9DA37E}" type="slidenum">
              <a:rPr kumimoji="0" lang="it-IT" sz="2400" b="1">
                <a:solidFill>
                  <a:srgbClr val="FFFFFF"/>
                </a:solidFill>
              </a:rPr>
              <a:pPr algn="ctr"/>
              <a:t>‹#›</a:t>
            </a:fld>
            <a:endParaRPr kumimoji="0" lang="it-IT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kumimoji="0" lang="it-IT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en-US"/>
              <a:t>Click to edit Master title style</a:t>
            </a:r>
            <a:endParaRPr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609600" y="1352551"/>
            <a:ext cx="3886200" cy="3268624"/>
          </a:xfrm>
        </p:spPr>
        <p:txBody>
          <a:bodyPr/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844901" y="1352549"/>
            <a:ext cx="3886200" cy="3268625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rPr lang="en-US"/>
              <a:pPr/>
              <a:t>2/17/2025</a:t>
            </a:fld>
            <a:endParaRPr kumimoji="0" lang="it-IT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kumimoji="0" lang="it-IT" sz="1400" b="1">
                <a:solidFill>
                  <a:srgbClr val="FFFFFF"/>
                </a:solidFill>
              </a:rPr>
              <a:pPr algn="ctr"/>
              <a:t>‹#›</a:t>
            </a:fld>
            <a:endParaRPr kumimoji="0" lang="it-IT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it-IT" dirty="0"/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118110"/>
            <a:ext cx="8153400" cy="1005840"/>
          </a:xfrm>
        </p:spPr>
        <p:txBody>
          <a:bodyPr anchor="b"/>
          <a:lstStyle>
            <a:lvl1pPr eaLnBrk="1" latinLnBrk="0" hangingPunct="1">
              <a:defRPr kumimoji="0" lang="it-IT"/>
            </a:lvl1pPr>
          </a:lstStyle>
          <a:p>
            <a:pPr eaLnBrk="1" latinLnBrk="0" hangingPunct="1"/>
            <a:r>
              <a:rPr lang="en-US"/>
              <a:t>Click to edit Master title style</a:t>
            </a:r>
            <a:endParaRPr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609600" y="1919818"/>
            <a:ext cx="3886200" cy="2628900"/>
          </a:xfrm>
        </p:spPr>
        <p:txBody>
          <a:bodyPr/>
          <a:lstStyle/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800600" y="1919818"/>
            <a:ext cx="3886200" cy="26289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E4606EA6-EFEA-4C30-9264-4F9291A5780D}" type="datetime1">
              <a:rPr lang="en-US"/>
              <a:pPr/>
              <a:t>2/17/2025</a:t>
            </a:fld>
            <a:endParaRPr kumimoji="0" lang="it-IT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8F82E0A0-C266-4798-8C8F-B9F91E9DA37E}" type="slidenum">
              <a:rPr kumimoji="0" lang="it-IT" sz="1400" b="1">
                <a:solidFill>
                  <a:srgbClr val="FFFFFF"/>
                </a:solidFill>
              </a:rPr>
              <a:pPr algn="ctr"/>
              <a:t>‹#›</a:t>
            </a:fld>
            <a:endParaRPr kumimoji="0" lang="it-IT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kumimoji="0" lang="it-IT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8"/>
          </p:nvPr>
        </p:nvSpPr>
        <p:spPr>
          <a:xfrm>
            <a:off x="609600" y="1362287"/>
            <a:ext cx="3886200" cy="530352"/>
          </a:xfrm>
          <a:solidFill>
            <a:schemeClr val="accent2"/>
          </a:solidFill>
        </p:spPr>
        <p:txBody>
          <a:bodyPr rtlCol="0" anchor="ctr">
            <a:normAutofit/>
          </a:bodyPr>
          <a:lstStyle>
            <a:lvl1pPr eaLnBrk="1" latinLnBrk="0" hangingPunct="1">
              <a:buFontTx/>
              <a:buNone/>
              <a:defRPr kumimoji="0" lang="it-IT" sz="18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4800600" y="1362287"/>
            <a:ext cx="3886200" cy="530352"/>
          </a:xfrm>
          <a:solidFill>
            <a:schemeClr val="accent2"/>
          </a:solidFill>
        </p:spPr>
        <p:txBody>
          <a:bodyPr rtlCol="0" anchor="ctr">
            <a:normAutofit/>
          </a:bodyPr>
          <a:lstStyle>
            <a:lvl1pPr eaLnBrk="1" latinLnBrk="0" hangingPunct="1">
              <a:buFontTx/>
              <a:buNone/>
              <a:defRPr kumimoji="0" lang="it-IT" sz="18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latinLnBrk="0" hangingPunct="1"/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ADB5D-B7A0-47E3-AD2D-B1A6F8614213}" type="datetime1">
              <a:rPr lang="en-US"/>
              <a:pPr/>
              <a:t>2/17/2025</a:t>
            </a:fld>
            <a:endParaRPr kumimoji="0" lang="it-IT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it-IT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it-IT">
                <a:solidFill>
                  <a:srgbClr val="FFFFFF"/>
                </a:solidFill>
              </a:defRPr>
            </a:lvl1pPr>
          </a:lstStyle>
          <a:p>
            <a:fld id="{A3F7CB7D-F184-43C7-B6FD-03D728E1BBFF}" type="slidenum">
              <a:rPr kumimoji="0" lang="it-IT">
                <a:solidFill>
                  <a:srgbClr val="FFFFFF"/>
                </a:solidFill>
              </a:rPr>
              <a:pPr/>
              <a:t>‹#›</a:t>
            </a:fld>
            <a:endParaRPr kumimoji="0" lang="it-IT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968126-03FC-49C0-B9B8-2B561CCC3D90}" type="datetime1">
              <a:rPr lang="en-US"/>
              <a:pPr/>
              <a:t>2/17/2025</a:t>
            </a:fld>
            <a:endParaRPr kumimoji="0" lang="it-IT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4686300"/>
            <a:ext cx="533400" cy="285750"/>
          </a:xfrm>
        </p:spPr>
        <p:txBody>
          <a:bodyPr/>
          <a:lstStyle>
            <a:lvl1pPr eaLnBrk="1" latinLnBrk="0" hangingPunct="1">
              <a:defRPr kumimoji="0" lang="it-IT">
                <a:solidFill>
                  <a:schemeClr val="tx2"/>
                </a:solidFill>
              </a:defRPr>
            </a:lvl1pPr>
          </a:lstStyle>
          <a:p>
            <a:fld id="{A3F7CB7D-F184-43C7-B6FD-03D728E1BBFF}" type="slidenum">
              <a:rPr kumimoji="0" lang="it-IT">
                <a:solidFill>
                  <a:schemeClr val="tx2"/>
                </a:solidFill>
              </a:rPr>
              <a:pPr/>
              <a:t>‹#›</a:t>
            </a:fld>
            <a:endParaRPr kumimoji="0" lang="it-IT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</p:spPr>
        <p:txBody>
          <a:bodyPr anchor="b"/>
          <a:lstStyle>
            <a:lvl1pPr algn="l" eaLnBrk="1" latinLnBrk="0" hangingPunct="1">
              <a:buNone/>
              <a:defRPr kumimoji="0" lang="it-IT" sz="4200" b="0"/>
            </a:lvl1pPr>
          </a:lstStyle>
          <a:p>
            <a:pPr eaLnBrk="1" latinLnBrk="0" hangingPunct="1"/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8198-4617-485E-9585-4840B69DBBA6}" type="datetime1">
              <a:rPr lang="en-US"/>
              <a:pPr/>
              <a:t>2/17/2025</a:t>
            </a:fld>
            <a:endParaRPr kumimoji="0" lang="it-IT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it-IT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1" latinLnBrk="0" hangingPunct="1">
              <a:defRPr kumimoji="0" lang="it-IT">
                <a:solidFill>
                  <a:srgbClr val="FFFFFF"/>
                </a:solidFill>
              </a:defRPr>
            </a:lvl1pPr>
          </a:lstStyle>
          <a:p>
            <a:fld id="{A3F7CB7D-F184-43C7-B6FD-03D728E1BBFF}" type="slidenum">
              <a:rPr kumimoji="0" lang="it-IT">
                <a:solidFill>
                  <a:srgbClr val="FFFFFF"/>
                </a:solidFill>
              </a:rPr>
              <a:pPr/>
              <a:t>‹#›</a:t>
            </a:fld>
            <a:endParaRPr kumimoji="0" lang="it-IT" dirty="0">
              <a:solidFill>
                <a:srgbClr val="FFFFFF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28750"/>
            <a:ext cx="1600200" cy="31242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 eaLnBrk="1" latinLnBrk="0" hangingPunct="1">
              <a:spcAft>
                <a:spcPts val="1000"/>
              </a:spcAft>
              <a:buNone/>
              <a:defRPr kumimoji="0" lang="it-IT" sz="1800"/>
            </a:lvl1pPr>
            <a:lvl2pPr eaLnBrk="1" latinLnBrk="0" hangingPunct="1">
              <a:buNone/>
              <a:defRPr kumimoji="0" lang="it-IT" sz="1200"/>
            </a:lvl2pPr>
            <a:lvl3pPr eaLnBrk="1" latinLnBrk="0" hangingPunct="1">
              <a:buNone/>
              <a:defRPr kumimoji="0" lang="it-IT" sz="1000"/>
            </a:lvl3pPr>
            <a:lvl4pPr eaLnBrk="1" latinLnBrk="0" hangingPunct="1">
              <a:buNone/>
              <a:defRPr kumimoji="0" lang="it-IT" sz="900"/>
            </a:lvl4pPr>
            <a:lvl5pPr eaLnBrk="1" latinLnBrk="0" hangingPunct="1">
              <a:buNone/>
              <a:defRPr kumimoji="0" lang="it-IT" sz="9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2362200" y="1428750"/>
            <a:ext cx="6400800" cy="32004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57668" y="0"/>
            <a:ext cx="7586332" cy="3419856"/>
          </a:xfrm>
          <a:solidFill>
            <a:schemeClr val="accent2"/>
          </a:solidFill>
          <a:ln>
            <a:noFill/>
          </a:ln>
        </p:spPr>
        <p:txBody>
          <a:bodyPr/>
          <a:lstStyle>
            <a:lvl1pPr eaLnBrk="1" latinLnBrk="0" hangingPunct="1">
              <a:buNone/>
              <a:defRPr kumimoji="0" lang="it-IT" sz="3200"/>
            </a:lvl1pPr>
          </a:lstStyle>
          <a:p>
            <a:r>
              <a:rPr kumimoji="0" lang="en-US" dirty="0"/>
              <a:t>Click icon to add picture</a:t>
            </a:r>
            <a:endParaRPr kumimoji="0" lang="it-IT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4114800"/>
            <a:ext cx="7315200" cy="514350"/>
          </a:xfrm>
        </p:spPr>
        <p:txBody>
          <a:bodyPr/>
          <a:lstStyle>
            <a:lvl1pPr marL="0" indent="0" eaLnBrk="1" latinLnBrk="0" hangingPunct="1">
              <a:buFontTx/>
              <a:buNone/>
              <a:defRPr kumimoji="0" lang="it-IT" sz="1700"/>
            </a:lvl1pPr>
            <a:lvl2pPr eaLnBrk="1" latinLnBrk="0" hangingPunct="1">
              <a:buFontTx/>
              <a:buNone/>
              <a:defRPr kumimoji="0" lang="it-IT" sz="1200"/>
            </a:lvl2pPr>
            <a:lvl3pPr eaLnBrk="1" latinLnBrk="0" hangingPunct="1">
              <a:buFontTx/>
              <a:buNone/>
              <a:defRPr kumimoji="0" lang="it-IT" sz="1000"/>
            </a:lvl3pPr>
            <a:lvl4pPr eaLnBrk="1" latinLnBrk="0" hangingPunct="1">
              <a:buFontTx/>
              <a:buNone/>
              <a:defRPr kumimoji="0" lang="it-IT" sz="900"/>
            </a:lvl4pPr>
            <a:lvl5pPr eaLnBrk="1" latinLnBrk="0" hangingPunct="1">
              <a:buFontTx/>
              <a:buNone/>
              <a:defRPr kumimoji="0" lang="it-IT" sz="9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-9144" y="3429000"/>
            <a:ext cx="9144000" cy="665226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9" name="Rectangle 8"/>
          <p:cNvSpPr/>
          <p:nvPr/>
        </p:nvSpPr>
        <p:spPr>
          <a:xfrm>
            <a:off x="-9144" y="3497580"/>
            <a:ext cx="1463040" cy="534924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10" name="Rectangle 9"/>
          <p:cNvSpPr/>
          <p:nvPr/>
        </p:nvSpPr>
        <p:spPr>
          <a:xfrm>
            <a:off x="1545336" y="3490722"/>
            <a:ext cx="7589520" cy="534924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3543300"/>
            <a:ext cx="7315200" cy="457200"/>
          </a:xfrm>
        </p:spPr>
        <p:txBody>
          <a:bodyPr anchor="ctr"/>
          <a:lstStyle>
            <a:lvl1pPr algn="l" eaLnBrk="1" latinLnBrk="0" hangingPunct="1">
              <a:buNone/>
              <a:defRPr kumimoji="0" lang="it-IT" sz="2800" b="0">
                <a:solidFill>
                  <a:srgbClr val="FFFFFF"/>
                </a:solidFill>
              </a:defRPr>
            </a:lvl1pPr>
          </a:lstStyle>
          <a:p>
            <a:pPr eaLnBrk="1" latinLnBrk="0" hangingPunct="1"/>
            <a:r>
              <a:rPr lang="en-US"/>
              <a:t>Click to edit Master title style</a:t>
            </a: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447800" y="0"/>
            <a:ext cx="100584" cy="515035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4686300"/>
            <a:ext cx="2667000" cy="273844"/>
          </a:xfrm>
        </p:spPr>
        <p:txBody>
          <a:bodyPr rtlCol="0"/>
          <a:lstStyle/>
          <a:p>
            <a:fld id="{E4606EA6-EFEA-4C30-9264-4F9291A5780D}" type="datetime1">
              <a:rPr lang="en-US"/>
              <a:pPr/>
              <a:t>2/17/2025</a:t>
            </a:fld>
            <a:endParaRPr kumimoji="0" lang="it-IT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3500437"/>
            <a:ext cx="1447800" cy="497684"/>
          </a:xfrm>
        </p:spPr>
        <p:txBody>
          <a:bodyPr rtlCol="0"/>
          <a:lstStyle>
            <a:lvl1pPr eaLnBrk="1" latinLnBrk="0" hangingPunct="1">
              <a:defRPr kumimoji="0" lang="it-IT" sz="2800"/>
            </a:lvl1pPr>
          </a:lstStyle>
          <a:p>
            <a:pPr algn="ctr"/>
            <a:fld id="{8F82E0A0-C266-4798-8C8F-B9F91E9DA37E}" type="slidenum">
              <a:rPr kumimoji="0" lang="it-IT" sz="2800" b="1">
                <a:solidFill>
                  <a:srgbClr val="FFFFFF"/>
                </a:solidFill>
              </a:rPr>
              <a:pPr algn="ctr"/>
              <a:t>‹#›</a:t>
            </a:fld>
            <a:endParaRPr kumimoji="0" lang="it-IT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4686155"/>
            <a:ext cx="4572000" cy="273844"/>
          </a:xfrm>
        </p:spPr>
        <p:txBody>
          <a:bodyPr rtlCol="0"/>
          <a:lstStyle/>
          <a:p>
            <a:endParaRPr kumimoji="0" lang="it-IT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352550"/>
            <a:ext cx="8153400" cy="324231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4686300"/>
            <a:ext cx="2667000" cy="273844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lang="it-IT" sz="1400">
                <a:solidFill>
                  <a:schemeClr val="tx2"/>
                </a:solidFill>
              </a:defRPr>
            </a:lvl1pPr>
          </a:lstStyle>
          <a:p>
            <a:fld id="{E4606EA6-EFEA-4C30-9264-4F9291A5780D}" type="datetime1">
              <a:rPr lang="en-US"/>
              <a:pPr/>
              <a:t>2/17/2025</a:t>
            </a:fld>
            <a:endParaRPr kumimoji="0" lang="it-IT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1" y="4686155"/>
            <a:ext cx="5421083" cy="273844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lang="it-IT" sz="1400">
                <a:solidFill>
                  <a:schemeClr val="tx2"/>
                </a:solidFill>
              </a:defRPr>
            </a:lvl1pPr>
          </a:lstStyle>
          <a:p>
            <a:pPr algn="r"/>
            <a:endParaRPr kumimoji="0" lang="it-IT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1095170"/>
            <a:ext cx="9144000" cy="24003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8" name="Rectangle 7"/>
          <p:cNvSpPr/>
          <p:nvPr/>
        </p:nvSpPr>
        <p:spPr>
          <a:xfrm>
            <a:off x="0" y="1129460"/>
            <a:ext cx="533400" cy="17145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9" name="Rectangle 8"/>
          <p:cNvSpPr/>
          <p:nvPr/>
        </p:nvSpPr>
        <p:spPr>
          <a:xfrm>
            <a:off x="590550" y="1129460"/>
            <a:ext cx="8553450" cy="17145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kumimoji="0" lang="it-IT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123507"/>
            <a:ext cx="533400" cy="183357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lang="it-IT" sz="1400" b="1">
                <a:solidFill>
                  <a:srgbClr val="FFFFFF"/>
                </a:solidFill>
              </a:defRPr>
            </a:lvl1pPr>
          </a:lstStyle>
          <a:p>
            <a:pPr algn="ctr"/>
            <a:fld id="{8F82E0A0-C266-4798-8C8F-B9F91E9DA37E}" type="slidenum">
              <a:rPr kumimoji="0" lang="it-IT" sz="1400" b="1">
                <a:solidFill>
                  <a:srgbClr val="FFFFFF"/>
                </a:solidFill>
              </a:rPr>
              <a:pPr algn="ctr"/>
              <a:t>‹#›</a:t>
            </a:fld>
            <a:endParaRPr kumimoji="0" lang="it-IT" sz="1400" b="1" dirty="0">
              <a:solidFill>
                <a:srgbClr val="FFFFFF"/>
              </a:solidFill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118110"/>
            <a:ext cx="8153400" cy="100584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 eaLnBrk="1" latinLnBrk="0" hangingPunct="1"/>
            <a:r>
              <a:rPr kumimoji="0" lang="en-US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>
    <p:fade/>
  </p:transition>
  <p:txStyles>
    <p:titleStyle>
      <a:lvl1pPr algn="l" rtl="0" eaLnBrk="1" latinLnBrk="0" hangingPunct="1">
        <a:spcBef>
          <a:spcPct val="0"/>
        </a:spcBef>
        <a:buNone/>
        <a:defRPr kumimoji="0" lang="it-IT" sz="36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lang="it-IT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lang="it-IT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lang="it-IT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lang="it-IT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lang="it-IT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None/>
        <a:defRPr kumimoji="0" lang="it-IT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lang="it-IT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lang="it-IT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lang="it-IT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lang="it-IT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lang="it-IT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lang="it-IT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lang="it-IT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lang="it-IT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lang="it-IT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lang="it-IT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lang="it-IT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lang="it-IT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COMMUNICATION </a:t>
            </a:r>
            <a:r>
              <a:rPr lang="en-US"/>
              <a:t>&amp; ARGUMENTATION</a:t>
            </a:r>
            <a:endParaRPr lang="en-US" dirty="0"/>
          </a:p>
        </p:txBody>
      </p:sp>
      <p:sp>
        <p:nvSpPr>
          <p:cNvPr id="5" name="Rectangle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it-IT" dirty="0"/>
              <a:t>Nicoletta Di Blas - </a:t>
            </a:r>
            <a:r>
              <a:rPr lang="it-IT" dirty="0" err="1"/>
              <a:t>Introduction</a:t>
            </a:r>
            <a:endParaRPr lang="it-IT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People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it-IT" dirty="0"/>
              <a:t>Teacher: Nicoletta Di Blas (HOC-LAB)</a:t>
            </a:r>
          </a:p>
          <a:p>
            <a:r>
              <a:rPr lang="it-IT" dirty="0"/>
              <a:t>Assistant: Giacomo Cassano</a:t>
            </a:r>
          </a:p>
          <a:p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46017163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107504" y="96838"/>
            <a:ext cx="2881510" cy="635458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 Black" panose="020B0A04020102020204" pitchFamily="34" charset="0"/>
              </a:rPr>
              <a:t>Plato’s cave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3030" y="96838"/>
            <a:ext cx="5759450" cy="5003800"/>
          </a:xfrm>
        </p:spPr>
      </p:pic>
    </p:spTree>
    <p:extLst>
      <p:ext uri="{BB962C8B-B14F-4D97-AF65-F5344CB8AC3E}">
        <p14:creationId xmlns:p14="http://schemas.microsoft.com/office/powerpoint/2010/main" val="2425060402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Course goal(s)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Equip students with basic &amp; advanced communication skills, on:</a:t>
            </a:r>
          </a:p>
          <a:p>
            <a:pPr lvl="1"/>
            <a:r>
              <a:rPr lang="en-US" dirty="0"/>
              <a:t>How to be clear</a:t>
            </a:r>
          </a:p>
          <a:p>
            <a:pPr lvl="1"/>
            <a:r>
              <a:rPr lang="en-US" dirty="0"/>
              <a:t>How to be persuasive</a:t>
            </a:r>
          </a:p>
          <a:p>
            <a:r>
              <a:rPr lang="en-US" dirty="0"/>
              <a:t>… with a focus on the relevance of the audience/addressee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254614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to communicate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Theory</a:t>
            </a:r>
          </a:p>
          <a:p>
            <a:r>
              <a:rPr lang="en-US" dirty="0"/>
              <a:t>Imitation</a:t>
            </a:r>
          </a:p>
          <a:p>
            <a:pPr lvl="1"/>
            <a:r>
              <a:rPr lang="en-US" dirty="0"/>
              <a:t>Find gurus/examples…</a:t>
            </a:r>
          </a:p>
          <a:p>
            <a:r>
              <a:rPr lang="en-US" dirty="0"/>
              <a:t>Practice</a:t>
            </a:r>
          </a:p>
          <a:p>
            <a:pPr lvl="1"/>
            <a:r>
              <a:rPr lang="en-US"/>
              <a:t>Gradual challenges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it-IT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2520" y="1491630"/>
            <a:ext cx="4320481" cy="32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9196841"/>
      </p:ext>
    </p:ext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course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/>
              <a:t>about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Linguistics (basic elements)</a:t>
            </a:r>
          </a:p>
          <a:p>
            <a:r>
              <a:rPr lang="en-US" dirty="0"/>
              <a:t>Rhetoric</a:t>
            </a:r>
          </a:p>
          <a:p>
            <a:r>
              <a:rPr lang="en-US" dirty="0"/>
              <a:t>Presentation skills</a:t>
            </a:r>
          </a:p>
          <a:p>
            <a:r>
              <a:rPr lang="en-US" dirty="0"/>
              <a:t>Argumentation</a:t>
            </a:r>
          </a:p>
          <a:p>
            <a:pPr lvl="1"/>
            <a:r>
              <a:rPr lang="en-US" dirty="0"/>
              <a:t>… and manipulation</a:t>
            </a:r>
          </a:p>
          <a:p>
            <a:r>
              <a:rPr lang="en-US" dirty="0"/>
              <a:t>Grant-writing</a:t>
            </a:r>
          </a:p>
          <a:p>
            <a:pPr marL="0" indent="0">
              <a:buNone/>
            </a:pPr>
            <a:endParaRPr lang="en-US" b="1" dirty="0"/>
          </a:p>
          <a:p>
            <a:pPr lvl="1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56474587"/>
      </p:ext>
    </p:ext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Methodology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CLASSES: on campus, synchronous</a:t>
            </a:r>
          </a:p>
          <a:p>
            <a:r>
              <a:rPr lang="en-US" dirty="0"/>
              <a:t>LABS: on campus, synchronous</a:t>
            </a:r>
          </a:p>
          <a:p>
            <a:r>
              <a:rPr lang="en-US" dirty="0"/>
              <a:t>MOOC on communication</a:t>
            </a:r>
          </a:p>
          <a:p>
            <a:pPr lvl="1"/>
            <a:r>
              <a:rPr lang="en-US" dirty="0"/>
              <a:t>Massive Online Open Course (</a:t>
            </a:r>
            <a:r>
              <a:rPr lang="en-US" dirty="0" err="1"/>
              <a:t>POK</a:t>
            </a:r>
            <a:r>
              <a:rPr lang="en-US" dirty="0"/>
              <a:t>- COURSERA)</a:t>
            </a:r>
          </a:p>
          <a:p>
            <a:r>
              <a:rPr lang="en-US" dirty="0"/>
              <a:t>TUTORING on the final project</a:t>
            </a:r>
          </a:p>
          <a:p>
            <a:pPr marL="0" indent="0">
              <a:buNone/>
            </a:pPr>
            <a:r>
              <a:rPr lang="en-US" dirty="0"/>
              <a:t>All the above mixed: </a:t>
            </a:r>
            <a:r>
              <a:rPr lang="en-US" u="sng" dirty="0"/>
              <a:t>see calendar in </a:t>
            </a:r>
            <a:r>
              <a:rPr lang="en-US" u="sng" dirty="0" err="1"/>
              <a:t>WEBEEP</a:t>
            </a:r>
            <a:endParaRPr lang="en-US" u="sng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06833"/>
      </p:ext>
    </p:extLst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21677-A6B4-4633-887C-E3092F5AC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MOOC on communication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BF7913-6CB0-401D-A4EF-B43E8A1A64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419622"/>
            <a:ext cx="6372200" cy="288928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3E94F8B-D986-4385-B05A-2200191FD64E}"/>
              </a:ext>
            </a:extLst>
          </p:cNvPr>
          <p:cNvSpPr txBox="1"/>
          <p:nvPr/>
        </p:nvSpPr>
        <p:spPr>
          <a:xfrm>
            <a:off x="584772" y="4370733"/>
            <a:ext cx="637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Organized into weeks; includes quizzes</a:t>
            </a:r>
          </a:p>
          <a:p>
            <a:r>
              <a:rPr lang="en-US" dirty="0"/>
              <a:t>~3 hours of videos</a:t>
            </a:r>
          </a:p>
        </p:txBody>
      </p:sp>
    </p:spTree>
    <p:extLst>
      <p:ext uri="{BB962C8B-B14F-4D97-AF65-F5344CB8AC3E}">
        <p14:creationId xmlns:p14="http://schemas.microsoft.com/office/powerpoint/2010/main" val="3153813717"/>
      </p:ext>
    </p:ext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Materials</a:t>
            </a:r>
            <a:r>
              <a:rPr lang="it-IT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Slides</a:t>
            </a:r>
          </a:p>
          <a:p>
            <a:r>
              <a:rPr lang="it-IT" dirty="0" err="1"/>
              <a:t>MOOCs</a:t>
            </a:r>
            <a:r>
              <a:rPr lang="it-IT" dirty="0"/>
              <a:t> (</a:t>
            </a:r>
            <a:r>
              <a:rPr lang="it-IT" dirty="0" err="1"/>
              <a:t>videos</a:t>
            </a:r>
            <a:r>
              <a:rPr lang="it-IT" dirty="0"/>
              <a:t>, </a:t>
            </a:r>
            <a:r>
              <a:rPr lang="it-IT" dirty="0" err="1"/>
              <a:t>transcripts</a:t>
            </a:r>
            <a:r>
              <a:rPr lang="it-IT" dirty="0"/>
              <a:t>)</a:t>
            </a:r>
          </a:p>
          <a:p>
            <a:r>
              <a:rPr lang="it-IT" dirty="0"/>
              <a:t>Background </a:t>
            </a:r>
            <a:r>
              <a:rPr lang="it-IT" dirty="0" err="1"/>
              <a:t>readings</a:t>
            </a:r>
            <a:endParaRPr lang="it-IT" dirty="0"/>
          </a:p>
          <a:p>
            <a:pPr lvl="1"/>
            <a:r>
              <a:rPr lang="it-IT" dirty="0"/>
              <a:t>Papers, </a:t>
            </a:r>
            <a:r>
              <a:rPr lang="it-IT" dirty="0" err="1"/>
              <a:t>excerpts</a:t>
            </a:r>
            <a:r>
              <a:rPr lang="it-IT" dirty="0"/>
              <a:t> from books…</a:t>
            </a:r>
          </a:p>
          <a:p>
            <a:r>
              <a:rPr lang="it-IT" dirty="0"/>
              <a:t>Additional resources (optional)</a:t>
            </a:r>
          </a:p>
          <a:p>
            <a:pPr marL="0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 err="1"/>
              <a:t>All</a:t>
            </a:r>
            <a:r>
              <a:rPr lang="it-IT" dirty="0"/>
              <a:t> </a:t>
            </a:r>
            <a:r>
              <a:rPr lang="it-IT" dirty="0" err="1"/>
              <a:t>materials</a:t>
            </a:r>
            <a:r>
              <a:rPr lang="it-IT" dirty="0"/>
              <a:t> in </a:t>
            </a:r>
            <a:r>
              <a:rPr lang="it-IT" dirty="0" err="1"/>
              <a:t>WEBEEP</a:t>
            </a:r>
            <a:endParaRPr lang="it-IT" dirty="0"/>
          </a:p>
          <a:p>
            <a:pPr marL="365760" lvl="1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94906417"/>
      </p:ext>
    </p:extLst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it-IT" dirty="0" err="1"/>
              <a:t>MOOC</a:t>
            </a:r>
            <a:r>
              <a:rPr lang="it-IT" dirty="0"/>
              <a:t>: </a:t>
            </a:r>
            <a:r>
              <a:rPr lang="it-IT" dirty="0" err="1"/>
              <a:t>final</a:t>
            </a:r>
            <a:r>
              <a:rPr lang="it-IT" dirty="0"/>
              <a:t> certificate </a:t>
            </a:r>
            <a:r>
              <a:rPr lang="it-IT" dirty="0" err="1"/>
              <a:t>required</a:t>
            </a:r>
            <a:endParaRPr lang="it-IT" dirty="0"/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TEST: 6 open-</a:t>
            </a:r>
            <a:r>
              <a:rPr lang="it-IT" dirty="0" err="1"/>
              <a:t>ended</a:t>
            </a:r>
            <a:r>
              <a:rPr lang="it-IT" dirty="0"/>
              <a:t> </a:t>
            </a:r>
            <a:r>
              <a:rPr lang="it-IT" dirty="0" err="1"/>
              <a:t>questions</a:t>
            </a:r>
            <a:endParaRPr lang="it-IT" dirty="0"/>
          </a:p>
          <a:p>
            <a:pPr lvl="1"/>
            <a:r>
              <a:rPr lang="it-IT" dirty="0"/>
              <a:t>60% of the </a:t>
            </a:r>
            <a:r>
              <a:rPr lang="it-IT" dirty="0" err="1"/>
              <a:t>final</a:t>
            </a:r>
            <a:r>
              <a:rPr lang="it-IT" dirty="0"/>
              <a:t> score</a:t>
            </a:r>
          </a:p>
          <a:p>
            <a:pPr marL="514350" indent="-514350">
              <a:buFont typeface="+mj-lt"/>
              <a:buAutoNum type="arabicPeriod"/>
            </a:pPr>
            <a:r>
              <a:rPr lang="it-IT" dirty="0"/>
              <a:t>PROJECT: project </a:t>
            </a:r>
            <a:r>
              <a:rPr lang="it-IT" dirty="0" err="1"/>
              <a:t>proposal</a:t>
            </a:r>
            <a:r>
              <a:rPr lang="it-IT" dirty="0"/>
              <a:t> </a:t>
            </a:r>
            <a:r>
              <a:rPr lang="it-IT" dirty="0" err="1"/>
              <a:t>simulation</a:t>
            </a:r>
            <a:endParaRPr lang="it-IT" dirty="0"/>
          </a:p>
          <a:p>
            <a:pPr lvl="1"/>
            <a:r>
              <a:rPr lang="it-IT" dirty="0"/>
              <a:t>40% of the </a:t>
            </a:r>
            <a:r>
              <a:rPr lang="it-IT" dirty="0" err="1"/>
              <a:t>final</a:t>
            </a:r>
            <a:r>
              <a:rPr lang="it-IT" dirty="0"/>
              <a:t> score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39870339"/>
      </p:ext>
    </p:extLst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</a:t>
            </a:r>
            <a:r>
              <a:rPr lang="it-IT" dirty="0"/>
              <a:t> – the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it-IT" dirty="0">
                <a:latin typeface="Arial Black" panose="020B0A04020102020204" pitchFamily="34" charset="0"/>
              </a:rPr>
              <a:t>6 open-</a:t>
            </a:r>
            <a:r>
              <a:rPr lang="it-IT" dirty="0" err="1">
                <a:latin typeface="Arial Black" panose="020B0A04020102020204" pitchFamily="34" charset="0"/>
              </a:rPr>
              <a:t>ended</a:t>
            </a:r>
            <a:r>
              <a:rPr lang="it-IT" dirty="0">
                <a:latin typeface="Arial Black" panose="020B0A04020102020204" pitchFamily="34" charset="0"/>
              </a:rPr>
              <a:t> </a:t>
            </a:r>
            <a:r>
              <a:rPr lang="it-IT" dirty="0" err="1">
                <a:latin typeface="Arial Black" panose="020B0A04020102020204" pitchFamily="34" charset="0"/>
              </a:rPr>
              <a:t>questions</a:t>
            </a:r>
            <a:endParaRPr lang="it-IT" dirty="0">
              <a:latin typeface="Arial Black" panose="020B0A04020102020204" pitchFamily="34" charset="0"/>
            </a:endParaRPr>
          </a:p>
          <a:p>
            <a:pPr lvl="1"/>
            <a:r>
              <a:rPr lang="it-IT" dirty="0" err="1">
                <a:latin typeface="Arial Black" panose="020B0A04020102020204" pitchFamily="34" charset="0"/>
              </a:rPr>
              <a:t>based</a:t>
            </a:r>
            <a:r>
              <a:rPr lang="it-IT" dirty="0">
                <a:latin typeface="Arial Black" panose="020B0A04020102020204" pitchFamily="34" charset="0"/>
              </a:rPr>
              <a:t> on the </a:t>
            </a:r>
            <a:r>
              <a:rPr lang="it-IT" dirty="0" err="1">
                <a:latin typeface="Arial Black" panose="020B0A04020102020204" pitchFamily="34" charset="0"/>
              </a:rPr>
              <a:t>course’s</a:t>
            </a:r>
            <a:r>
              <a:rPr lang="it-IT" dirty="0">
                <a:latin typeface="Arial Black" panose="020B0A04020102020204" pitchFamily="34" charset="0"/>
              </a:rPr>
              <a:t> </a:t>
            </a:r>
            <a:r>
              <a:rPr lang="it-IT" dirty="0" err="1">
                <a:latin typeface="Arial Black" panose="020B0A04020102020204" pitchFamily="34" charset="0"/>
              </a:rPr>
              <a:t>materials</a:t>
            </a:r>
            <a:r>
              <a:rPr lang="it-IT" dirty="0">
                <a:latin typeface="Arial Black" panose="020B0A04020102020204" pitchFamily="34" charset="0"/>
              </a:rPr>
              <a:t> </a:t>
            </a:r>
            <a:r>
              <a:rPr lang="it-IT" dirty="0"/>
              <a:t>(the compulsory </a:t>
            </a:r>
            <a:r>
              <a:rPr lang="it-IT" dirty="0" err="1"/>
              <a:t>ones</a:t>
            </a:r>
            <a:r>
              <a:rPr lang="it-IT" dirty="0"/>
              <a:t>)</a:t>
            </a:r>
          </a:p>
          <a:p>
            <a:pPr lvl="1"/>
            <a:r>
              <a:rPr lang="it-IT" dirty="0"/>
              <a:t>required to show understanding of the issues and to re-phrase concepts in their own words</a:t>
            </a:r>
          </a:p>
          <a:p>
            <a:pPr marL="0" indent="0">
              <a:buNone/>
            </a:pPr>
            <a:r>
              <a:rPr lang="it-IT" dirty="0"/>
              <a:t>	 </a:t>
            </a:r>
          </a:p>
        </p:txBody>
      </p:sp>
    </p:spTree>
    <p:extLst>
      <p:ext uri="{BB962C8B-B14F-4D97-AF65-F5344CB8AC3E}">
        <p14:creationId xmlns:p14="http://schemas.microsoft.com/office/powerpoint/2010/main" val="723370676"/>
      </p:ext>
    </p:extLst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</a:t>
            </a:r>
            <a:r>
              <a:rPr lang="it-IT" dirty="0"/>
              <a:t> – the </a:t>
            </a:r>
            <a:r>
              <a:rPr lang="it-IT" dirty="0" err="1"/>
              <a:t>project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it-IT" dirty="0"/>
              <a:t>Simulation of a project </a:t>
            </a:r>
            <a:r>
              <a:rPr lang="it-IT" dirty="0" err="1"/>
              <a:t>proposal</a:t>
            </a:r>
            <a:endParaRPr lang="it-IT" dirty="0"/>
          </a:p>
          <a:p>
            <a:pPr lvl="1"/>
            <a:r>
              <a:rPr lang="it-IT" sz="2500" dirty="0"/>
              <a:t>A </a:t>
            </a:r>
            <a:r>
              <a:rPr lang="it-IT" sz="2500" dirty="0" err="1"/>
              <a:t>proposal</a:t>
            </a:r>
            <a:r>
              <a:rPr lang="it-IT" sz="2500" dirty="0"/>
              <a:t> to Switch2Product (start-up)</a:t>
            </a:r>
          </a:p>
          <a:p>
            <a:r>
              <a:rPr lang="it-IT"/>
              <a:t>Output</a:t>
            </a:r>
            <a:r>
              <a:rPr lang="it-IT" dirty="0"/>
              <a:t>: a </a:t>
            </a:r>
            <a:r>
              <a:rPr lang="it-IT" dirty="0" err="1"/>
              <a:t>document</a:t>
            </a:r>
            <a:r>
              <a:rPr lang="it-IT" dirty="0"/>
              <a:t> (4-5 pages)</a:t>
            </a:r>
          </a:p>
          <a:p>
            <a:pPr lvl="1"/>
            <a:r>
              <a:rPr lang="it-IT" dirty="0" err="1"/>
              <a:t>Groupwork</a:t>
            </a:r>
            <a:r>
              <a:rPr lang="it-IT" dirty="0"/>
              <a:t>: 4-5 </a:t>
            </a:r>
            <a:r>
              <a:rPr lang="it-IT" dirty="0" err="1"/>
              <a:t>people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most</a:t>
            </a:r>
            <a:endParaRPr lang="it-IT" dirty="0"/>
          </a:p>
          <a:p>
            <a:pPr lvl="1"/>
            <a:r>
              <a:rPr lang="it-IT" dirty="0" err="1"/>
              <a:t>Topic</a:t>
            </a:r>
            <a:r>
              <a:rPr lang="it-IT" dirty="0"/>
              <a:t>: to be </a:t>
            </a:r>
            <a:r>
              <a:rPr lang="it-IT" dirty="0" err="1"/>
              <a:t>agreed</a:t>
            </a:r>
            <a:r>
              <a:rPr lang="it-IT" dirty="0"/>
              <a:t> </a:t>
            </a:r>
            <a:r>
              <a:rPr lang="it-IT" dirty="0" err="1"/>
              <a:t>upon</a:t>
            </a:r>
            <a:r>
              <a:rPr lang="it-IT" dirty="0"/>
              <a:t> with the teacher</a:t>
            </a:r>
          </a:p>
          <a:p>
            <a:pPr lvl="2"/>
            <a:r>
              <a:rPr lang="it-IT" dirty="0"/>
              <a:t>Something </a:t>
            </a:r>
            <a:r>
              <a:rPr lang="it-IT" dirty="0" err="1"/>
              <a:t>that</a:t>
            </a:r>
            <a:r>
              <a:rPr lang="it-IT" dirty="0"/>
              <a:t> </a:t>
            </a:r>
            <a:r>
              <a:rPr lang="it-IT" dirty="0" err="1"/>
              <a:t>at</a:t>
            </a:r>
            <a:r>
              <a:rPr lang="it-IT" dirty="0"/>
              <a:t> </a:t>
            </a:r>
            <a:r>
              <a:rPr lang="it-IT" dirty="0" err="1"/>
              <a:t>least</a:t>
            </a:r>
            <a:r>
              <a:rPr lang="it-IT" dirty="0"/>
              <a:t> one </a:t>
            </a:r>
            <a:r>
              <a:rPr lang="it-IT" dirty="0" err="1"/>
              <a:t>person</a:t>
            </a:r>
            <a:r>
              <a:rPr lang="it-IT" dirty="0"/>
              <a:t> in the group </a:t>
            </a:r>
            <a:r>
              <a:rPr lang="it-IT" dirty="0" err="1"/>
              <a:t>knows</a:t>
            </a:r>
            <a:r>
              <a:rPr lang="it-IT" dirty="0"/>
              <a:t> </a:t>
            </a:r>
            <a:r>
              <a:rPr lang="it-IT" dirty="0" err="1"/>
              <a:t>well</a:t>
            </a:r>
            <a:endParaRPr lang="it-IT" dirty="0"/>
          </a:p>
          <a:p>
            <a:pPr lvl="1"/>
            <a:endParaRPr lang="it-IT" dirty="0"/>
          </a:p>
          <a:p>
            <a:pPr marL="0" indent="0">
              <a:buNone/>
            </a:pPr>
            <a:r>
              <a:rPr lang="it-IT" dirty="0"/>
              <a:t>	 </a:t>
            </a:r>
          </a:p>
        </p:txBody>
      </p:sp>
    </p:spTree>
    <p:extLst>
      <p:ext uri="{BB962C8B-B14F-4D97-AF65-F5344CB8AC3E}">
        <p14:creationId xmlns:p14="http://schemas.microsoft.com/office/powerpoint/2010/main" val="2524713163"/>
      </p:ext>
    </p:extLst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Exam</a:t>
            </a:r>
            <a:r>
              <a:rPr lang="it-IT" dirty="0"/>
              <a:t> – </a:t>
            </a:r>
            <a:r>
              <a:rPr lang="it-IT" dirty="0" err="1"/>
              <a:t>practical</a:t>
            </a:r>
            <a:r>
              <a:rPr lang="it-IT" dirty="0"/>
              <a:t> </a:t>
            </a:r>
            <a:r>
              <a:rPr lang="it-IT" dirty="0" err="1"/>
              <a:t>rules</a:t>
            </a:r>
            <a:endParaRPr lang="it-IT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MOOC certificate: required</a:t>
            </a:r>
          </a:p>
          <a:p>
            <a:r>
              <a:rPr lang="en-US" dirty="0"/>
              <a:t>TEST and PROJECT:</a:t>
            </a:r>
          </a:p>
          <a:p>
            <a:pPr lvl="1"/>
            <a:r>
              <a:rPr lang="en-US" dirty="0"/>
              <a:t>students need to score a sufficient grade in both, in order to pass</a:t>
            </a:r>
          </a:p>
          <a:p>
            <a:pPr lvl="1"/>
            <a:r>
              <a:rPr lang="en-US" dirty="0"/>
              <a:t>they can be done in different exam’s </a:t>
            </a:r>
            <a:r>
              <a:rPr lang="en-US" dirty="0" err="1"/>
              <a:t>sessionS</a:t>
            </a:r>
            <a:endParaRPr lang="en-US" dirty="0"/>
          </a:p>
          <a:p>
            <a:pPr marL="45720" indent="0" algn="ctr">
              <a:buNone/>
            </a:pPr>
            <a:endParaRPr lang="en-US"/>
          </a:p>
          <a:p>
            <a:pPr marL="45720" indent="0" algn="ctr">
              <a:buNone/>
            </a:pPr>
            <a:r>
              <a:rPr lang="en-US"/>
              <a:t>REMEMBER </a:t>
            </a:r>
            <a:r>
              <a:rPr lang="en-US" dirty="0"/>
              <a:t>TO ENROLL when you are ready to get the final score!</a:t>
            </a: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31128815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743C3-C4B5-089A-2881-2F3497DA1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3 credits version</a:t>
            </a:r>
            <a:endParaRPr lang="it-IT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48017-8731-90DA-EBBC-86A7288295CF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/>
              <a:t>3 credits </a:t>
            </a:r>
            <a:r>
              <a:rPr lang="en-US" dirty="0"/>
              <a:t>version of the course:</a:t>
            </a:r>
          </a:p>
          <a:p>
            <a:pPr lvl="1"/>
            <a:r>
              <a:rPr lang="en-US" dirty="0"/>
              <a:t>MOOC=yes</a:t>
            </a:r>
          </a:p>
          <a:p>
            <a:pPr lvl="1"/>
            <a:r>
              <a:rPr lang="en-US" dirty="0"/>
              <a:t>6 open-ended questions = yes</a:t>
            </a:r>
          </a:p>
          <a:p>
            <a:pPr lvl="1"/>
            <a:r>
              <a:rPr lang="en-US" dirty="0"/>
              <a:t>Project = NO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45429112"/>
      </p:ext>
    </p:extLst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Contacts</a:t>
            </a:r>
            <a:endParaRPr lang="it-IT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dirty="0"/>
              <a:t>Mail:</a:t>
            </a:r>
          </a:p>
          <a:p>
            <a:pPr lvl="1"/>
            <a:r>
              <a:rPr lang="it-IT" dirty="0"/>
              <a:t>nicoletta.diblas@polimi.it</a:t>
            </a:r>
          </a:p>
          <a:p>
            <a:pPr lvl="1"/>
            <a:r>
              <a:rPr lang="it-IT" dirty="0"/>
              <a:t>giacomo.cassano@polimi.it</a:t>
            </a:r>
          </a:p>
          <a:p>
            <a:r>
              <a:rPr lang="it-IT" dirty="0"/>
              <a:t>Communications:</a:t>
            </a:r>
          </a:p>
          <a:p>
            <a:pPr lvl="1"/>
            <a:r>
              <a:rPr lang="it-IT" dirty="0" err="1"/>
              <a:t>During</a:t>
            </a:r>
            <a:r>
              <a:rPr lang="it-IT" dirty="0"/>
              <a:t> the </a:t>
            </a:r>
            <a:r>
              <a:rPr lang="it-IT" dirty="0" err="1"/>
              <a:t>lessons</a:t>
            </a:r>
            <a:r>
              <a:rPr lang="it-IT" dirty="0"/>
              <a:t>’ breaks</a:t>
            </a:r>
          </a:p>
          <a:p>
            <a:pPr lvl="1"/>
            <a:r>
              <a:rPr lang="it-IT" dirty="0" err="1"/>
              <a:t>After</a:t>
            </a:r>
            <a:r>
              <a:rPr lang="it-IT" dirty="0"/>
              <a:t> the </a:t>
            </a:r>
            <a:r>
              <a:rPr lang="it-IT" dirty="0" err="1"/>
              <a:t>lesson</a:t>
            </a:r>
            <a:endParaRPr lang="it-IT" dirty="0"/>
          </a:p>
          <a:p>
            <a:pPr lvl="2"/>
            <a:r>
              <a:rPr lang="it-IT" dirty="0" err="1"/>
              <a:t>please</a:t>
            </a:r>
            <a:r>
              <a:rPr lang="it-IT" dirty="0"/>
              <a:t> </a:t>
            </a:r>
            <a:r>
              <a:rPr lang="it-IT" dirty="0" err="1"/>
              <a:t>send</a:t>
            </a:r>
            <a:r>
              <a:rPr lang="it-IT" dirty="0"/>
              <a:t> an e-mail the day </a:t>
            </a:r>
            <a:r>
              <a:rPr lang="it-IT" dirty="0" err="1"/>
              <a:t>before</a:t>
            </a:r>
            <a:endParaRPr lang="it-IT" dirty="0"/>
          </a:p>
          <a:p>
            <a:pPr lvl="2"/>
            <a:r>
              <a:rPr lang="it-IT" dirty="0">
                <a:latin typeface="Arial Black" panose="020B0A04020102020204" pitchFamily="34" charset="0"/>
              </a:rPr>
              <a:t>Subject: </a:t>
            </a:r>
            <a:r>
              <a:rPr lang="it-IT" dirty="0" err="1">
                <a:latin typeface="Arial Black" panose="020B0A04020102020204" pitchFamily="34" charset="0"/>
              </a:rPr>
              <a:t>C&amp;A</a:t>
            </a:r>
            <a:r>
              <a:rPr lang="it-IT" dirty="0">
                <a:latin typeface="Arial Black" panose="020B0A04020102020204" pitchFamily="34" charset="0"/>
              </a:rPr>
              <a:t>_[whatever the </a:t>
            </a:r>
            <a:r>
              <a:rPr lang="it-IT" dirty="0" err="1">
                <a:latin typeface="Arial Black" panose="020B0A04020102020204" pitchFamily="34" charset="0"/>
              </a:rPr>
              <a:t>topic</a:t>
            </a:r>
            <a:r>
              <a:rPr lang="it-IT" dirty="0">
                <a:latin typeface="Arial Black" panose="020B0A04020102020204" pitchFamily="34" charset="0"/>
              </a:rPr>
              <a:t> is]</a:t>
            </a:r>
          </a:p>
          <a:p>
            <a:pPr lvl="1"/>
            <a:r>
              <a:rPr lang="it-IT" dirty="0"/>
              <a:t>…</a:t>
            </a:r>
            <a:r>
              <a:rPr lang="it-IT" dirty="0" err="1"/>
              <a:t>any</a:t>
            </a:r>
            <a:r>
              <a:rPr lang="it-IT" dirty="0"/>
              <a:t> other time,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ask</a:t>
            </a:r>
            <a:r>
              <a:rPr lang="it-IT" dirty="0"/>
              <a:t> in </a:t>
            </a:r>
            <a:r>
              <a:rPr lang="it-IT" dirty="0" err="1"/>
              <a:t>advance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23307394"/>
      </p:ext>
    </p:extLst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754753"/>
      </p:ext>
    </p:extLst>
  </p:cSld>
  <p:clrMapOvr>
    <a:masterClrMapping/>
  </p:clrMapOvr>
  <p:transition spd="med"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idescreenPresentation">
  <a:themeElements>
    <a:clrScheme name="Impostazioni personalizzate 7">
      <a:dk1>
        <a:srgbClr val="321428"/>
      </a:dk1>
      <a:lt1>
        <a:sysClr val="window" lastClr="FFFFFF"/>
      </a:lt1>
      <a:dk2>
        <a:srgbClr val="321428"/>
      </a:dk2>
      <a:lt2>
        <a:srgbClr val="DEF5FA"/>
      </a:lt2>
      <a:accent1>
        <a:srgbClr val="C51788"/>
      </a:accent1>
      <a:accent2>
        <a:srgbClr val="939598"/>
      </a:accent2>
      <a:accent3>
        <a:srgbClr val="53009F"/>
      </a:accent3>
      <a:accent4>
        <a:srgbClr val="A351D5"/>
      </a:accent4>
      <a:accent5>
        <a:srgbClr val="8413F5"/>
      </a:accent5>
      <a:accent6>
        <a:srgbClr val="4A2542"/>
      </a:accent6>
      <a:hlink>
        <a:srgbClr val="C51788"/>
      </a:hlink>
      <a:folHlink>
        <a:srgbClr val="939598"/>
      </a:folHlink>
    </a:clrScheme>
    <a:fontScheme name="Vial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5000"/>
                <a:satMod val="150000"/>
              </a:schemeClr>
            </a:gs>
            <a:gs pos="35000">
              <a:schemeClr val="phClr">
                <a:shade val="60000"/>
                <a:satMod val="150000"/>
              </a:schemeClr>
            </a:gs>
            <a:gs pos="100000">
              <a:schemeClr val="phClr">
                <a:tint val="97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WidescreenPresentation</Template>
  <TotalTime>0</TotalTime>
  <Words>409</Words>
  <Application>Microsoft Office PowerPoint</Application>
  <PresentationFormat>On-screen Show (16:9)</PresentationFormat>
  <Paragraphs>88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 Black</vt:lpstr>
      <vt:lpstr>Calibri</vt:lpstr>
      <vt:lpstr>Lucida Sans Unicode</vt:lpstr>
      <vt:lpstr>Wingdings</vt:lpstr>
      <vt:lpstr>Wingdings 2</vt:lpstr>
      <vt:lpstr>WidescreenPresentation</vt:lpstr>
      <vt:lpstr>COMMUNICATION &amp; ARGUMENTATION</vt:lpstr>
      <vt:lpstr>People</vt:lpstr>
      <vt:lpstr>Plato’s cave</vt:lpstr>
      <vt:lpstr>Course goal(s)</vt:lpstr>
      <vt:lpstr>Learning to communicate</vt:lpstr>
      <vt:lpstr>What this course is about</vt:lpstr>
      <vt:lpstr>Methodology</vt:lpstr>
      <vt:lpstr>MOOC on communication</vt:lpstr>
      <vt:lpstr>Materials </vt:lpstr>
      <vt:lpstr>Exam</vt:lpstr>
      <vt:lpstr>Exam – the test</vt:lpstr>
      <vt:lpstr>Exam – the project</vt:lpstr>
      <vt:lpstr>Exam – practical rules</vt:lpstr>
      <vt:lpstr>The 3 credits version</vt:lpstr>
      <vt:lpstr>Contacts</vt:lpstr>
      <vt:lpstr>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2010-02-08T10:14:15Z</dcterms:created>
  <dcterms:modified xsi:type="dcterms:W3CDTF">2025-02-17T15:17:57Z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LCID">
    <vt:i4>1040</vt:i4>
  </property>
  <property fmtid="{D5CDD505-2E9C-101B-9397-08002B2CF9AE}" pid="3" name="_Version">
    <vt:lpwstr>12.0.4518</vt:lpwstr>
  </property>
</Properties>
</file>