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97" r:id="rId3"/>
    <p:sldId id="299" r:id="rId4"/>
    <p:sldId id="300" r:id="rId5"/>
    <p:sldId id="301" r:id="rId6"/>
    <p:sldId id="346" r:id="rId7"/>
    <p:sldId id="359" r:id="rId8"/>
    <p:sldId id="361" r:id="rId9"/>
    <p:sldId id="315" r:id="rId10"/>
    <p:sldId id="318" r:id="rId11"/>
    <p:sldId id="320" r:id="rId12"/>
    <p:sldId id="321" r:id="rId13"/>
    <p:sldId id="363" r:id="rId14"/>
    <p:sldId id="369" r:id="rId15"/>
    <p:sldId id="364" r:id="rId16"/>
    <p:sldId id="367" r:id="rId17"/>
    <p:sldId id="317" r:id="rId18"/>
    <p:sldId id="325" r:id="rId19"/>
    <p:sldId id="329" r:id="rId20"/>
    <p:sldId id="368" r:id="rId21"/>
    <p:sldId id="365" r:id="rId22"/>
    <p:sldId id="295" r:id="rId23"/>
  </p:sldIdLst>
  <p:sldSz cx="9144000" cy="5143500" type="screen16x9"/>
  <p:notesSz cx="7099300" cy="10234613"/>
  <p:defaultTextStyle>
    <a:lvl1pPr marL="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1129"/>
    <a:srgbClr val="32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CC17E-D6C1-4CC7-94BC-8273CAC9F4FC}" v="483" dt="2025-02-17T14:01:28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95421" autoAdjust="0"/>
  </p:normalViewPr>
  <p:slideViewPr>
    <p:cSldViewPr>
      <p:cViewPr varScale="1">
        <p:scale>
          <a:sx n="81" d="100"/>
          <a:sy n="81" d="100"/>
        </p:scale>
        <p:origin x="764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4029A-FB94-46E3-BCCC-180111E56553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46C5-7A39-40A2-8F88-F1D4EB9A32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43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latinLnBrk="0">
              <a:defRPr lang="it-IT" sz="1300"/>
            </a:lvl1pPr>
          </a:lstStyle>
          <a:p>
            <a:fld id="{A8ADFD5B-A66C-449C-B6E8-FB716D07777D}" type="datetimeFigureOut">
              <a:rPr lang="en-US"/>
              <a:pPr/>
              <a:t>2/17/2025</a:t>
            </a:fld>
            <a:endParaRPr lang="it-I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it-I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latinLnBrk="0">
              <a:defRPr lang="it-IT" sz="1300"/>
            </a:lvl1pPr>
          </a:lstStyle>
          <a:p>
            <a:fld id="{CA5D3BF3-D352-46FC-8343-31F56E6730EA}" type="slidenum">
              <a:rPr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25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it-IT" dirty="0"/>
              <a:t>TRANSLATIONS:</a:t>
            </a:r>
          </a:p>
          <a:p>
            <a:pPr eaLnBrk="1" hangingPunct="1">
              <a:spcBef>
                <a:spcPct val="0"/>
              </a:spcBef>
            </a:pPr>
            <a:r>
              <a:rPr lang="it-IT" dirty="0"/>
              <a:t>«</a:t>
            </a:r>
            <a:r>
              <a:rPr lang="it-IT" dirty="0" err="1"/>
              <a:t>Generally</a:t>
            </a:r>
            <a:r>
              <a:rPr lang="it-IT" dirty="0"/>
              <a:t> </a:t>
            </a:r>
            <a:r>
              <a:rPr lang="it-IT" dirty="0" err="1"/>
              <a:t>speaking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say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 </a:t>
            </a:r>
            <a:r>
              <a:rPr lang="it-IT" dirty="0" err="1"/>
              <a:t>sign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anything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perceive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baseline="0" dirty="0"/>
              <a:t> </a:t>
            </a:r>
            <a:r>
              <a:rPr lang="it-IT" baseline="0" dirty="0" err="1"/>
              <a:t>which</a:t>
            </a:r>
            <a:r>
              <a:rPr lang="it-IT" baseline="0" dirty="0"/>
              <a:t> </a:t>
            </a:r>
            <a:r>
              <a:rPr lang="it-IT" baseline="0" dirty="0" err="1"/>
              <a:t>we</a:t>
            </a:r>
            <a:r>
              <a:rPr lang="it-IT" baseline="0" dirty="0"/>
              <a:t> </a:t>
            </a:r>
            <a:r>
              <a:rPr lang="it-IT" baseline="0" dirty="0" err="1"/>
              <a:t>get</a:t>
            </a:r>
            <a:r>
              <a:rPr lang="it-IT" baseline="0" dirty="0"/>
              <a:t> to </a:t>
            </a:r>
            <a:r>
              <a:rPr lang="it-IT" baseline="0" dirty="0" err="1"/>
              <a:t>know</a:t>
            </a:r>
            <a:r>
              <a:rPr lang="it-IT" baseline="0" dirty="0"/>
              <a:t> </a:t>
            </a:r>
            <a:r>
              <a:rPr lang="it-IT" baseline="0" dirty="0" err="1"/>
              <a:t>something</a:t>
            </a:r>
            <a:r>
              <a:rPr lang="it-IT" baseline="0" dirty="0"/>
              <a:t> else»</a:t>
            </a:r>
          </a:p>
          <a:p>
            <a:pPr eaLnBrk="1" hangingPunct="1">
              <a:spcBef>
                <a:spcPct val="0"/>
              </a:spcBef>
            </a:pPr>
            <a:endParaRPr lang="it-IT" baseline="0" dirty="0"/>
          </a:p>
          <a:p>
            <a:pPr eaLnBrk="1" hangingPunct="1">
              <a:spcBef>
                <a:spcPct val="0"/>
              </a:spcBef>
            </a:pPr>
            <a:r>
              <a:rPr lang="it-IT" dirty="0"/>
              <a:t>«The </a:t>
            </a:r>
            <a:r>
              <a:rPr lang="it-IT" dirty="0" err="1"/>
              <a:t>sign</a:t>
            </a:r>
            <a:r>
              <a:rPr lang="it-IT" dirty="0"/>
              <a:t> in </a:t>
            </a:r>
            <a:r>
              <a:rPr lang="it-IT" dirty="0" err="1"/>
              <a:t>itself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something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perceive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baseline="0" dirty="0"/>
              <a:t> </a:t>
            </a:r>
            <a:r>
              <a:rPr lang="it-IT" baseline="0" dirty="0" err="1"/>
              <a:t>which</a:t>
            </a:r>
            <a:r>
              <a:rPr lang="it-IT" baseline="0" dirty="0"/>
              <a:t> </a:t>
            </a:r>
            <a:r>
              <a:rPr lang="it-IT" baseline="0" dirty="0" err="1"/>
              <a:t>we</a:t>
            </a:r>
            <a:r>
              <a:rPr lang="it-IT" baseline="0" dirty="0"/>
              <a:t> are ‘led by the </a:t>
            </a:r>
            <a:r>
              <a:rPr lang="it-IT" baseline="0" dirty="0" err="1"/>
              <a:t>hand</a:t>
            </a:r>
            <a:r>
              <a:rPr lang="it-IT" baseline="0" dirty="0"/>
              <a:t>’ to </a:t>
            </a:r>
            <a:r>
              <a:rPr lang="it-IT" baseline="0" dirty="0" err="1"/>
              <a:t>know</a:t>
            </a:r>
            <a:r>
              <a:rPr lang="it-IT" baseline="0" dirty="0"/>
              <a:t> </a:t>
            </a:r>
            <a:r>
              <a:rPr lang="it-IT" baseline="0" dirty="0" err="1"/>
              <a:t>something</a:t>
            </a:r>
            <a:r>
              <a:rPr lang="it-IT" baseline="0" dirty="0"/>
              <a:t> </a:t>
            </a:r>
            <a:r>
              <a:rPr lang="it-IT" baseline="0" dirty="0" err="1"/>
              <a:t>that</a:t>
            </a:r>
            <a:r>
              <a:rPr lang="it-IT" baseline="0" dirty="0"/>
              <a:t> </a:t>
            </a:r>
            <a:r>
              <a:rPr lang="it-IT" baseline="0" dirty="0" err="1"/>
              <a:t>is</a:t>
            </a:r>
            <a:r>
              <a:rPr lang="it-IT" baseline="0" dirty="0"/>
              <a:t> ‘</a:t>
            </a:r>
            <a:r>
              <a:rPr lang="it-IT" baseline="0" dirty="0" err="1"/>
              <a:t>hidden</a:t>
            </a:r>
            <a:r>
              <a:rPr lang="it-IT" baseline="0" dirty="0"/>
              <a:t>’ [i.e. non </a:t>
            </a:r>
            <a:r>
              <a:rPr lang="it-IT" baseline="0" dirty="0" err="1"/>
              <a:t>necessarily</a:t>
            </a:r>
            <a:r>
              <a:rPr lang="it-IT" baseline="0" dirty="0"/>
              <a:t> </a:t>
            </a:r>
            <a:r>
              <a:rPr lang="it-IT" baseline="0" dirty="0" err="1"/>
              <a:t>present</a:t>
            </a:r>
            <a:r>
              <a:rPr lang="it-IT" baseline="0" dirty="0"/>
              <a:t> in the </a:t>
            </a:r>
            <a:r>
              <a:rPr lang="it-IT" baseline="0" dirty="0" err="1"/>
              <a:t>context</a:t>
            </a:r>
            <a:r>
              <a:rPr lang="it-IT" baseline="0" dirty="0"/>
              <a:t>]»</a:t>
            </a:r>
            <a:endParaRPr lang="it-IT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61225" indent="-292779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71117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39563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08010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576456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44903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13349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3981797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AD887E7-47C6-4905-9942-88F28313A387}" type="slidenum">
              <a:rPr lang="it-IT" sz="1300"/>
              <a:pPr eaLnBrk="1" hangingPunct="1"/>
              <a:t>2</a:t>
            </a:fld>
            <a:endParaRPr lang="it-IT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noProof="0" dirty="0"/>
              <a:t>Linguistic signs: they «stand for</a:t>
            </a:r>
            <a:r>
              <a:rPr lang="en-US" baseline="0" noProof="0" dirty="0"/>
              <a:t>» something else.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noProof="0" dirty="0"/>
              <a:t>Consequences: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r>
              <a:rPr lang="en-US" baseline="0" noProof="0" dirty="0"/>
              <a:t>Knowledge: we can know something not through direct acquaintance but through someone else’s experience (told in words). E.g. the North Pole: we can know «about» the North Pole a lot of things even without having actually been there.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r>
              <a:rPr lang="en-US" baseline="0" noProof="0" dirty="0"/>
              <a:t>Philosophy: we can think about concepts even without being sure that they exist in reality (is the universe infinite or finite? – we do not know, but we can conceive the concept of ‘infiniteness’)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r>
              <a:rPr lang="en-US" baseline="0" noProof="0" dirty="0"/>
              <a:t>Creativity: we can think of new things; this is often the first step towards innovation (will «</a:t>
            </a:r>
            <a:r>
              <a:rPr lang="en-US" baseline="0" noProof="0" dirty="0" err="1"/>
              <a:t>teletransportation</a:t>
            </a:r>
            <a:r>
              <a:rPr lang="en-US" baseline="0" noProof="0" dirty="0"/>
              <a:t>» ever exist? We do not know, but we can think about it). We can create literary works works of art, stories…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r>
              <a:rPr lang="en-US" baseline="0" noProof="0" dirty="0"/>
              <a:t>Lies: we can put together things that are not together, we can lie. </a:t>
            </a:r>
            <a:endParaRPr lang="it-IT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61225" indent="-292779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71117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39563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08010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576456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44903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13349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3981797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4A5E665-1AE7-4DEA-93CF-31FECE5D1D5F}" type="slidenum">
              <a:rPr lang="it-IT" sz="1300"/>
              <a:pPr eaLnBrk="1" hangingPunct="1"/>
              <a:t>3</a:t>
            </a:fld>
            <a:endParaRPr lang="it-IT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noProof="0" dirty="0"/>
              <a:t>In</a:t>
            </a:r>
            <a:r>
              <a:rPr lang="en-US" baseline="0" noProof="0" dirty="0"/>
              <a:t> Saussure’s theory, the sign relation is dyadic: a signifier stands for a signified.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noProof="0" dirty="0"/>
              <a:t>Both live in the «heads» of the speakers and are « mental models»: trees are infinite – still when we see a specific tree we recognize it; the ways of pronouncing the word «tree» are infinite, still when we hear that word we recognize it.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noProof="0" dirty="0"/>
              <a:t>This is the difference between what may be called «TYPES» (mental models)  and «TOKENS» (concrete instances).</a:t>
            </a:r>
            <a:endParaRPr lang="en-US" noProof="0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61225" indent="-292779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71117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39563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08010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576456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44903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13349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3981797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3B72800-444E-44AE-9DF6-81164908631F}" type="slidenum">
              <a:rPr lang="it-IT" sz="1300"/>
              <a:pPr eaLnBrk="1" hangingPunct="1"/>
              <a:t>4</a:t>
            </a:fld>
            <a:endParaRPr lang="it-IT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it-IT" dirty="0" err="1"/>
              <a:t>Signs</a:t>
            </a:r>
            <a:r>
              <a:rPr lang="it-IT" dirty="0"/>
              <a:t> are </a:t>
            </a:r>
            <a:r>
              <a:rPr lang="it-IT" dirty="0" err="1"/>
              <a:t>arbitrary</a:t>
            </a:r>
            <a:r>
              <a:rPr lang="it-IT" dirty="0"/>
              <a:t>: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reason</a:t>
            </a:r>
            <a:r>
              <a:rPr lang="it-IT" dirty="0"/>
              <a:t> </a:t>
            </a:r>
            <a:r>
              <a:rPr lang="it-IT" dirty="0" err="1"/>
              <a:t>why</a:t>
            </a:r>
            <a:r>
              <a:rPr lang="it-IT" dirty="0"/>
              <a:t> a </a:t>
            </a:r>
            <a:r>
              <a:rPr lang="it-IT" dirty="0" err="1"/>
              <a:t>house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</a:t>
            </a:r>
            <a:r>
              <a:rPr lang="it-IT" dirty="0" err="1"/>
              <a:t>called</a:t>
            </a:r>
            <a:r>
              <a:rPr lang="it-IT" baseline="0" dirty="0"/>
              <a:t> «</a:t>
            </a:r>
            <a:r>
              <a:rPr lang="it-IT" baseline="0" dirty="0" err="1"/>
              <a:t>house</a:t>
            </a:r>
            <a:r>
              <a:rPr lang="it-IT" baseline="0" dirty="0"/>
              <a:t>» (</a:t>
            </a:r>
            <a:r>
              <a:rPr lang="it-IT" baseline="0" dirty="0" err="1"/>
              <a:t>actually</a:t>
            </a:r>
            <a:r>
              <a:rPr lang="it-IT" baseline="0" dirty="0"/>
              <a:t> in </a:t>
            </a:r>
            <a:r>
              <a:rPr lang="it-IT" baseline="0" dirty="0" err="1"/>
              <a:t>Italian</a:t>
            </a:r>
            <a:r>
              <a:rPr lang="it-IT" baseline="0" dirty="0"/>
              <a:t> </a:t>
            </a:r>
            <a:r>
              <a:rPr lang="it-IT" baseline="0" dirty="0" err="1"/>
              <a:t>we</a:t>
            </a:r>
            <a:r>
              <a:rPr lang="it-IT" baseline="0" dirty="0"/>
              <a:t> </a:t>
            </a:r>
            <a:r>
              <a:rPr lang="it-IT" baseline="0" dirty="0" err="1"/>
              <a:t>have</a:t>
            </a:r>
            <a:r>
              <a:rPr lang="it-IT" baseline="0" dirty="0"/>
              <a:t> the word «casa»).</a:t>
            </a:r>
          </a:p>
          <a:p>
            <a:pPr eaLnBrk="1" hangingPunct="1">
              <a:spcBef>
                <a:spcPct val="0"/>
              </a:spcBef>
            </a:pPr>
            <a:r>
              <a:rPr lang="it-IT" baseline="0" dirty="0" err="1"/>
              <a:t>What</a:t>
            </a:r>
            <a:r>
              <a:rPr lang="it-IT" baseline="0" dirty="0"/>
              <a:t> </a:t>
            </a:r>
            <a:r>
              <a:rPr lang="it-IT" baseline="0" dirty="0" err="1"/>
              <a:t>matters</a:t>
            </a:r>
            <a:r>
              <a:rPr lang="it-IT" baseline="0" dirty="0"/>
              <a:t> </a:t>
            </a:r>
            <a:r>
              <a:rPr lang="it-IT" baseline="0" dirty="0" err="1"/>
              <a:t>is</a:t>
            </a:r>
            <a:r>
              <a:rPr lang="it-IT" baseline="0" dirty="0"/>
              <a:t> </a:t>
            </a:r>
            <a:r>
              <a:rPr lang="it-IT" baseline="0" dirty="0" err="1"/>
              <a:t>that</a:t>
            </a:r>
            <a:r>
              <a:rPr lang="it-IT" baseline="0" dirty="0"/>
              <a:t> </a:t>
            </a:r>
            <a:r>
              <a:rPr lang="it-IT" baseline="0" dirty="0" err="1"/>
              <a:t>they</a:t>
            </a:r>
            <a:r>
              <a:rPr lang="it-IT" baseline="0" dirty="0"/>
              <a:t> are </a:t>
            </a:r>
            <a:r>
              <a:rPr lang="it-IT" baseline="0" dirty="0" err="1"/>
              <a:t>different</a:t>
            </a:r>
            <a:r>
              <a:rPr lang="it-IT" baseline="0" dirty="0"/>
              <a:t> from </a:t>
            </a:r>
            <a:r>
              <a:rPr lang="it-IT" baseline="0" dirty="0" err="1"/>
              <a:t>one</a:t>
            </a:r>
            <a:r>
              <a:rPr lang="it-IT" baseline="0" dirty="0"/>
              <a:t> </a:t>
            </a:r>
            <a:r>
              <a:rPr lang="it-IT" baseline="0" dirty="0" err="1"/>
              <a:t>another</a:t>
            </a:r>
            <a:r>
              <a:rPr lang="it-IT" baseline="0" dirty="0"/>
              <a:t>.</a:t>
            </a:r>
            <a:endParaRPr lang="it-IT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61225" indent="-292779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71117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39563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08010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576456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44903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13349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3981797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4A5E665-1AE7-4DEA-93CF-31FECE5D1D5F}" type="slidenum">
              <a:rPr lang="it-IT" sz="1300"/>
              <a:pPr eaLnBrk="1" hangingPunct="1"/>
              <a:t>5</a:t>
            </a:fld>
            <a:endParaRPr lang="it-IT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it-IT" noProof="0" dirty="0" err="1"/>
              <a:t>Different</a:t>
            </a:r>
            <a:r>
              <a:rPr lang="it-IT" noProof="0" dirty="0"/>
              <a:t> </a:t>
            </a:r>
            <a:r>
              <a:rPr lang="it-IT" noProof="0" dirty="0" err="1"/>
              <a:t>languages</a:t>
            </a:r>
            <a:r>
              <a:rPr lang="it-IT" noProof="0" dirty="0"/>
              <a:t> </a:t>
            </a:r>
            <a:r>
              <a:rPr lang="it-IT" noProof="0" dirty="0" err="1"/>
              <a:t>interpret</a:t>
            </a:r>
            <a:r>
              <a:rPr lang="it-IT" noProof="0" dirty="0"/>
              <a:t> reality in a </a:t>
            </a:r>
            <a:r>
              <a:rPr lang="it-IT" noProof="0" dirty="0" err="1"/>
              <a:t>different</a:t>
            </a:r>
            <a:r>
              <a:rPr lang="it-IT" noProof="0" dirty="0"/>
              <a:t> way, </a:t>
            </a:r>
            <a:r>
              <a:rPr lang="it-IT" noProof="0" dirty="0" err="1"/>
              <a:t>as</a:t>
            </a:r>
            <a:r>
              <a:rPr lang="it-IT" noProof="0" dirty="0"/>
              <a:t> </a:t>
            </a:r>
            <a:r>
              <a:rPr lang="it-IT" noProof="0" dirty="0" err="1"/>
              <a:t>if</a:t>
            </a:r>
            <a:r>
              <a:rPr lang="it-IT" noProof="0" dirty="0"/>
              <a:t> </a:t>
            </a:r>
            <a:r>
              <a:rPr lang="it-IT" noProof="0" dirty="0" err="1"/>
              <a:t>they</a:t>
            </a:r>
            <a:r>
              <a:rPr lang="it-IT" noProof="0" dirty="0"/>
              <a:t> </a:t>
            </a:r>
            <a:r>
              <a:rPr lang="it-IT" noProof="0" dirty="0" err="1"/>
              <a:t>were</a:t>
            </a:r>
            <a:r>
              <a:rPr lang="it-IT" noProof="0" dirty="0"/>
              <a:t> «</a:t>
            </a:r>
            <a:r>
              <a:rPr lang="it-IT" noProof="0" dirty="0" err="1"/>
              <a:t>cutting</a:t>
            </a:r>
            <a:r>
              <a:rPr lang="it-IT" noProof="0" dirty="0"/>
              <a:t> a </a:t>
            </a:r>
            <a:r>
              <a:rPr lang="it-IT" noProof="0" dirty="0" err="1"/>
              <a:t>paper</a:t>
            </a:r>
            <a:r>
              <a:rPr lang="it-IT" noProof="0" dirty="0"/>
              <a:t> </a:t>
            </a:r>
            <a:r>
              <a:rPr lang="it-IT" noProof="0" dirty="0" err="1"/>
              <a:t>into</a:t>
            </a:r>
            <a:r>
              <a:rPr lang="it-IT" noProof="0" dirty="0"/>
              <a:t> </a:t>
            </a:r>
            <a:r>
              <a:rPr lang="it-IT" noProof="0" dirty="0" err="1"/>
              <a:t>pieces</a:t>
            </a:r>
            <a:r>
              <a:rPr lang="it-IT" noProof="0" dirty="0"/>
              <a:t>» and </a:t>
            </a:r>
            <a:r>
              <a:rPr lang="it-IT" noProof="0" dirty="0" err="1"/>
              <a:t>adding</a:t>
            </a:r>
            <a:r>
              <a:rPr lang="it-IT" noProof="0" dirty="0"/>
              <a:t> a </a:t>
            </a:r>
            <a:r>
              <a:rPr lang="it-IT" noProof="0" dirty="0" err="1"/>
              <a:t>label</a:t>
            </a:r>
            <a:r>
              <a:rPr lang="it-IT" noProof="0" dirty="0"/>
              <a:t> to </a:t>
            </a:r>
            <a:r>
              <a:rPr lang="it-IT" noProof="0" dirty="0" err="1"/>
              <a:t>each</a:t>
            </a:r>
            <a:r>
              <a:rPr lang="it-IT" noProof="0" dirty="0"/>
              <a:t> </a:t>
            </a:r>
            <a:r>
              <a:rPr lang="it-IT" noProof="0" dirty="0" err="1"/>
              <a:t>piece</a:t>
            </a:r>
            <a:r>
              <a:rPr lang="it-IT" noProof="0" dirty="0"/>
              <a:t>. In this </a:t>
            </a:r>
            <a:r>
              <a:rPr lang="it-IT" noProof="0" dirty="0" err="1"/>
              <a:t>sense</a:t>
            </a:r>
            <a:r>
              <a:rPr lang="it-IT" noProof="0" dirty="0"/>
              <a:t>, the </a:t>
            </a:r>
            <a:r>
              <a:rPr lang="it-IT" noProof="0" dirty="0" err="1"/>
              <a:t>signified</a:t>
            </a:r>
            <a:r>
              <a:rPr lang="it-IT" baseline="0" noProof="0" dirty="0"/>
              <a:t> is </a:t>
            </a:r>
            <a:r>
              <a:rPr lang="it-IT" baseline="0" noProof="0" dirty="0" err="1"/>
              <a:t>also</a:t>
            </a:r>
            <a:r>
              <a:rPr lang="it-IT" baseline="0" noProof="0" dirty="0"/>
              <a:t> </a:t>
            </a:r>
            <a:r>
              <a:rPr lang="it-IT" baseline="0" noProof="0" dirty="0" err="1"/>
              <a:t>arbitrary</a:t>
            </a:r>
            <a:r>
              <a:rPr lang="it-IT" baseline="0" noProof="0" dirty="0"/>
              <a:t>. For </a:t>
            </a:r>
            <a:r>
              <a:rPr lang="it-IT" baseline="0" noProof="0" dirty="0" err="1"/>
              <a:t>example</a:t>
            </a:r>
            <a:r>
              <a:rPr lang="it-IT" baseline="0" noProof="0" dirty="0"/>
              <a:t>, </a:t>
            </a:r>
            <a:r>
              <a:rPr lang="en-US" noProof="0" dirty="0"/>
              <a:t>Eskimos</a:t>
            </a:r>
            <a:r>
              <a:rPr lang="en-US" baseline="0" noProof="0" dirty="0"/>
              <a:t> </a:t>
            </a:r>
            <a:r>
              <a:rPr lang="en-US" noProof="0" dirty="0"/>
              <a:t>have many different words for different kinds of snows/ice,</a:t>
            </a:r>
            <a:r>
              <a:rPr lang="en-US" baseline="0" noProof="0" dirty="0"/>
              <a:t> while Italians have just one word.</a:t>
            </a:r>
          </a:p>
          <a:p>
            <a:pPr eaLnBrk="1" hangingPunct="1">
              <a:spcBef>
                <a:spcPct val="0"/>
              </a:spcBef>
            </a:pPr>
            <a:r>
              <a:rPr lang="it-IT" baseline="0" noProof="0" dirty="0" err="1"/>
              <a:t>This</a:t>
            </a:r>
            <a:r>
              <a:rPr lang="it-IT" baseline="0" noProof="0" dirty="0"/>
              <a:t> </a:t>
            </a:r>
            <a:r>
              <a:rPr lang="it-IT" baseline="0" noProof="0" dirty="0" err="1"/>
              <a:t>means</a:t>
            </a:r>
            <a:r>
              <a:rPr lang="it-IT" baseline="0" noProof="0" dirty="0"/>
              <a:t> </a:t>
            </a:r>
            <a:r>
              <a:rPr lang="it-IT" baseline="0" noProof="0" dirty="0" err="1"/>
              <a:t>that</a:t>
            </a:r>
            <a:r>
              <a:rPr lang="it-IT" baseline="0" noProof="0" dirty="0"/>
              <a:t> o</a:t>
            </a:r>
            <a:r>
              <a:rPr lang="en-US" noProof="0" dirty="0"/>
              <a:t>ur</a:t>
            </a:r>
            <a:r>
              <a:rPr lang="en-US" baseline="0" noProof="0" dirty="0"/>
              <a:t> perception of reality is filtered by our mother tongue (as well as by what we know, what we like…).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noProof="0" dirty="0"/>
              <a:t>The richer the vocabulary, the more detailed our perception of reality is – but the more conditioned too.</a:t>
            </a:r>
            <a:endParaRPr lang="en-US" noProof="0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689" tIns="46845" rIns="93689" bIns="46845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61225" indent="-292779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71117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39563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08010" indent="-234224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576456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44903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13349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3981797" indent="-23422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4A5E665-1AE7-4DEA-93CF-31FECE5D1D5F}" type="slidenum">
              <a:rPr lang="it-IT" sz="1300"/>
              <a:pPr eaLnBrk="1" hangingPunct="1"/>
              <a:t>6</a:t>
            </a:fld>
            <a:endParaRPr lang="it-IT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 in the sense of utterance, concrete linguistic production, is the place where all the intermediate structures</a:t>
            </a:r>
            <a:r>
              <a:rPr lang="en-US" baseline="0" dirty="0"/>
              <a:t> cooperate to (hopefully) communicate a clear, non ambiguous message. Thus, the real “sign” is the text.</a:t>
            </a:r>
          </a:p>
          <a:p>
            <a:r>
              <a:rPr lang="en-US" baseline="0" dirty="0"/>
              <a:t>Intermediate structures, as long as they are in the “language” and not used, are extremely fuzzy, waiting for a concrete situation of use to disambiguate their possible meaning. It is not until I use a sentence like “I’m going home” that the lexeme “go” gets to mean “to move”.</a:t>
            </a:r>
          </a:p>
          <a:p>
            <a:r>
              <a:rPr lang="en-US" baseline="0" dirty="0"/>
              <a:t>Furthermore, we may notice that it is not until someone very specific says “I’m going home” that “home” becomes a specific place….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7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87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Co-text: the «text </a:t>
            </a:r>
            <a:r>
              <a:rPr lang="it-IT" dirty="0" err="1"/>
              <a:t>around</a:t>
            </a:r>
            <a:r>
              <a:rPr lang="it-IT" dirty="0"/>
              <a:t>». E.g.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say</a:t>
            </a:r>
            <a:r>
              <a:rPr lang="it-IT" dirty="0"/>
              <a:t> «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won</a:t>
            </a:r>
            <a:r>
              <a:rPr lang="it-IT" dirty="0"/>
              <a:t> the</a:t>
            </a:r>
            <a:r>
              <a:rPr lang="it-IT" baseline="0" dirty="0"/>
              <a:t> match» </a:t>
            </a:r>
            <a:r>
              <a:rPr lang="it-IT" baseline="0" dirty="0" err="1"/>
              <a:t>it’s</a:t>
            </a:r>
            <a:r>
              <a:rPr lang="it-IT" baseline="0" dirty="0"/>
              <a:t> the co-text </a:t>
            </a:r>
            <a:r>
              <a:rPr lang="it-IT" baseline="0" dirty="0" err="1"/>
              <a:t>that</a:t>
            </a:r>
            <a:r>
              <a:rPr lang="it-IT" baseline="0" dirty="0"/>
              <a:t> </a:t>
            </a:r>
            <a:r>
              <a:rPr lang="it-IT" baseline="0" dirty="0" err="1"/>
              <a:t>makes</a:t>
            </a:r>
            <a:r>
              <a:rPr lang="it-IT" baseline="0" dirty="0"/>
              <a:t> </a:t>
            </a:r>
            <a:r>
              <a:rPr lang="it-IT" baseline="0" dirty="0" err="1"/>
              <a:t>it</a:t>
            </a:r>
            <a:r>
              <a:rPr lang="it-IT" baseline="0" dirty="0"/>
              <a:t> </a:t>
            </a:r>
            <a:r>
              <a:rPr lang="it-IT" baseline="0" dirty="0" err="1"/>
              <a:t>clear</a:t>
            </a:r>
            <a:r>
              <a:rPr lang="it-IT" baseline="0" dirty="0"/>
              <a:t> </a:t>
            </a:r>
            <a:r>
              <a:rPr lang="it-IT" baseline="0" dirty="0" err="1"/>
              <a:t>that</a:t>
            </a:r>
            <a:r>
              <a:rPr lang="it-IT" baseline="0" dirty="0"/>
              <a:t> «match» </a:t>
            </a:r>
            <a:r>
              <a:rPr lang="it-IT" baseline="0" dirty="0" err="1"/>
              <a:t>means</a:t>
            </a:r>
            <a:r>
              <a:rPr lang="it-IT" baseline="0" dirty="0"/>
              <a:t> </a:t>
            </a:r>
            <a:r>
              <a:rPr lang="it-IT" baseline="0" dirty="0" err="1"/>
              <a:t>competition</a:t>
            </a:r>
            <a:r>
              <a:rPr lang="it-IT" baseline="0" dirty="0"/>
              <a:t> and not «</a:t>
            </a:r>
            <a:r>
              <a:rPr lang="it-IT" baseline="0" dirty="0" err="1"/>
              <a:t>stick</a:t>
            </a:r>
            <a:r>
              <a:rPr lang="it-IT" baseline="0" dirty="0"/>
              <a:t> for lighting </a:t>
            </a:r>
            <a:r>
              <a:rPr lang="it-IT" baseline="0" dirty="0" err="1"/>
              <a:t>fire</a:t>
            </a:r>
            <a:r>
              <a:rPr lang="it-IT" baseline="0" dirty="0"/>
              <a:t>».</a:t>
            </a:r>
          </a:p>
          <a:p>
            <a:r>
              <a:rPr lang="it-IT" baseline="0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75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I complete the sentence with “</a:t>
            </a:r>
            <a:r>
              <a:rPr lang="it-IT" dirty="0"/>
              <a:t>He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dirty="0" err="1"/>
              <a:t>loaned</a:t>
            </a:r>
            <a:r>
              <a:rPr lang="it-IT" dirty="0"/>
              <a:t> me 5k», Aldo </a:t>
            </a:r>
            <a:r>
              <a:rPr lang="it-IT" dirty="0" err="1"/>
              <a:t>is</a:t>
            </a:r>
            <a:r>
              <a:rPr lang="it-IT" dirty="0"/>
              <a:t> a loan </a:t>
            </a:r>
            <a:r>
              <a:rPr lang="it-IT" dirty="0" err="1"/>
              <a:t>shark</a:t>
            </a:r>
            <a:r>
              <a:rPr lang="it-IT" dirty="0"/>
              <a:t>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instead</a:t>
            </a:r>
            <a:r>
              <a:rPr lang="it-IT" dirty="0"/>
              <a:t> I complete </a:t>
            </a:r>
            <a:r>
              <a:rPr lang="it-IT" dirty="0" err="1"/>
              <a:t>it</a:t>
            </a:r>
            <a:r>
              <a:rPr lang="it-IT" dirty="0"/>
              <a:t> with «He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dirty="0" err="1"/>
              <a:t>loaned</a:t>
            </a:r>
            <a:r>
              <a:rPr lang="it-IT" dirty="0"/>
              <a:t> me 15k», he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and kind.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</a:t>
            </a:r>
            <a:r>
              <a:rPr lang="it-IT" dirty="0"/>
              <a:t>s </a:t>
            </a:r>
            <a:r>
              <a:rPr lang="it-IT" dirty="0" err="1"/>
              <a:t>regards</a:t>
            </a:r>
            <a:r>
              <a:rPr lang="it-IT" dirty="0"/>
              <a:t> Louis: in the first </a:t>
            </a:r>
            <a:r>
              <a:rPr lang="it-IT" dirty="0" err="1"/>
              <a:t>sentence</a:t>
            </a:r>
            <a:r>
              <a:rPr lang="it-IT" dirty="0"/>
              <a:t> the PC </a:t>
            </a:r>
            <a:r>
              <a:rPr lang="it-IT" dirty="0" err="1"/>
              <a:t>is</a:t>
            </a:r>
            <a:r>
              <a:rPr lang="it-IT" dirty="0"/>
              <a:t> a reward; in the second, I </a:t>
            </a:r>
            <a:r>
              <a:rPr lang="it-IT" dirty="0" err="1"/>
              <a:t>am</a:t>
            </a:r>
            <a:r>
              <a:rPr lang="it-IT" dirty="0"/>
              <a:t> </a:t>
            </a:r>
            <a:r>
              <a:rPr lang="it-IT" dirty="0" err="1"/>
              <a:t>talking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his</a:t>
            </a:r>
            <a:r>
              <a:rPr lang="it-IT" dirty="0"/>
              <a:t> computer science skills.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Context: the </a:t>
            </a:r>
            <a:r>
              <a:rPr lang="it-IT" baseline="0" dirty="0" err="1"/>
              <a:t>environment</a:t>
            </a:r>
            <a:r>
              <a:rPr lang="it-IT" baseline="0" dirty="0"/>
              <a:t> in </a:t>
            </a:r>
            <a:r>
              <a:rPr lang="it-IT" baseline="0" dirty="0" err="1"/>
              <a:t>broad</a:t>
            </a:r>
            <a:r>
              <a:rPr lang="it-IT" baseline="0" dirty="0"/>
              <a:t> </a:t>
            </a:r>
            <a:r>
              <a:rPr lang="it-IT" baseline="0" dirty="0" err="1"/>
              <a:t>sense</a:t>
            </a:r>
            <a:r>
              <a:rPr lang="it-IT" baseline="0" dirty="0"/>
              <a:t>. «</a:t>
            </a:r>
            <a:r>
              <a:rPr lang="it-IT" baseline="0" dirty="0" err="1"/>
              <a:t>Give</a:t>
            </a:r>
            <a:r>
              <a:rPr lang="it-IT" baseline="0" dirty="0"/>
              <a:t> me the book»: </a:t>
            </a:r>
            <a:r>
              <a:rPr lang="it-IT" baseline="0" dirty="0" err="1"/>
              <a:t>what</a:t>
            </a:r>
            <a:r>
              <a:rPr lang="it-IT" baseline="0" dirty="0"/>
              <a:t> book </a:t>
            </a:r>
            <a:r>
              <a:rPr lang="it-IT" baseline="0" dirty="0" err="1"/>
              <a:t>becomes</a:t>
            </a:r>
            <a:r>
              <a:rPr lang="it-IT" baseline="0" dirty="0"/>
              <a:t> </a:t>
            </a:r>
            <a:r>
              <a:rPr lang="it-IT" baseline="0" dirty="0" err="1"/>
              <a:t>clear</a:t>
            </a:r>
            <a:r>
              <a:rPr lang="it-IT" baseline="0" dirty="0"/>
              <a:t> </a:t>
            </a:r>
            <a:r>
              <a:rPr lang="it-IT" baseline="0" dirty="0" err="1"/>
              <a:t>through</a:t>
            </a:r>
            <a:r>
              <a:rPr lang="it-IT" baseline="0" dirty="0"/>
              <a:t> the context (e.g. the one on a </a:t>
            </a:r>
            <a:r>
              <a:rPr lang="it-IT" baseline="0" dirty="0" err="1"/>
              <a:t>table</a:t>
            </a:r>
            <a:r>
              <a:rPr lang="it-IT" baseline="0" dirty="0"/>
              <a:t> </a:t>
            </a:r>
            <a:r>
              <a:rPr lang="it-IT" baseline="0" dirty="0" err="1"/>
              <a:t>I’m</a:t>
            </a:r>
            <a:r>
              <a:rPr lang="it-IT" baseline="0" dirty="0"/>
              <a:t> </a:t>
            </a:r>
            <a:r>
              <a:rPr lang="it-IT" baseline="0" dirty="0" err="1"/>
              <a:t>directly</a:t>
            </a:r>
            <a:r>
              <a:rPr lang="it-IT" baseline="0" dirty="0"/>
              <a:t> looking </a:t>
            </a:r>
            <a:r>
              <a:rPr lang="it-IT" baseline="0" dirty="0" err="1"/>
              <a:t>at</a:t>
            </a:r>
            <a:r>
              <a:rPr lang="it-IT" baseline="0" dirty="0"/>
              <a:t>). The 10.30 </a:t>
            </a:r>
            <a:r>
              <a:rPr lang="it-IT" baseline="0" dirty="0" err="1"/>
              <a:t>means</a:t>
            </a:r>
            <a:r>
              <a:rPr lang="it-IT" baseline="0" dirty="0"/>
              <a:t> «</a:t>
            </a:r>
            <a:r>
              <a:rPr lang="it-IT" baseline="0" dirty="0" err="1"/>
              <a:t>we</a:t>
            </a:r>
            <a:r>
              <a:rPr lang="it-IT" baseline="0" dirty="0"/>
              <a:t> are late!» </a:t>
            </a:r>
            <a:r>
              <a:rPr lang="it-IT" baseline="0" dirty="0" err="1"/>
              <a:t>during</a:t>
            </a:r>
            <a:r>
              <a:rPr lang="it-IT" baseline="0" dirty="0"/>
              <a:t> a </a:t>
            </a:r>
            <a:r>
              <a:rPr lang="it-IT" baseline="0" dirty="0" err="1"/>
              <a:t>rubbery</a:t>
            </a:r>
            <a:r>
              <a:rPr lang="it-IT" baseline="0" dirty="0"/>
              <a:t> is </a:t>
            </a:r>
            <a:r>
              <a:rPr lang="it-IT" baseline="0" dirty="0" err="1"/>
              <a:t>related</a:t>
            </a:r>
            <a:r>
              <a:rPr lang="it-IT" baseline="0" dirty="0"/>
              <a:t> to the context (e.g. </a:t>
            </a:r>
            <a:r>
              <a:rPr lang="it-IT" baseline="0" dirty="0" err="1"/>
              <a:t>we</a:t>
            </a:r>
            <a:r>
              <a:rPr lang="it-IT" baseline="0" dirty="0"/>
              <a:t> know </a:t>
            </a:r>
            <a:r>
              <a:rPr lang="it-IT" baseline="0" dirty="0" err="1"/>
              <a:t>guards</a:t>
            </a:r>
            <a:r>
              <a:rPr lang="it-IT" baseline="0" dirty="0"/>
              <a:t> </a:t>
            </a:r>
            <a:r>
              <a:rPr lang="it-IT" baseline="0" dirty="0" err="1"/>
              <a:t>will</a:t>
            </a:r>
            <a:r>
              <a:rPr lang="it-IT" baseline="0" dirty="0"/>
              <a:t> be back in a </a:t>
            </a:r>
            <a:r>
              <a:rPr lang="it-IT" baseline="0" dirty="0" err="1"/>
              <a:t>few</a:t>
            </a:r>
            <a:r>
              <a:rPr lang="it-IT" baseline="0" dirty="0"/>
              <a:t>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0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Background knowledge: </a:t>
            </a:r>
            <a:r>
              <a:rPr lang="it-IT" baseline="0" dirty="0" err="1"/>
              <a:t>we</a:t>
            </a:r>
            <a:r>
              <a:rPr lang="it-IT" baseline="0" dirty="0"/>
              <a:t> </a:t>
            </a:r>
            <a:r>
              <a:rPr lang="it-IT" baseline="0" dirty="0" err="1"/>
              <a:t>understand</a:t>
            </a:r>
            <a:r>
              <a:rPr lang="it-IT" baseline="0" dirty="0"/>
              <a:t> </a:t>
            </a:r>
            <a:r>
              <a:rPr lang="it-IT" baseline="0" dirty="0" err="1"/>
              <a:t>what</a:t>
            </a:r>
            <a:r>
              <a:rPr lang="it-IT" baseline="0" dirty="0"/>
              <a:t> part of the </a:t>
            </a:r>
            <a:r>
              <a:rPr lang="it-IT" baseline="0" dirty="0" err="1"/>
              <a:t>eye</a:t>
            </a:r>
            <a:r>
              <a:rPr lang="it-IT" baseline="0" dirty="0"/>
              <a:t> </a:t>
            </a:r>
            <a:r>
              <a:rPr lang="it-IT" baseline="0" dirty="0" err="1"/>
              <a:t>we</a:t>
            </a:r>
            <a:r>
              <a:rPr lang="it-IT" baseline="0" dirty="0"/>
              <a:t> are speaking </a:t>
            </a:r>
            <a:r>
              <a:rPr lang="it-IT" baseline="0" dirty="0" err="1"/>
              <a:t>about</a:t>
            </a:r>
            <a:r>
              <a:rPr lang="it-IT" baseline="0" dirty="0"/>
              <a:t> thanks to </a:t>
            </a:r>
            <a:r>
              <a:rPr lang="it-IT" baseline="0" dirty="0" err="1"/>
              <a:t>our</a:t>
            </a:r>
            <a:r>
              <a:rPr lang="it-IT" baseline="0" dirty="0"/>
              <a:t> knowledge of the world. </a:t>
            </a:r>
            <a:r>
              <a:rPr lang="it-IT" baseline="0" dirty="0" err="1"/>
              <a:t>We</a:t>
            </a:r>
            <a:r>
              <a:rPr lang="it-IT" baseline="0" dirty="0"/>
              <a:t> know </a:t>
            </a:r>
            <a:r>
              <a:rPr lang="it-IT" baseline="0" dirty="0" err="1"/>
              <a:t>that</a:t>
            </a:r>
            <a:r>
              <a:rPr lang="it-IT" baseline="0" dirty="0"/>
              <a:t> </a:t>
            </a:r>
            <a:r>
              <a:rPr lang="it-IT" baseline="0" dirty="0" err="1"/>
              <a:t>eyes</a:t>
            </a:r>
            <a:r>
              <a:rPr lang="it-IT" baseline="0" dirty="0"/>
              <a:t> </a:t>
            </a:r>
            <a:r>
              <a:rPr lang="it-IT" baseline="0" dirty="0" err="1"/>
              <a:t>can’t</a:t>
            </a:r>
            <a:r>
              <a:rPr lang="it-IT" baseline="0" dirty="0"/>
              <a:t> be red in the </a:t>
            </a:r>
            <a:r>
              <a:rPr lang="it-IT" baseline="0" dirty="0" err="1"/>
              <a:t>pupil</a:t>
            </a:r>
            <a:r>
              <a:rPr lang="it-IT" baseline="0" dirty="0"/>
              <a:t>, so </a:t>
            </a:r>
            <a:r>
              <a:rPr lang="it-IT" baseline="0" dirty="0" err="1"/>
              <a:t>it</a:t>
            </a:r>
            <a:r>
              <a:rPr lang="it-IT" baseline="0" dirty="0"/>
              <a:t> must be the </a:t>
            </a:r>
            <a:r>
              <a:rPr lang="it-IT" baseline="0" dirty="0" err="1"/>
              <a:t>surrounding</a:t>
            </a:r>
            <a:r>
              <a:rPr lang="it-IT" baseline="0" dirty="0"/>
              <a:t> area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90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</a:t>
            </a:r>
            <a:r>
              <a:rPr lang="en-US" baseline="0" dirty="0"/>
              <a:t> GORUND: </a:t>
            </a:r>
            <a:r>
              <a:rPr lang="en-US" dirty="0"/>
              <a:t>Individuals engaged in conversation must </a:t>
            </a:r>
            <a:r>
              <a:rPr lang="en-US" u="sng" dirty="0"/>
              <a:t>share knowledge </a:t>
            </a:r>
            <a:r>
              <a:rPr lang="en-US" dirty="0"/>
              <a:t>in order to be understood and have a meaningful conversation (Clark, 1985).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6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text is neither right nor wrong in terms of common ground: being right or wrong depend on</a:t>
            </a:r>
            <a:r>
              <a:rPr lang="en-US" baseline="0" dirty="0"/>
              <a:t> WHO the intended addressee is. It is crucial to know what kind of knowledge is shared with the addressee and can be therefore taken for granted.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81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8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2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">
    <p:bg>
      <p:bgPr>
        <a:solidFill>
          <a:srgbClr val="32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/>
          <p:cNvSpPr/>
          <p:nvPr userDrawn="1"/>
        </p:nvSpPr>
        <p:spPr>
          <a:xfrm>
            <a:off x="0" y="0"/>
            <a:ext cx="9144000" cy="1123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n>
                <a:noFill/>
              </a:ln>
              <a:solidFill>
                <a:srgbClr val="32142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>
            <a:normAutofit/>
          </a:bodyPr>
          <a:lstStyle>
            <a:lvl1pPr marL="0" indent="0" algn="l" eaLnBrk="1" latinLnBrk="0" hangingPunct="1">
              <a:buNone/>
              <a:defRPr kumimoji="0" lang="it-IT" sz="20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</a:lstStyle>
          <a:p>
            <a:pPr eaLnBrk="1" latinLnBrk="0" hangingPunct="1"/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it-IT" sz="1800">
                <a:solidFill>
                  <a:srgbClr val="FFFFFF"/>
                </a:solidFill>
              </a:defRPr>
            </a:lvl1pPr>
          </a:lstStyle>
          <a:p>
            <a:fld id="{047E157E-8DCB-4F70-A0AF-5EB586A91DD4}" type="datetime1">
              <a:rPr lang="it-IT" smtClean="0"/>
              <a:pPr/>
              <a:t>17/02/2025</a:t>
            </a:fld>
            <a:endParaRPr lang="it-IT" dirty="0"/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>
            <a:normAutofit/>
          </a:bodyPr>
          <a:lstStyle>
            <a:lvl1pPr eaLnBrk="1" latinLnBrk="0" hangingPunct="1">
              <a:defRPr kumimoji="0" lang="it-IT" sz="3600" cap="all" baseline="0"/>
            </a:lvl1pPr>
          </a:lstStyle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pic>
        <p:nvPicPr>
          <p:cNvPr id="14" name="Immagine 13" descr="LogoHOCposi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180000"/>
            <a:ext cx="1905000" cy="799704"/>
          </a:xfrm>
          <a:prstGeom prst="rect">
            <a:avLst/>
          </a:prstGeom>
        </p:spPr>
      </p:pic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438399" y="209550"/>
            <a:ext cx="5514393" cy="298848"/>
          </a:xfrm>
        </p:spPr>
        <p:txBody>
          <a:bodyPr/>
          <a:lstStyle>
            <a:lvl1pPr algn="r" eaLnBrk="1" latinLnBrk="0" hangingPunct="1">
              <a:defRPr kumimoji="0" lang="it-IT">
                <a:solidFill>
                  <a:schemeClr val="bg2"/>
                </a:solidFill>
              </a:defRPr>
            </a:lvl1pPr>
          </a:lstStyle>
          <a:p>
            <a:r>
              <a:rPr lang="it-IT" dirty="0"/>
              <a:t>Pie di pagina</a:t>
            </a:r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09550"/>
            <a:ext cx="8382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rgbClr val="321428"/>
                </a:solidFill>
              </a:defRPr>
            </a:lvl1pPr>
          </a:lstStyle>
          <a:p>
            <a:fld id="{8F82E0A0-C266-4798-8C8F-B9F91E9DA37E}" type="slidenum">
              <a:rPr lang="it-IT" smtClean="0"/>
              <a:pPr/>
              <a:t>‹#›</a:t>
            </a:fld>
            <a:endParaRPr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it-IT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it-IT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it-IT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it-IT"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it-IT" dirty="0"/>
              <a:t>Fare clic per modificare lo stile del titolo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it-IT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2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it-IT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it-IT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chemeClr val="tx2"/>
                </a:solidFill>
              </a:rPr>
              <a:pPr/>
              <a:t>‹#›</a:t>
            </a:fld>
            <a:endParaRPr kumimoji="0" lang="it-IT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it-IT" sz="4200" b="0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it-IT" sz="1800"/>
            </a:lvl1pPr>
            <a:lvl2pPr eaLnBrk="1" latinLnBrk="0" hangingPunct="1">
              <a:buNone/>
              <a:defRPr kumimoji="0" lang="it-IT" sz="1200"/>
            </a:lvl2pPr>
            <a:lvl3pPr eaLnBrk="1" latinLnBrk="0" hangingPunct="1">
              <a:buNone/>
              <a:defRPr kumimoji="0" lang="it-IT" sz="1000"/>
            </a:lvl3pPr>
            <a:lvl4pPr eaLnBrk="1" latinLnBrk="0" hangingPunct="1">
              <a:buNone/>
              <a:defRPr kumimoji="0" lang="it-IT" sz="900"/>
            </a:lvl4pPr>
            <a:lvl5pPr eaLnBrk="1" latinLnBrk="0" hangingPunct="1"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accent2"/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it-IT" sz="3200"/>
            </a:lvl1pPr>
          </a:lstStyle>
          <a:p>
            <a:r>
              <a:rPr kumimoji="0" lang="en-US" dirty="0"/>
              <a:t>Click icon to add picture</a:t>
            </a:r>
            <a:endParaRPr kumimoji="0" lang="it-I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it-IT" sz="1700"/>
            </a:lvl1pPr>
            <a:lvl2pPr eaLnBrk="1" latinLnBrk="0" hangingPunct="1">
              <a:buFontTx/>
              <a:buNone/>
              <a:defRPr kumimoji="0" lang="it-IT" sz="1200"/>
            </a:lvl2pPr>
            <a:lvl3pPr eaLnBrk="1" latinLnBrk="0" hangingPunct="1">
              <a:buFontTx/>
              <a:buNone/>
              <a:defRPr kumimoji="0" lang="it-IT" sz="1000"/>
            </a:lvl3pPr>
            <a:lvl4pPr eaLnBrk="1" latinLnBrk="0" hangingPunct="1">
              <a:buFontTx/>
              <a:buNone/>
              <a:defRPr kumimoji="0" lang="it-IT" sz="900"/>
            </a:lvl4pPr>
            <a:lvl5pPr eaLnBrk="1" latinLnBrk="0" hangingPunct="1">
              <a:buFontTx/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it-IT" sz="2800" b="0">
                <a:solidFill>
                  <a:srgbClr val="FFFFFF"/>
                </a:solidFill>
              </a:defRPr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it-IT" sz="2800"/>
            </a:lvl1pPr>
          </a:lstStyle>
          <a:p>
            <a:pPr algn="ctr"/>
            <a:fld id="{8F82E0A0-C266-4798-8C8F-B9F91E9DA37E}" type="slidenum">
              <a:rPr kumimoji="0" lang="it-IT" sz="28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3488-01EC-4A4D-A083-6DE0E0FEB312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7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 lang="en-US"/>
              <a:pPr/>
              <a:t>2/17/2025</a:t>
            </a:fld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pPr algn="r"/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it-IT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txStyles>
    <p:titleStyle>
      <a:lvl1pPr algn="l" rtl="0" eaLnBrk="1" latinLnBrk="0" hangingPunct="1">
        <a:spcBef>
          <a:spcPct val="0"/>
        </a:spcBef>
        <a:buNone/>
        <a:defRPr kumimoji="0" lang="it-IT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it-IT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it-IT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COMMUNICATION: BASIC PRINCIPLES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Nicoletta Di Blas - </a:t>
            </a:r>
            <a:r>
              <a:rPr lang="it-IT" dirty="0" err="1"/>
              <a:t>Introduction</a:t>
            </a:r>
            <a:endParaRPr lang="it-IT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sign</a:t>
            </a:r>
            <a:r>
              <a:rPr lang="it-IT" dirty="0"/>
              <a:t>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sz="2800" dirty="0" err="1"/>
              <a:t>Definitions</a:t>
            </a:r>
            <a:r>
              <a:rPr lang="it-IT" sz="2800" dirty="0"/>
              <a:t> by Thomas </a:t>
            </a:r>
            <a:r>
              <a:rPr lang="it-IT" sz="2800" dirty="0" err="1"/>
              <a:t>Aquinas</a:t>
            </a:r>
            <a:endParaRPr lang="it-IT" sz="2800" dirty="0"/>
          </a:p>
          <a:p>
            <a:pPr eaLnBrk="1" hangingPunct="1"/>
            <a:r>
              <a:rPr lang="it-IT" sz="2800" dirty="0" err="1"/>
              <a:t>Communiter</a:t>
            </a:r>
            <a:r>
              <a:rPr lang="it-IT" sz="2800" dirty="0"/>
              <a:t> </a:t>
            </a:r>
            <a:r>
              <a:rPr lang="it-IT" sz="2800" dirty="0" err="1"/>
              <a:t>possumus</a:t>
            </a:r>
            <a:r>
              <a:rPr lang="it-IT" sz="2800" dirty="0"/>
              <a:t> </a:t>
            </a:r>
            <a:r>
              <a:rPr lang="it-IT" sz="2800" dirty="0" err="1"/>
              <a:t>signum</a:t>
            </a:r>
            <a:r>
              <a:rPr lang="it-IT" sz="2800" dirty="0"/>
              <a:t> </a:t>
            </a:r>
            <a:r>
              <a:rPr lang="it-IT" sz="2800" dirty="0" err="1"/>
              <a:t>dicere</a:t>
            </a:r>
            <a:r>
              <a:rPr lang="it-IT" sz="2800" dirty="0"/>
              <a:t> </a:t>
            </a:r>
            <a:r>
              <a:rPr lang="it-IT" sz="2800" dirty="0" err="1"/>
              <a:t>quodcumque</a:t>
            </a:r>
            <a:r>
              <a:rPr lang="it-IT" sz="2800" dirty="0"/>
              <a:t> </a:t>
            </a:r>
            <a:r>
              <a:rPr lang="it-IT" sz="2800" dirty="0" err="1"/>
              <a:t>notum</a:t>
            </a:r>
            <a:r>
              <a:rPr lang="it-IT" sz="2800" dirty="0"/>
              <a:t> in quo </a:t>
            </a:r>
            <a:r>
              <a:rPr lang="it-IT" sz="2800" dirty="0" err="1"/>
              <a:t>aliquid</a:t>
            </a:r>
            <a:r>
              <a:rPr lang="it-IT" sz="2800" dirty="0"/>
              <a:t> </a:t>
            </a:r>
            <a:r>
              <a:rPr lang="it-IT" sz="2800" dirty="0" err="1"/>
              <a:t>cognoscatur</a:t>
            </a:r>
            <a:r>
              <a:rPr lang="it-IT" sz="2800" dirty="0"/>
              <a:t> (</a:t>
            </a:r>
            <a:r>
              <a:rPr lang="it-IT" sz="2800" i="1" dirty="0" err="1"/>
              <a:t>Quaestiones</a:t>
            </a:r>
            <a:r>
              <a:rPr lang="it-IT" sz="2800" i="1" dirty="0"/>
              <a:t> </a:t>
            </a:r>
            <a:r>
              <a:rPr lang="it-IT" sz="2800" i="1" dirty="0" err="1"/>
              <a:t>disputatae</a:t>
            </a:r>
            <a:r>
              <a:rPr lang="it-IT" sz="2800" i="1" dirty="0"/>
              <a:t> de </a:t>
            </a:r>
            <a:r>
              <a:rPr lang="it-IT" sz="2800" i="1" dirty="0" err="1"/>
              <a:t>Veritate</a:t>
            </a:r>
            <a:r>
              <a:rPr lang="it-IT" sz="2800"/>
              <a:t>, q.9, a.4</a:t>
            </a:r>
            <a:r>
              <a:rPr lang="it-IT" sz="2800" dirty="0"/>
              <a:t>, ad 4)</a:t>
            </a:r>
          </a:p>
          <a:p>
            <a:pPr eaLnBrk="1" hangingPunct="1"/>
            <a:r>
              <a:rPr lang="it-IT" sz="2800" dirty="0" err="1"/>
              <a:t>Signum</a:t>
            </a:r>
            <a:r>
              <a:rPr lang="it-IT" sz="2800" dirty="0"/>
              <a:t>, quantum est in se, </a:t>
            </a:r>
            <a:r>
              <a:rPr lang="it-IT" sz="2800" dirty="0" err="1"/>
              <a:t>importat</a:t>
            </a:r>
            <a:r>
              <a:rPr lang="it-IT" sz="2800" dirty="0"/>
              <a:t> </a:t>
            </a:r>
            <a:r>
              <a:rPr lang="it-IT" sz="2800" dirty="0" err="1"/>
              <a:t>aliquid</a:t>
            </a:r>
            <a:r>
              <a:rPr lang="it-IT" sz="2800" dirty="0"/>
              <a:t> </a:t>
            </a:r>
            <a:r>
              <a:rPr lang="it-IT" sz="2800" dirty="0" err="1"/>
              <a:t>manifestum</a:t>
            </a:r>
            <a:r>
              <a:rPr lang="it-IT" sz="2800" dirty="0"/>
              <a:t> quo ad nos, quo </a:t>
            </a:r>
            <a:r>
              <a:rPr lang="it-IT" sz="2800" dirty="0" err="1"/>
              <a:t>manuducimur</a:t>
            </a:r>
            <a:r>
              <a:rPr lang="it-IT" sz="2800" dirty="0"/>
              <a:t> in </a:t>
            </a:r>
            <a:r>
              <a:rPr lang="it-IT" sz="2800" dirty="0" err="1"/>
              <a:t>cognitionem</a:t>
            </a:r>
            <a:r>
              <a:rPr lang="it-IT" sz="2800" dirty="0"/>
              <a:t> </a:t>
            </a:r>
            <a:r>
              <a:rPr lang="it-IT" sz="2800" dirty="0" err="1"/>
              <a:t>alicuius</a:t>
            </a:r>
            <a:r>
              <a:rPr lang="it-IT" sz="2800" dirty="0"/>
              <a:t> occulti (</a:t>
            </a:r>
            <a:r>
              <a:rPr lang="it-IT" sz="2800" i="1" dirty="0"/>
              <a:t>Scriptum super </a:t>
            </a:r>
            <a:r>
              <a:rPr lang="it-IT" sz="2800" i="1" dirty="0" err="1"/>
              <a:t>quatuor</a:t>
            </a:r>
            <a:r>
              <a:rPr lang="it-IT" sz="2800" i="1" dirty="0"/>
              <a:t> libris </a:t>
            </a:r>
            <a:r>
              <a:rPr lang="it-IT" sz="2800" i="1" dirty="0" err="1"/>
              <a:t>Sententiarum</a:t>
            </a:r>
            <a:r>
              <a:rPr lang="it-IT" sz="2800" i="1" dirty="0"/>
              <a:t> Magistri Petri Lombardi</a:t>
            </a:r>
            <a:r>
              <a:rPr lang="it-IT" sz="2800" dirty="0"/>
              <a:t>, IV, d. 1, q. 1, a. 1, ad 5)</a:t>
            </a:r>
          </a:p>
        </p:txBody>
      </p:sp>
    </p:spTree>
    <p:extLst>
      <p:ext uri="{BB962C8B-B14F-4D97-AF65-F5344CB8AC3E}">
        <p14:creationId xmlns:p14="http://schemas.microsoft.com/office/powerpoint/2010/main" val="3504218769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Linguistic signs “stand for”…</a:t>
            </a:r>
            <a:endParaRPr lang="en-US" sz="36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Four disrupting consequences:</a:t>
            </a:r>
          </a:p>
          <a:p>
            <a:pPr lvl="1" eaLnBrk="1" hangingPunct="1"/>
            <a:r>
              <a:rPr lang="en-US" dirty="0"/>
              <a:t>Knowledge (passing on – knowing things we do not experience)</a:t>
            </a:r>
          </a:p>
          <a:p>
            <a:pPr lvl="1" eaLnBrk="1" hangingPunct="1"/>
            <a:r>
              <a:rPr lang="en-US" dirty="0"/>
              <a:t>Philosophical thinking (e.g. the concept of “in-finite”)</a:t>
            </a:r>
          </a:p>
          <a:p>
            <a:pPr lvl="1" eaLnBrk="1" hangingPunct="1"/>
            <a:r>
              <a:rPr lang="en-US" dirty="0"/>
              <a:t>Creativity </a:t>
            </a:r>
          </a:p>
          <a:p>
            <a:pPr lvl="1" eaLnBrk="1" hangingPunct="1"/>
            <a:r>
              <a:rPr lang="en-US" dirty="0"/>
              <a:t>Lies (please don’t!)</a:t>
            </a:r>
          </a:p>
          <a:p>
            <a:pPr lvl="1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2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sign</a:t>
            </a:r>
            <a:r>
              <a:rPr lang="it-IT" dirty="0"/>
              <a:t> </a:t>
            </a:r>
            <a:r>
              <a:rPr lang="it-IT" sz="2000" dirty="0"/>
              <a:t>(F. De Saussure)</a:t>
            </a:r>
          </a:p>
        </p:txBody>
      </p:sp>
      <p:pic>
        <p:nvPicPr>
          <p:cNvPr id="6147" name="Picture 3" descr="sausdia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t="3128" r="5301" b="9384"/>
          <a:stretch>
            <a:fillRect/>
          </a:stretch>
        </p:blipFill>
        <p:spPr bwMode="auto">
          <a:xfrm>
            <a:off x="611561" y="1685590"/>
            <a:ext cx="3960439" cy="264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851670"/>
            <a:ext cx="22225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61422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Arbitrariness of signs: the signifier</a:t>
            </a:r>
            <a:endParaRPr lang="en-US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Pieces</a:t>
            </a:r>
            <a:r>
              <a:rPr lang="it-IT" dirty="0"/>
              <a:t> over a </a:t>
            </a:r>
            <a:r>
              <a:rPr lang="it-IT" dirty="0" err="1"/>
              <a:t>chessboard</a:t>
            </a:r>
            <a:r>
              <a:rPr lang="it-IT" dirty="0"/>
              <a:t>: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matters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different</a:t>
            </a:r>
            <a:r>
              <a:rPr lang="it-IT" dirty="0"/>
              <a:t> from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another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27734"/>
            <a:ext cx="2143125" cy="2143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3" y="3223917"/>
            <a:ext cx="2059062" cy="13711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0151" y="3651870"/>
            <a:ext cx="612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=</a:t>
            </a:r>
            <a:endParaRPr lang="en-US" sz="40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942" y="2808754"/>
            <a:ext cx="1935490" cy="193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3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Arbitrariness of signs: the signified</a:t>
            </a:r>
            <a:endParaRPr lang="en-US" sz="36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/>
              <a:t>Arbitrariness: </a:t>
            </a:r>
            <a:r>
              <a:rPr lang="it-IT" sz="2400" dirty="0"/>
              <a:t>of </a:t>
            </a:r>
            <a:r>
              <a:rPr lang="it-IT" sz="2400" dirty="0" err="1"/>
              <a:t>signifier</a:t>
            </a:r>
            <a:r>
              <a:rPr lang="it-IT" sz="2400" dirty="0"/>
              <a:t> and </a:t>
            </a:r>
            <a:r>
              <a:rPr lang="it-IT" sz="2400" dirty="0" err="1"/>
              <a:t>also</a:t>
            </a:r>
            <a:r>
              <a:rPr lang="it-IT" sz="2400" dirty="0"/>
              <a:t> of </a:t>
            </a:r>
            <a:r>
              <a:rPr lang="it-IT" sz="2400" dirty="0" err="1"/>
              <a:t>signified</a:t>
            </a:r>
            <a:endParaRPr lang="it-IT" sz="2400" dirty="0"/>
          </a:p>
          <a:p>
            <a:pPr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535746"/>
            <a:ext cx="1872208" cy="14041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367" y="2499742"/>
            <a:ext cx="1910737" cy="1433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499742"/>
            <a:ext cx="1985987" cy="140415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6704" y="2139702"/>
            <a:ext cx="7989752" cy="2376264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/>
          <p:cNvSpPr txBox="1"/>
          <p:nvPr/>
        </p:nvSpPr>
        <p:spPr>
          <a:xfrm>
            <a:off x="7092281" y="1779662"/>
            <a:ext cx="1761670" cy="830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BOIS</a:t>
            </a:r>
          </a:p>
          <a:p>
            <a:pPr algn="ctr"/>
            <a:r>
              <a:rPr lang="it-IT" sz="2000" b="1" dirty="0"/>
              <a:t>(in French)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5736" y="3651870"/>
            <a:ext cx="1296144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legna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7944" y="3651870"/>
            <a:ext cx="1440160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legname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00" y="3651870"/>
            <a:ext cx="1440160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bosco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5736" y="4083918"/>
            <a:ext cx="1296144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logs</a:t>
            </a:r>
            <a:endParaRPr lang="it-IT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067944" y="4043848"/>
            <a:ext cx="1440160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boards</a:t>
            </a:r>
            <a:endParaRPr lang="it-IT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372200" y="4043848"/>
            <a:ext cx="1440160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wood</a:t>
            </a: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315319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«text»?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Text: an extended structure of syntactic units; every </a:t>
            </a:r>
            <a:r>
              <a:rPr lang="en-US" i="1" dirty="0"/>
              <a:t>meaningful</a:t>
            </a:r>
            <a:r>
              <a:rPr lang="en-US" dirty="0"/>
              <a:t> linguistic production, both oral and written… (broad sense)</a:t>
            </a:r>
          </a:p>
        </p:txBody>
      </p:sp>
    </p:spTree>
    <p:extLst>
      <p:ext uri="{BB962C8B-B14F-4D97-AF65-F5344CB8AC3E}">
        <p14:creationId xmlns:p14="http://schemas.microsoft.com/office/powerpoint/2010/main" val="147181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are </a:t>
            </a:r>
            <a:r>
              <a:rPr lang="it-IT" dirty="0" err="1"/>
              <a:t>texts</a:t>
            </a:r>
            <a:r>
              <a:rPr lang="it-IT" dirty="0"/>
              <a:t> </a:t>
            </a:r>
            <a:r>
              <a:rPr lang="it-IT" dirty="0" err="1"/>
              <a:t>interpreted</a:t>
            </a:r>
            <a:r>
              <a:rPr lang="it-IT" dirty="0"/>
              <a:t>?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20" y="1419621"/>
            <a:ext cx="2727644" cy="3336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5976" y="2859782"/>
            <a:ext cx="3024336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u="sng" dirty="0"/>
              <a:t>Non</a:t>
            </a:r>
            <a:r>
              <a:rPr lang="it-IT" sz="2400" dirty="0"/>
              <a:t> </a:t>
            </a:r>
            <a:r>
              <a:rPr lang="it-IT" sz="2400" dirty="0" err="1"/>
              <a:t>verbal</a:t>
            </a:r>
            <a:r>
              <a:rPr lang="it-IT" sz="2400" dirty="0"/>
              <a:t> </a:t>
            </a:r>
            <a:r>
              <a:rPr lang="it-IT" sz="2400" dirty="0" err="1"/>
              <a:t>components</a:t>
            </a:r>
            <a:r>
              <a:rPr lang="it-IT" sz="2400" dirty="0"/>
              <a:t> of </a:t>
            </a:r>
            <a:r>
              <a:rPr lang="it-IT" sz="2400" dirty="0" err="1"/>
              <a:t>communication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355976" y="1779662"/>
            <a:ext cx="3312368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dirty="0" err="1"/>
              <a:t>Verbal</a:t>
            </a:r>
            <a:r>
              <a:rPr lang="it-IT" sz="2400" dirty="0"/>
              <a:t> </a:t>
            </a:r>
            <a:r>
              <a:rPr lang="it-IT" sz="2400" dirty="0" err="1"/>
              <a:t>components</a:t>
            </a:r>
            <a:r>
              <a:rPr lang="it-IT" sz="2400" dirty="0"/>
              <a:t> of </a:t>
            </a:r>
            <a:r>
              <a:rPr lang="it-IT" sz="2400" dirty="0" err="1"/>
              <a:t>communication</a:t>
            </a:r>
            <a:endParaRPr lang="en-US" sz="2400" dirty="0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2195736" y="2135882"/>
            <a:ext cx="2146260" cy="1"/>
          </a:xfrm>
          <a:prstGeom prst="straightConnector1">
            <a:avLst/>
          </a:prstGeom>
          <a:ln w="28575">
            <a:solidFill>
              <a:srgbClr val="34112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6FE29E-A830-4D48-B7AE-87A60B7573E9}"/>
              </a:ext>
            </a:extLst>
          </p:cNvPr>
          <p:cNvCxnSpPr>
            <a:cxnSpLocks/>
          </p:cNvCxnSpPr>
          <p:nvPr/>
        </p:nvCxnSpPr>
        <p:spPr>
          <a:xfrm flipH="1" flipV="1">
            <a:off x="2209716" y="3182947"/>
            <a:ext cx="2146260" cy="1"/>
          </a:xfrm>
          <a:prstGeom prst="straightConnector1">
            <a:avLst/>
          </a:prstGeom>
          <a:ln w="28575">
            <a:solidFill>
              <a:srgbClr val="34112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780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co-text/1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4250432" cy="3268624"/>
          </a:xfrm>
        </p:spPr>
        <p:txBody>
          <a:bodyPr>
            <a:normAutofit/>
          </a:bodyPr>
          <a:lstStyle/>
          <a:p>
            <a:r>
              <a:rPr lang="en-US" b="1" dirty="0"/>
              <a:t>Co-text</a:t>
            </a:r>
            <a:r>
              <a:rPr lang="en-US" dirty="0"/>
              <a:t>: the “text around”</a:t>
            </a:r>
          </a:p>
          <a:p>
            <a:pPr lvl="1"/>
            <a:r>
              <a:rPr lang="en-US" dirty="0"/>
              <a:t>Example: we won the match!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68FC1-6D9A-4F6F-A479-8D2569C6B2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941" y="1344276"/>
            <a:ext cx="3211059" cy="2400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B1A1FB-8DA4-4970-9501-563D86D90F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296563"/>
            <a:ext cx="2099320" cy="155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1125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co-text/2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The other sentences</a:t>
            </a:r>
          </a:p>
          <a:p>
            <a:pPr lvl="1"/>
            <a:r>
              <a:rPr lang="it-IT" dirty="0"/>
              <a:t>Aldo </a:t>
            </a:r>
            <a:r>
              <a:rPr lang="it-IT" dirty="0" err="1"/>
              <a:t>asked</a:t>
            </a:r>
            <a:r>
              <a:rPr lang="it-IT" dirty="0"/>
              <a:t> me for 10k </a:t>
            </a:r>
            <a:r>
              <a:rPr lang="it-IT" dirty="0" err="1"/>
              <a:t>euros</a:t>
            </a:r>
            <a:endParaRPr lang="it-IT" dirty="0"/>
          </a:p>
          <a:p>
            <a:pPr lvl="1"/>
            <a:r>
              <a:rPr lang="it-IT" dirty="0"/>
              <a:t>He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dirty="0" err="1"/>
              <a:t>loaned</a:t>
            </a:r>
            <a:r>
              <a:rPr lang="it-IT" dirty="0"/>
              <a:t> me 5k</a:t>
            </a:r>
          </a:p>
          <a:p>
            <a:pPr lvl="1"/>
            <a:r>
              <a:rPr lang="it-IT" dirty="0"/>
              <a:t>He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dirty="0" err="1"/>
              <a:t>loaned</a:t>
            </a:r>
            <a:r>
              <a:rPr lang="it-IT" dirty="0"/>
              <a:t> me 15k</a:t>
            </a:r>
          </a:p>
          <a:p>
            <a:r>
              <a:rPr lang="en-US" b="1" dirty="0"/>
              <a:t>The arrangement of the sentences</a:t>
            </a:r>
          </a:p>
          <a:p>
            <a:pPr lvl="1"/>
            <a:r>
              <a:rPr lang="it-IT" dirty="0"/>
              <a:t>Louis is </a:t>
            </a:r>
            <a:r>
              <a:rPr lang="it-IT" dirty="0" err="1"/>
              <a:t>quite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. His </a:t>
            </a:r>
            <a:r>
              <a:rPr lang="it-IT" dirty="0" err="1"/>
              <a:t>dad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bought</a:t>
            </a:r>
            <a:r>
              <a:rPr lang="it-IT" dirty="0"/>
              <a:t> </a:t>
            </a:r>
            <a:r>
              <a:rPr lang="it-IT" dirty="0" err="1"/>
              <a:t>him</a:t>
            </a:r>
            <a:r>
              <a:rPr lang="it-IT" dirty="0"/>
              <a:t> a PC</a:t>
            </a:r>
          </a:p>
          <a:p>
            <a:pPr lvl="1"/>
            <a:r>
              <a:rPr lang="it-IT" dirty="0"/>
              <a:t>His </a:t>
            </a:r>
            <a:r>
              <a:rPr lang="it-IT" dirty="0" err="1"/>
              <a:t>dad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bought</a:t>
            </a:r>
            <a:r>
              <a:rPr lang="it-IT" dirty="0"/>
              <a:t> </a:t>
            </a:r>
            <a:r>
              <a:rPr lang="it-IT" dirty="0" err="1"/>
              <a:t>him</a:t>
            </a:r>
            <a:r>
              <a:rPr lang="it-IT" dirty="0"/>
              <a:t> a PC. Louis is </a:t>
            </a:r>
            <a:r>
              <a:rPr lang="it-IT" dirty="0" err="1"/>
              <a:t>quite</a:t>
            </a:r>
            <a:r>
              <a:rPr lang="it-IT" dirty="0"/>
              <a:t> </a:t>
            </a:r>
            <a:r>
              <a:rPr lang="it-IT" dirty="0" err="1"/>
              <a:t>good</a:t>
            </a:r>
            <a:endParaRPr lang="it-IT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1526482"/>
            <a:ext cx="3886200" cy="2920799"/>
          </a:xfrm>
        </p:spPr>
      </p:pic>
    </p:spTree>
    <p:extLst>
      <p:ext uri="{BB962C8B-B14F-4D97-AF65-F5344CB8AC3E}">
        <p14:creationId xmlns:p14="http://schemas.microsoft.com/office/powerpoint/2010/main" val="699098690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con-text</a:t>
            </a:r>
            <a:endParaRPr lang="it-I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Con-text</a:t>
            </a:r>
            <a:r>
              <a:rPr lang="en-US" dirty="0"/>
              <a:t>: the “world around the text”</a:t>
            </a:r>
          </a:p>
          <a:p>
            <a:pPr lvl="1"/>
            <a:r>
              <a:rPr lang="en-US" dirty="0"/>
              <a:t>It’s 10.30!</a:t>
            </a:r>
          </a:p>
          <a:p>
            <a:pPr lvl="1"/>
            <a:r>
              <a:rPr lang="en-US" dirty="0"/>
              <a:t>Pass me the book…</a:t>
            </a:r>
          </a:p>
          <a:p>
            <a:pPr lvl="1"/>
            <a:endParaRPr lang="it-IT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1995686"/>
            <a:ext cx="3984104" cy="2697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E67E79-3873-4410-BF06-F68B4A20B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838457"/>
            <a:ext cx="2736304" cy="182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1856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“encyclopedia”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Our background knowledge about “the world”</a:t>
            </a:r>
          </a:p>
          <a:p>
            <a:pPr lvl="1"/>
            <a:r>
              <a:rPr lang="en-US" dirty="0"/>
              <a:t>Red eyes</a:t>
            </a:r>
          </a:p>
          <a:p>
            <a:pPr lvl="1"/>
            <a:r>
              <a:rPr lang="en-US" dirty="0"/>
              <a:t>Black eyes</a:t>
            </a:r>
          </a:p>
          <a:p>
            <a:pPr lvl="1"/>
            <a:r>
              <a:rPr lang="en-US" dirty="0"/>
              <a:t>Green eyes</a:t>
            </a:r>
          </a:p>
          <a:p>
            <a:pPr lvl="1"/>
            <a:r>
              <a:rPr lang="en-US" dirty="0"/>
              <a:t>White (of the) eyes</a:t>
            </a:r>
          </a:p>
          <a:p>
            <a:pPr lvl="1"/>
            <a:endParaRPr lang="it-IT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995685"/>
            <a:ext cx="3497585" cy="233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9837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needs</a:t>
            </a:r>
            <a:r>
              <a:rPr lang="it-IT" dirty="0"/>
              <a:t> to be </a:t>
            </a:r>
            <a:r>
              <a:rPr lang="it-IT" dirty="0" err="1"/>
              <a:t>understandable</a:t>
            </a:r>
            <a:r>
              <a:rPr lang="it-IT" dirty="0"/>
              <a:t> – i.e. the </a:t>
            </a:r>
            <a:r>
              <a:rPr lang="it-IT" dirty="0" err="1"/>
              <a:t>addressee</a:t>
            </a:r>
            <a:r>
              <a:rPr lang="it-IT" dirty="0"/>
              <a:t> </a:t>
            </a:r>
            <a:r>
              <a:rPr lang="it-IT" dirty="0" err="1"/>
              <a:t>needs</a:t>
            </a:r>
            <a:r>
              <a:rPr lang="it-IT" dirty="0"/>
              <a:t> to be </a:t>
            </a:r>
            <a:r>
              <a:rPr lang="it-IT" dirty="0" err="1"/>
              <a:t>capable</a:t>
            </a:r>
            <a:r>
              <a:rPr lang="it-IT" dirty="0"/>
              <a:t> of «</a:t>
            </a:r>
            <a:r>
              <a:rPr lang="it-IT" dirty="0" err="1"/>
              <a:t>locating</a:t>
            </a:r>
            <a:r>
              <a:rPr lang="it-IT" dirty="0"/>
              <a:t>» </a:t>
            </a:r>
            <a:r>
              <a:rPr lang="it-IT" dirty="0" err="1"/>
              <a:t>what</a:t>
            </a:r>
            <a:r>
              <a:rPr lang="it-IT" dirty="0"/>
              <a:t> the </a:t>
            </a:r>
            <a:r>
              <a:rPr lang="it-IT" dirty="0" err="1"/>
              <a:t>sender</a:t>
            </a:r>
            <a:r>
              <a:rPr lang="it-IT" dirty="0"/>
              <a:t> is </a:t>
            </a:r>
            <a:r>
              <a:rPr lang="it-IT" dirty="0" err="1"/>
              <a:t>talking</a:t>
            </a:r>
            <a:r>
              <a:rPr lang="it-IT" dirty="0"/>
              <a:t> </a:t>
            </a:r>
            <a:r>
              <a:rPr lang="it-IT" dirty="0" err="1"/>
              <a:t>about</a:t>
            </a:r>
            <a:endParaRPr lang="it-IT" dirty="0"/>
          </a:p>
          <a:p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</a:t>
            </a:r>
            <a:r>
              <a:rPr lang="it-IT" dirty="0" err="1"/>
              <a:t>build</a:t>
            </a:r>
            <a:r>
              <a:rPr lang="it-IT" dirty="0"/>
              <a:t> </a:t>
            </a:r>
            <a:r>
              <a:rPr lang="it-IT" dirty="0" err="1"/>
              <a:t>upon</a:t>
            </a:r>
            <a:r>
              <a:rPr lang="it-IT" dirty="0"/>
              <a:t> a «common </a:t>
            </a:r>
            <a:r>
              <a:rPr lang="it-IT" dirty="0" err="1"/>
              <a:t>ground</a:t>
            </a:r>
            <a:r>
              <a:rPr lang="it-IT" dirty="0"/>
              <a:t>» (i.e. common </a:t>
            </a:r>
            <a:r>
              <a:rPr lang="it-IT" dirty="0" err="1"/>
              <a:t>knowledge</a:t>
            </a:r>
            <a:r>
              <a:rPr lang="it-IT" dirty="0"/>
              <a:t>)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interlocutors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25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C214-62CD-4C48-B8DC-5360CFF3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B8D3-AD65-40CD-B3F6-44AB016E6A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Two mistakes:</a:t>
            </a:r>
          </a:p>
          <a:p>
            <a:pPr lvl="1"/>
            <a:r>
              <a:rPr lang="en-US" dirty="0"/>
              <a:t>Taking pieces of knowledge that are </a:t>
            </a:r>
            <a:r>
              <a:rPr lang="en-US" i="1" dirty="0"/>
              <a:t>not</a:t>
            </a:r>
            <a:r>
              <a:rPr lang="en-US" dirty="0"/>
              <a:t> shared for granted (the most common mistake)</a:t>
            </a:r>
            <a:endParaRPr lang="en-US" sz="3800" dirty="0"/>
          </a:p>
          <a:p>
            <a:pPr lvl="1"/>
            <a:r>
              <a:rPr lang="en-US" dirty="0"/>
              <a:t>Not taking for granted pieces of knowledge, beliefs and/or information that </a:t>
            </a:r>
            <a:r>
              <a:rPr lang="en-US" i="1" dirty="0"/>
              <a:t>are</a:t>
            </a:r>
            <a:r>
              <a:rPr lang="en-US" dirty="0"/>
              <a:t> shared. This kind of mistake, less common, originates verbose communications</a:t>
            </a:r>
          </a:p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70AEFE-88F9-477D-83F7-DF1B774CDF42}"/>
              </a:ext>
            </a:extLst>
          </p:cNvPr>
          <p:cNvSpPr/>
          <p:nvPr/>
        </p:nvSpPr>
        <p:spPr>
          <a:xfrm>
            <a:off x="5503218" y="2067694"/>
            <a:ext cx="1368152" cy="10058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D1B71C-A5DF-4B49-94CF-BC3E742F5D40}"/>
              </a:ext>
            </a:extLst>
          </p:cNvPr>
          <p:cNvSpPr/>
          <p:nvPr/>
        </p:nvSpPr>
        <p:spPr>
          <a:xfrm>
            <a:off x="6372200" y="1923678"/>
            <a:ext cx="1800200" cy="12241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4DB491-0633-4E37-B11B-C8B61B00B603}"/>
              </a:ext>
            </a:extLst>
          </p:cNvPr>
          <p:cNvGrpSpPr/>
          <p:nvPr/>
        </p:nvGrpSpPr>
        <p:grpSpPr>
          <a:xfrm>
            <a:off x="5292080" y="3073534"/>
            <a:ext cx="648072" cy="1239746"/>
            <a:chOff x="4716016" y="3073534"/>
            <a:chExt cx="648072" cy="123974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BC79C81-0780-4ABA-9055-731DDD9F0D4C}"/>
                </a:ext>
              </a:extLst>
            </p:cNvPr>
            <p:cNvSpPr/>
            <p:nvPr/>
          </p:nvSpPr>
          <p:spPr>
            <a:xfrm>
              <a:off x="4716016" y="3073534"/>
              <a:ext cx="432048" cy="4343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66C9BE-B979-4815-BCFB-CF5160935A1A}"/>
                </a:ext>
              </a:extLst>
            </p:cNvPr>
            <p:cNvCxnSpPr>
              <a:stCxn id="7" idx="4"/>
            </p:cNvCxnSpPr>
            <p:nvPr/>
          </p:nvCxnSpPr>
          <p:spPr>
            <a:xfrm>
              <a:off x="4932040" y="3507854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547B05-5027-4C10-9C6A-D08C3A135237}"/>
                </a:ext>
              </a:extLst>
            </p:cNvPr>
            <p:cNvCxnSpPr/>
            <p:nvPr/>
          </p:nvCxnSpPr>
          <p:spPr>
            <a:xfrm flipV="1">
              <a:off x="4932040" y="3507854"/>
              <a:ext cx="432048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899177-E304-48EC-B6C0-412D7AE8CA6D}"/>
                </a:ext>
              </a:extLst>
            </p:cNvPr>
            <p:cNvCxnSpPr>
              <a:cxnSpLocks/>
            </p:cNvCxnSpPr>
            <p:nvPr/>
          </p:nvCxnSpPr>
          <p:spPr>
            <a:xfrm>
              <a:off x="4932040" y="3726150"/>
              <a:ext cx="432048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1C211D-2343-418A-B955-63D959E4A2D0}"/>
                </a:ext>
              </a:extLst>
            </p:cNvPr>
            <p:cNvCxnSpPr/>
            <p:nvPr/>
          </p:nvCxnSpPr>
          <p:spPr>
            <a:xfrm flipH="1">
              <a:off x="4716016" y="4155926"/>
              <a:ext cx="216024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D86CC7-1B1A-41B5-BD1F-8C1F2B15D6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040" y="4169264"/>
              <a:ext cx="216024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584B05-7999-46E0-8A7F-0AB427050352}"/>
                </a:ext>
              </a:extLst>
            </p:cNvPr>
            <p:cNvSpPr/>
            <p:nvPr/>
          </p:nvSpPr>
          <p:spPr>
            <a:xfrm>
              <a:off x="4994333" y="3219822"/>
              <a:ext cx="45719" cy="6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D7580E-C451-45A3-840E-ED3DDCA86FDE}"/>
              </a:ext>
            </a:extLst>
          </p:cNvPr>
          <p:cNvGrpSpPr/>
          <p:nvPr/>
        </p:nvGrpSpPr>
        <p:grpSpPr>
          <a:xfrm flipH="1">
            <a:off x="7884368" y="3144018"/>
            <a:ext cx="648072" cy="1239746"/>
            <a:chOff x="4716016" y="3073534"/>
            <a:chExt cx="648072" cy="123974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8110557-32BF-449C-A554-8AF59F8FC475}"/>
                </a:ext>
              </a:extLst>
            </p:cNvPr>
            <p:cNvSpPr/>
            <p:nvPr/>
          </p:nvSpPr>
          <p:spPr>
            <a:xfrm>
              <a:off x="4716016" y="3073534"/>
              <a:ext cx="432048" cy="4343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F5DE81C-F616-480B-AE00-D898EB3E4EFE}"/>
                </a:ext>
              </a:extLst>
            </p:cNvPr>
            <p:cNvCxnSpPr>
              <a:stCxn id="19" idx="4"/>
            </p:cNvCxnSpPr>
            <p:nvPr/>
          </p:nvCxnSpPr>
          <p:spPr>
            <a:xfrm>
              <a:off x="4932040" y="3507854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ED82C6-F55E-4A08-A8B4-EC04AB10151B}"/>
                </a:ext>
              </a:extLst>
            </p:cNvPr>
            <p:cNvCxnSpPr/>
            <p:nvPr/>
          </p:nvCxnSpPr>
          <p:spPr>
            <a:xfrm flipV="1">
              <a:off x="4932040" y="3507854"/>
              <a:ext cx="432048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871427C-B25B-487D-82BF-5F1578B35432}"/>
                </a:ext>
              </a:extLst>
            </p:cNvPr>
            <p:cNvCxnSpPr>
              <a:cxnSpLocks/>
            </p:cNvCxnSpPr>
            <p:nvPr/>
          </p:nvCxnSpPr>
          <p:spPr>
            <a:xfrm>
              <a:off x="4932040" y="3726150"/>
              <a:ext cx="432048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ADD677-6466-4CAB-B978-162CFB06AEA5}"/>
                </a:ext>
              </a:extLst>
            </p:cNvPr>
            <p:cNvCxnSpPr/>
            <p:nvPr/>
          </p:nvCxnSpPr>
          <p:spPr>
            <a:xfrm flipH="1">
              <a:off x="4716016" y="4155926"/>
              <a:ext cx="216024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72BA447-EE0B-4479-B97C-F1C5DFB68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040" y="4169264"/>
              <a:ext cx="216024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8D55437-834B-4F7D-8303-DD15610876F5}"/>
                </a:ext>
              </a:extLst>
            </p:cNvPr>
            <p:cNvSpPr/>
            <p:nvPr/>
          </p:nvSpPr>
          <p:spPr>
            <a:xfrm>
              <a:off x="4994333" y="3219822"/>
              <a:ext cx="45719" cy="6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276062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5G RADIO ACCESS</a:t>
            </a:r>
          </a:p>
          <a:p>
            <a:pPr marL="0" indent="0">
              <a:buNone/>
            </a:pPr>
            <a:r>
              <a:rPr lang="en-US" sz="2900" dirty="0"/>
              <a:t>CAPABILITIES AND TECHNOLOGIES</a:t>
            </a:r>
          </a:p>
          <a:p>
            <a:pPr marL="0" indent="0">
              <a:buNone/>
            </a:pPr>
            <a:r>
              <a:rPr lang="en-US" sz="2900" dirty="0"/>
              <a:t>The capabilities of 5G wireless access must extend far beyond previous generations of mobile communication. Examples of these capabilities include very high data rates, very low </a:t>
            </a:r>
            <a:r>
              <a:rPr lang="en-US" sz="2900" b="1" dirty="0">
                <a:latin typeface="Arial Black" panose="020B0A04020102020204" pitchFamily="34" charset="0"/>
              </a:rPr>
              <a:t>latency</a:t>
            </a:r>
            <a:r>
              <a:rPr lang="en-US" sz="2900" dirty="0"/>
              <a:t>, ultra-high </a:t>
            </a:r>
            <a:r>
              <a:rPr lang="en-US" sz="2900" b="1" dirty="0">
                <a:latin typeface="Arial Black" panose="020B0A04020102020204" pitchFamily="34" charset="0"/>
              </a:rPr>
              <a:t>reliability</a:t>
            </a:r>
            <a:r>
              <a:rPr lang="en-US" sz="2900" dirty="0"/>
              <a:t>, energy efficiency and </a:t>
            </a:r>
            <a:r>
              <a:rPr lang="en-US" sz="2900" dirty="0">
                <a:latin typeface="Arial Black" panose="020B0A04020102020204" pitchFamily="34" charset="0"/>
              </a:rPr>
              <a:t>extreme device densities</a:t>
            </a:r>
            <a:r>
              <a:rPr lang="en-US" sz="2900" dirty="0"/>
              <a:t>, and will be realized by the development of </a:t>
            </a:r>
            <a:r>
              <a:rPr lang="en-US" sz="2900" dirty="0">
                <a:latin typeface="Arial Black" panose="020B0A04020102020204" pitchFamily="34" charset="0"/>
              </a:rPr>
              <a:t>LTE</a:t>
            </a:r>
            <a:r>
              <a:rPr lang="en-US" sz="2900" dirty="0"/>
              <a:t> in combination with new radio-access technologies. Key technology components include extension to higher frequency bands, access/</a:t>
            </a:r>
            <a:r>
              <a:rPr lang="en-US" sz="2900" dirty="0">
                <a:latin typeface="Arial Black" panose="020B0A04020102020204" pitchFamily="34" charset="0"/>
              </a:rPr>
              <a:t>backhaul</a:t>
            </a:r>
            <a:r>
              <a:rPr lang="en-US" sz="2900" dirty="0"/>
              <a:t> integration, device-to-device communication, </a:t>
            </a:r>
            <a:r>
              <a:rPr lang="en-US" sz="2900" dirty="0">
                <a:latin typeface="Arial Black" panose="020B0A04020102020204" pitchFamily="34" charset="0"/>
              </a:rPr>
              <a:t>flexible duplex</a:t>
            </a:r>
            <a:r>
              <a:rPr lang="en-US" sz="2900" dirty="0"/>
              <a:t>, flexible spectrum usage, multi-antenna transmission, ultra-lean design, and user/control separation. </a:t>
            </a:r>
          </a:p>
          <a:p>
            <a:pPr marL="0" indent="0" algn="r">
              <a:buNone/>
            </a:pPr>
            <a:r>
              <a:rPr lang="en-US" dirty="0"/>
              <a:t>(Ericsson White paper, </a:t>
            </a:r>
            <a:r>
              <a:rPr lang="en-US" dirty="0" err="1"/>
              <a:t>Uen</a:t>
            </a:r>
            <a:r>
              <a:rPr lang="en-US" dirty="0"/>
              <a:t> 284 23-3204 Rev C | April 2016)</a:t>
            </a:r>
          </a:p>
        </p:txBody>
      </p:sp>
    </p:spTree>
    <p:extLst>
      <p:ext uri="{BB962C8B-B14F-4D97-AF65-F5344CB8AC3E}">
        <p14:creationId xmlns:p14="http://schemas.microsoft.com/office/powerpoint/2010/main" val="3471838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ACRONYMS: ALWAYS solve them, at least the first time you introduce them</a:t>
            </a:r>
          </a:p>
          <a:p>
            <a:r>
              <a:rPr lang="en-US" dirty="0"/>
              <a:t>Even if writing/communicating to a technical audience – introduce a statement every now and then that could be clear for anyone</a:t>
            </a:r>
          </a:p>
          <a:p>
            <a:r>
              <a:rPr lang="en-US" dirty="0"/>
              <a:t>Long Term Evolution (from now on, LTE)</a:t>
            </a:r>
          </a:p>
          <a:p>
            <a:r>
              <a:rPr lang="en-US" dirty="0"/>
              <a:t>Long Term Evolution (LTE)</a:t>
            </a:r>
          </a:p>
          <a:p>
            <a:r>
              <a:rPr lang="en-US" dirty="0"/>
              <a:t>LTE (Long Term Evolution)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55968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should a good text be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472515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Correct: grammar &amp; semantics </a:t>
            </a:r>
            <a:endParaRPr lang="it-IT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10C171D-EEA9-4FA5-925E-6FB5298227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40207"/>
            <a:ext cx="7820414" cy="3685183"/>
          </a:xfrm>
        </p:spPr>
      </p:pic>
    </p:spTree>
    <p:extLst>
      <p:ext uri="{BB962C8B-B14F-4D97-AF65-F5344CB8AC3E}">
        <p14:creationId xmlns:p14="http://schemas.microsoft.com/office/powerpoint/2010/main" val="179931662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Informative</a:t>
            </a:r>
            <a:endParaRPr lang="it-IT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" y="1275606"/>
            <a:ext cx="91440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4218635"/>
            <a:ext cx="4176464" cy="58477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Mary has got 2 eyes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2087559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0DEFD2F-34BE-4FF7-B889-9A5A50663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-20538"/>
            <a:ext cx="12017821" cy="6957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F24D7A-2B9A-4F6B-A65E-34E2BE74CF39}"/>
              </a:ext>
            </a:extLst>
          </p:cNvPr>
          <p:cNvSpPr txBox="1"/>
          <p:nvPr/>
        </p:nvSpPr>
        <p:spPr>
          <a:xfrm>
            <a:off x="323528" y="4443958"/>
            <a:ext cx="2088232" cy="58477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Relevant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0358997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text </a:t>
            </a:r>
            <a:r>
              <a:rPr lang="it-IT" dirty="0" err="1"/>
              <a:t>has</a:t>
            </a:r>
            <a:r>
              <a:rPr lang="it-IT" dirty="0"/>
              <a:t> to be </a:t>
            </a:r>
            <a:r>
              <a:rPr lang="it-IT" dirty="0" err="1"/>
              <a:t>relevant</a:t>
            </a:r>
            <a:endParaRPr lang="it-IT" dirty="0"/>
          </a:p>
          <a:p>
            <a:pPr lvl="1"/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text </a:t>
            </a:r>
            <a:r>
              <a:rPr lang="it-IT" dirty="0" err="1"/>
              <a:t>answers</a:t>
            </a:r>
            <a:r>
              <a:rPr lang="it-IT" dirty="0"/>
              <a:t> the </a:t>
            </a:r>
            <a:r>
              <a:rPr lang="it-IT" dirty="0" err="1"/>
              <a:t>question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for</a:t>
            </a:r>
          </a:p>
          <a:p>
            <a:pPr lvl="1"/>
            <a:r>
              <a:rPr lang="it-IT" dirty="0"/>
              <a:t>The </a:t>
            </a:r>
            <a:r>
              <a:rPr lang="it-IT" dirty="0" err="1"/>
              <a:t>question</a:t>
            </a:r>
            <a:r>
              <a:rPr lang="it-IT" dirty="0"/>
              <a:t> can be </a:t>
            </a:r>
            <a:r>
              <a:rPr lang="it-IT" dirty="0" err="1"/>
              <a:t>explicit</a:t>
            </a:r>
            <a:r>
              <a:rPr lang="it-IT" dirty="0"/>
              <a:t> or </a:t>
            </a:r>
            <a:r>
              <a:rPr lang="it-IT" dirty="0" err="1"/>
              <a:t>implicit</a:t>
            </a:r>
            <a:r>
              <a:rPr lang="it-IT" dirty="0"/>
              <a:t> (the </a:t>
            </a:r>
            <a:r>
              <a:rPr lang="it-IT" dirty="0" err="1"/>
              <a:t>underwater</a:t>
            </a:r>
            <a:r>
              <a:rPr lang="it-IT" dirty="0"/>
              <a:t> part of the </a:t>
            </a:r>
            <a:r>
              <a:rPr lang="it-IT"/>
              <a:t>iceberg)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1635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54753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">
  <a:themeElements>
    <a:clrScheme name="Impostazioni personalizzate 7">
      <a:dk1>
        <a:srgbClr val="321428"/>
      </a:dk1>
      <a:lt1>
        <a:sysClr val="window" lastClr="FFFFFF"/>
      </a:lt1>
      <a:dk2>
        <a:srgbClr val="321428"/>
      </a:dk2>
      <a:lt2>
        <a:srgbClr val="DEF5FA"/>
      </a:lt2>
      <a:accent1>
        <a:srgbClr val="C51788"/>
      </a:accent1>
      <a:accent2>
        <a:srgbClr val="939598"/>
      </a:accent2>
      <a:accent3>
        <a:srgbClr val="53009F"/>
      </a:accent3>
      <a:accent4>
        <a:srgbClr val="A351D5"/>
      </a:accent4>
      <a:accent5>
        <a:srgbClr val="8413F5"/>
      </a:accent5>
      <a:accent6>
        <a:srgbClr val="4A2542"/>
      </a:accent6>
      <a:hlink>
        <a:srgbClr val="C51788"/>
      </a:hlink>
      <a:folHlink>
        <a:srgbClr val="93959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1580</Words>
  <Application>Microsoft Office PowerPoint</Application>
  <PresentationFormat>On-screen Show (16:9)</PresentationFormat>
  <Paragraphs>125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Lucida Sans Unicode</vt:lpstr>
      <vt:lpstr>Times New Roman</vt:lpstr>
      <vt:lpstr>Wingdings</vt:lpstr>
      <vt:lpstr>Wingdings 2</vt:lpstr>
      <vt:lpstr>WidescreenPresentation</vt:lpstr>
      <vt:lpstr>COMMUNICATION: BASIC PRINCIPLES</vt:lpstr>
      <vt:lpstr>What is a sign?</vt:lpstr>
      <vt:lpstr>Linguistic signs “stand for”…</vt:lpstr>
      <vt:lpstr>What is a sign (F. De Saussure)</vt:lpstr>
      <vt:lpstr>Arbitrariness of signs: the signifier</vt:lpstr>
      <vt:lpstr>Arbitrariness of signs: the signified</vt:lpstr>
      <vt:lpstr>What is a «text»?</vt:lpstr>
      <vt:lpstr>How are texts interpreted? </vt:lpstr>
      <vt:lpstr>The co-text/1</vt:lpstr>
      <vt:lpstr>The co-text/2</vt:lpstr>
      <vt:lpstr>The con-text</vt:lpstr>
      <vt:lpstr>The “encyclopedia”</vt:lpstr>
      <vt:lpstr>Reference</vt:lpstr>
      <vt:lpstr>Common ground</vt:lpstr>
      <vt:lpstr>Example</vt:lpstr>
      <vt:lpstr>Tips </vt:lpstr>
      <vt:lpstr>How should a good text be</vt:lpstr>
      <vt:lpstr>Correct: grammar &amp; semantics </vt:lpstr>
      <vt:lpstr>Informative</vt:lpstr>
      <vt:lpstr>PowerPoint Presentation</vt:lpstr>
      <vt:lpstr>Relevant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2010-02-08T10:14:15Z</dcterms:created>
  <dcterms:modified xsi:type="dcterms:W3CDTF">2025-02-17T14:01:28Z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1040</vt:i4>
  </property>
  <property fmtid="{D5CDD505-2E9C-101B-9397-08002B2CF9AE}" pid="3" name="_Version">
    <vt:lpwstr>12.0.4518</vt:lpwstr>
  </property>
</Properties>
</file>