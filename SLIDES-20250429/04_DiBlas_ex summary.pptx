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305" r:id="rId3"/>
    <p:sldId id="302" r:id="rId4"/>
    <p:sldId id="303" r:id="rId5"/>
    <p:sldId id="299" r:id="rId6"/>
    <p:sldId id="304" r:id="rId7"/>
    <p:sldId id="332" r:id="rId8"/>
    <p:sldId id="326" r:id="rId9"/>
    <p:sldId id="295" r:id="rId10"/>
  </p:sldIdLst>
  <p:sldSz cx="9144000" cy="5143500" type="screen16x9"/>
  <p:notesSz cx="7099300" cy="10234613"/>
  <p:defaultTextStyle>
    <a:lvl1pPr marL="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1129"/>
    <a:srgbClr val="32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754DED-1D1B-4A61-8CFD-1B563777170F}" v="1006" dt="2024-03-04T15:19:42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87621" autoAdjust="0"/>
  </p:normalViewPr>
  <p:slideViewPr>
    <p:cSldViewPr>
      <p:cViewPr varScale="1">
        <p:scale>
          <a:sx n="77" d="100"/>
          <a:sy n="77" d="100"/>
        </p:scale>
        <p:origin x="884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1674029A-FB94-46E3-BCCC-180111E56553}" type="datetimeFigureOut">
              <a:rPr lang="it-IT" smtClean="0"/>
              <a:t>04/03/2024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1"/>
            <a:ext cx="3076575" cy="511175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1"/>
            <a:ext cx="3076575" cy="511175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8BEA46C5-7A39-40A2-8F88-F1D4EB9A32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43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9032" tIns="49516" rIns="99032" bIns="49516" rtlCol="0"/>
          <a:lstStyle>
            <a:lvl1pPr algn="l" latinLnBrk="0">
              <a:defRPr lang="it-IT" sz="1300"/>
            </a:lvl1pPr>
          </a:lstStyle>
          <a:p>
            <a:endParaRPr lang="it-I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32" tIns="49516" rIns="99032" bIns="49516" rtlCol="0"/>
          <a:lstStyle>
            <a:lvl1pPr algn="r" latinLnBrk="0">
              <a:defRPr lang="it-IT" sz="1300"/>
            </a:lvl1pPr>
          </a:lstStyle>
          <a:p>
            <a:fld id="{A8ADFD5B-A66C-449C-B6E8-FB716D07777D}" type="datetimeFigureOut">
              <a:rPr lang="en-US"/>
              <a:pPr/>
              <a:t>3/4/2024</a:t>
            </a:fld>
            <a:endParaRPr lang="it-I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2" tIns="49516" rIns="99032" bIns="49516" rtlCol="0" anchor="ctr"/>
          <a:lstStyle/>
          <a:p>
            <a:endParaRPr lang="it-I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9032" tIns="49516" rIns="99032" bIns="49516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9032" tIns="49516" rIns="99032" bIns="49516" rtlCol="0" anchor="b"/>
          <a:lstStyle>
            <a:lvl1pPr algn="l" latinLnBrk="0">
              <a:defRPr lang="it-IT" sz="1300"/>
            </a:lvl1pPr>
          </a:lstStyle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32" tIns="49516" rIns="99032" bIns="49516" rtlCol="0" anchor="b"/>
          <a:lstStyle>
            <a:lvl1pPr algn="r" latinLnBrk="0">
              <a:defRPr lang="it-IT" sz="1300"/>
            </a:lvl1pPr>
          </a:lstStyle>
          <a:p>
            <a:fld id="{CA5D3BF3-D352-46FC-8343-31F56E6730EA}" type="slidenum">
              <a:rPr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725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it-IT" smtClean="0"/>
              <a:pPr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601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titolo">
    <p:bg>
      <p:bgPr>
        <a:solidFill>
          <a:srgbClr val="32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/>
          <p:cNvSpPr/>
          <p:nvPr userDrawn="1"/>
        </p:nvSpPr>
        <p:spPr>
          <a:xfrm>
            <a:off x="0" y="0"/>
            <a:ext cx="9144000" cy="1123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n>
                <a:noFill/>
              </a:ln>
              <a:solidFill>
                <a:srgbClr val="32142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>
            <a:normAutofit/>
          </a:bodyPr>
          <a:lstStyle>
            <a:lvl1pPr marL="0" indent="0" algn="l" eaLnBrk="1" latinLnBrk="0" hangingPunct="1">
              <a:buNone/>
              <a:defRPr kumimoji="0" lang="it-IT" sz="20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</a:lstStyle>
          <a:p>
            <a:pPr eaLnBrk="1" latinLnBrk="0" hangingPunct="1"/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it-IT" sz="1800">
                <a:solidFill>
                  <a:srgbClr val="FFFFFF"/>
                </a:solidFill>
              </a:defRPr>
            </a:lvl1pPr>
          </a:lstStyle>
          <a:p>
            <a:fld id="{047E157E-8DCB-4F70-A0AF-5EB586A91DD4}" type="datetime1">
              <a:rPr lang="it-IT" smtClean="0"/>
              <a:pPr/>
              <a:t>04/03/2024</a:t>
            </a:fld>
            <a:endParaRPr lang="it-IT" dirty="0"/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>
            <a:normAutofit/>
          </a:bodyPr>
          <a:lstStyle>
            <a:lvl1pPr eaLnBrk="1" latinLnBrk="0" hangingPunct="1">
              <a:defRPr kumimoji="0" lang="it-IT" sz="3600" cap="all" baseline="0"/>
            </a:lvl1pPr>
          </a:lstStyle>
          <a:p>
            <a:pPr eaLnBrk="1" latinLnBrk="0" hangingPunct="1"/>
            <a:r>
              <a:rPr lang="en-US" dirty="0"/>
              <a:t>Click to edit Master title style</a:t>
            </a:r>
            <a:endParaRPr dirty="0"/>
          </a:p>
        </p:txBody>
      </p:sp>
      <p:pic>
        <p:nvPicPr>
          <p:cNvPr id="14" name="Immagine 13" descr="LogoHOCposi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180000"/>
            <a:ext cx="1905000" cy="799704"/>
          </a:xfrm>
          <a:prstGeom prst="rect">
            <a:avLst/>
          </a:prstGeom>
        </p:spPr>
      </p:pic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438399" y="209550"/>
            <a:ext cx="5514393" cy="298848"/>
          </a:xfrm>
        </p:spPr>
        <p:txBody>
          <a:bodyPr/>
          <a:lstStyle>
            <a:lvl1pPr algn="r" eaLnBrk="1" latinLnBrk="0" hangingPunct="1">
              <a:defRPr kumimoji="0" lang="it-IT">
                <a:solidFill>
                  <a:schemeClr val="bg2"/>
                </a:solidFill>
              </a:defRPr>
            </a:lvl1pPr>
          </a:lstStyle>
          <a:p>
            <a:r>
              <a:rPr lang="it-IT" dirty="0"/>
              <a:t>Pie di pagina</a:t>
            </a:r>
          </a:p>
        </p:txBody>
      </p:sp>
      <p:sp>
        <p:nvSpPr>
          <p:cNvPr id="18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09550"/>
            <a:ext cx="838200" cy="285750"/>
          </a:xfrm>
        </p:spPr>
        <p:txBody>
          <a:bodyPr/>
          <a:lstStyle>
            <a:lvl1pPr eaLnBrk="1" latinLnBrk="0" hangingPunct="1">
              <a:defRPr kumimoji="0" lang="it-IT">
                <a:solidFill>
                  <a:srgbClr val="321428"/>
                </a:solidFill>
              </a:defRPr>
            </a:lvl1pPr>
          </a:lstStyle>
          <a:p>
            <a:fld id="{8F82E0A0-C266-4798-8C8F-B9F91E9DA37E}" type="slidenum">
              <a:rPr lang="it-IT" smtClean="0"/>
              <a:pPr/>
              <a:t>‹#›</a:t>
            </a:fld>
            <a:endParaRPr lang="it-I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it-IT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it-IT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it-IT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it-IT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it-IT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it-IT"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it-IT" dirty="0"/>
              <a:t>Fare clic per modificare lo stile del titolo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it-IT" sz="2400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kumimoji="0" lang="it-IT" sz="2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it-IT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it-IT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it-IT"/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it-I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>
            <a:normAutofit/>
          </a:bodyPr>
          <a:lstStyle>
            <a:lvl1pPr eaLnBrk="1" latinLnBrk="0" hangingPunct="1">
              <a:buFontTx/>
              <a:buNone/>
              <a:defRPr kumimoji="0" lang="it-IT" sz="18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2"/>
          </a:solidFill>
        </p:spPr>
        <p:txBody>
          <a:bodyPr rtlCol="0" anchor="ctr">
            <a:normAutofit/>
          </a:bodyPr>
          <a:lstStyle>
            <a:lvl1pPr eaLnBrk="1" latinLnBrk="0" hangingPunct="1">
              <a:buFontTx/>
              <a:buNone/>
              <a:defRPr kumimoji="0" lang="it-IT" sz="18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it-IT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rgbClr val="FFFFFF"/>
                </a:solidFill>
              </a:rPr>
              <a:pPr/>
              <a:t>‹#›</a:t>
            </a:fld>
            <a:endParaRPr kumimoji="0" lang="it-IT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it-IT">
                <a:solidFill>
                  <a:schemeClr val="tx2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chemeClr val="tx2"/>
                </a:solidFill>
              </a:rPr>
              <a:pPr/>
              <a:t>‹#›</a:t>
            </a:fld>
            <a:endParaRPr kumimoji="0" lang="it-IT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it-IT" sz="4200" b="0"/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it-IT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rgbClr val="FFFFFF"/>
                </a:solidFill>
              </a:rPr>
              <a:pPr/>
              <a:t>‹#›</a:t>
            </a:fld>
            <a:endParaRPr kumimoji="0" lang="it-IT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it-IT" sz="1800"/>
            </a:lvl1pPr>
            <a:lvl2pPr eaLnBrk="1" latinLnBrk="0" hangingPunct="1">
              <a:buNone/>
              <a:defRPr kumimoji="0" lang="it-IT" sz="1200"/>
            </a:lvl2pPr>
            <a:lvl3pPr eaLnBrk="1" latinLnBrk="0" hangingPunct="1">
              <a:buNone/>
              <a:defRPr kumimoji="0" lang="it-IT" sz="1000"/>
            </a:lvl3pPr>
            <a:lvl4pPr eaLnBrk="1" latinLnBrk="0" hangingPunct="1">
              <a:buNone/>
              <a:defRPr kumimoji="0" lang="it-IT" sz="900"/>
            </a:lvl4pPr>
            <a:lvl5pPr eaLnBrk="1" latinLnBrk="0" hangingPunct="1">
              <a:buNone/>
              <a:defRPr kumimoji="0" lang="it-IT" sz="9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accent2"/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it-IT" sz="3200"/>
            </a:lvl1pPr>
          </a:lstStyle>
          <a:p>
            <a:r>
              <a:rPr kumimoji="0" lang="en-US" dirty="0"/>
              <a:t>Click icon to add picture</a:t>
            </a:r>
            <a:endParaRPr kumimoji="0" lang="it-I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it-IT" sz="1700"/>
            </a:lvl1pPr>
            <a:lvl2pPr eaLnBrk="1" latinLnBrk="0" hangingPunct="1">
              <a:buFontTx/>
              <a:buNone/>
              <a:defRPr kumimoji="0" lang="it-IT" sz="1200"/>
            </a:lvl2pPr>
            <a:lvl3pPr eaLnBrk="1" latinLnBrk="0" hangingPunct="1">
              <a:buFontTx/>
              <a:buNone/>
              <a:defRPr kumimoji="0" lang="it-IT" sz="1000"/>
            </a:lvl3pPr>
            <a:lvl4pPr eaLnBrk="1" latinLnBrk="0" hangingPunct="1">
              <a:buFontTx/>
              <a:buNone/>
              <a:defRPr kumimoji="0" lang="it-IT" sz="900"/>
            </a:lvl4pPr>
            <a:lvl5pPr eaLnBrk="1" latinLnBrk="0" hangingPunct="1">
              <a:buFontTx/>
              <a:buNone/>
              <a:defRPr kumimoji="0" lang="it-IT" sz="9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it-IT" sz="2800" b="0">
                <a:solidFill>
                  <a:srgbClr val="FFFFFF"/>
                </a:solidFill>
              </a:defRPr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rPr lang="en-US"/>
              <a:pPr/>
              <a:t>3/4/2024</a:t>
            </a:fld>
            <a:endParaRPr kumimoji="0" lang="it-IT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it-IT" sz="2800"/>
            </a:lvl1pPr>
          </a:lstStyle>
          <a:p>
            <a:pPr algn="ctr"/>
            <a:fld id="{8F82E0A0-C266-4798-8C8F-B9F91E9DA37E}" type="slidenum">
              <a:rPr kumimoji="0" lang="it-IT" sz="28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it-I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it-IT" sz="1400">
                <a:solidFill>
                  <a:schemeClr val="tx2"/>
                </a:solidFill>
              </a:defRPr>
            </a:lvl1pPr>
          </a:lstStyle>
          <a:p>
            <a:fld id="{E4606EA6-EFEA-4C30-9264-4F9291A5780D}" type="datetime1">
              <a:rPr lang="en-US"/>
              <a:pPr/>
              <a:t>3/4/2024</a:t>
            </a:fld>
            <a:endParaRPr kumimoji="0" lang="it-IT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it-IT" sz="1400">
                <a:solidFill>
                  <a:schemeClr val="tx2"/>
                </a:solidFill>
              </a:defRPr>
            </a:lvl1pPr>
          </a:lstStyle>
          <a:p>
            <a:pPr algn="r"/>
            <a:endParaRPr kumimoji="0" lang="it-IT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it-IT" sz="1400" b="1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txStyles>
    <p:titleStyle>
      <a:lvl1pPr algn="l" rtl="0" eaLnBrk="1" latinLnBrk="0" hangingPunct="1">
        <a:spcBef>
          <a:spcPct val="0"/>
        </a:spcBef>
        <a:buNone/>
        <a:defRPr kumimoji="0" lang="it-IT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it-IT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it-IT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 EXECUTIVE SUMMARIES AND ABSTRACTS</a:t>
            </a:r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Nicoletta Di Blas - </a:t>
            </a:r>
            <a:r>
              <a:rPr lang="it-IT" dirty="0" err="1"/>
              <a:t>Introduction</a:t>
            </a:r>
            <a:endParaRPr lang="it-IT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5E2E0-752C-4A74-A35F-4B8619C7F4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I'm sorry I sent you such a long letter. I didn't have time to write you </a:t>
            </a:r>
            <a:r>
              <a:rPr lang="en-US"/>
              <a:t>a shorter </a:t>
            </a:r>
            <a:r>
              <a:rPr lang="en-US" dirty="0"/>
              <a:t>one</a:t>
            </a:r>
          </a:p>
          <a:p>
            <a:pPr algn="r"/>
            <a:r>
              <a:rPr lang="en-US" sz="2000" dirty="0"/>
              <a:t>(B. Pascal)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60C9E-46F7-4D81-A0BA-9DE00117B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394593"/>
            <a:ext cx="24765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09617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 and Abstract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Both are quite condensed texts “summing up” a longer text. But there are differences:</a:t>
            </a:r>
          </a:p>
          <a:p>
            <a:r>
              <a:rPr lang="en-US" u="sng" dirty="0"/>
              <a:t>An abstract </a:t>
            </a:r>
            <a:r>
              <a:rPr lang="en-US" dirty="0"/>
              <a:t>is a brief summary of a document, such as a journal article, a conference paper, a book proposal. It is usually 100-300 words long</a:t>
            </a:r>
          </a:p>
          <a:p>
            <a:r>
              <a:rPr lang="en-US" u="sng" dirty="0"/>
              <a:t>An executive summary </a:t>
            </a:r>
            <a:r>
              <a:rPr lang="en-US" dirty="0"/>
              <a:t>is a summary of a longer document; max length: 10% of the document</a:t>
            </a:r>
          </a:p>
        </p:txBody>
      </p:sp>
    </p:spTree>
    <p:extLst>
      <p:ext uri="{BB962C8B-B14F-4D97-AF65-F5344CB8AC3E}">
        <p14:creationId xmlns:p14="http://schemas.microsoft.com/office/powerpoint/2010/main" val="237842645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should be: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SHORT</a:t>
            </a:r>
          </a:p>
          <a:p>
            <a:r>
              <a:rPr lang="en-US" dirty="0"/>
              <a:t>CLEAR (of course)</a:t>
            </a:r>
          </a:p>
          <a:p>
            <a:r>
              <a:rPr lang="en-US" dirty="0"/>
              <a:t>COMPREHENSIVE (sketch the whole picture)</a:t>
            </a:r>
          </a:p>
          <a:p>
            <a:pPr lvl="1"/>
            <a:r>
              <a:rPr lang="en-US" sz="2600" dirty="0"/>
              <a:t>the context</a:t>
            </a:r>
            <a:endParaRPr lang="it-IT" sz="3400" dirty="0"/>
          </a:p>
          <a:p>
            <a:pPr lvl="1"/>
            <a:r>
              <a:rPr lang="en-US" sz="2600" dirty="0"/>
              <a:t>the goal of the work (AND its relevance!)</a:t>
            </a:r>
            <a:endParaRPr lang="it-IT" sz="3400" dirty="0"/>
          </a:p>
          <a:p>
            <a:pPr lvl="1"/>
            <a:r>
              <a:rPr lang="en-US" sz="2600" dirty="0"/>
              <a:t>[the method – if there is room]</a:t>
            </a:r>
            <a:endParaRPr lang="it-IT" sz="3400" dirty="0"/>
          </a:p>
          <a:p>
            <a:pPr lvl="1"/>
            <a:r>
              <a:rPr lang="en-US" sz="2600" dirty="0"/>
              <a:t>the main results</a:t>
            </a:r>
          </a:p>
          <a:p>
            <a:r>
              <a:rPr lang="en-US" dirty="0"/>
              <a:t>EFFECTIVE: convey the key-message(s) and values</a:t>
            </a:r>
          </a:p>
          <a:p>
            <a:r>
              <a:rPr lang="it-IT" dirty="0"/>
              <a:t>SELF-</a:t>
            </a:r>
            <a:r>
              <a:rPr lang="it-IT" dirty="0" err="1"/>
              <a:t>SUFFICIENT</a:t>
            </a:r>
            <a:r>
              <a:rPr lang="it-IT" dirty="0"/>
              <a:t>: </a:t>
            </a:r>
            <a:r>
              <a:rPr lang="it-IT" dirty="0" err="1"/>
              <a:t>never</a:t>
            </a:r>
            <a:r>
              <a:rPr lang="it-IT" dirty="0"/>
              <a:t> </a:t>
            </a:r>
            <a:r>
              <a:rPr lang="it-IT" dirty="0" err="1"/>
              <a:t>ever</a:t>
            </a:r>
            <a:r>
              <a:rPr lang="it-IT" dirty="0"/>
              <a:t> «point» to the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document</a:t>
            </a:r>
            <a:r>
              <a:rPr lang="it-IT" dirty="0"/>
              <a:t>; </a:t>
            </a:r>
            <a:r>
              <a:rPr lang="en-US" dirty="0"/>
              <a:t>and yes, you can copy and paste from the main document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2768250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1" y="3613488"/>
            <a:ext cx="9144000" cy="7518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28"/>
          </a:p>
        </p:txBody>
      </p:sp>
      <p:sp>
        <p:nvSpPr>
          <p:cNvPr id="4" name="Text Box 109"/>
          <p:cNvSpPr txBox="1">
            <a:spLocks noChangeArrowheads="1"/>
          </p:cNvSpPr>
          <p:nvPr/>
        </p:nvSpPr>
        <p:spPr bwMode="auto">
          <a:xfrm>
            <a:off x="503248" y="3613488"/>
            <a:ext cx="7639154" cy="75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7" rIns="91435" bIns="4571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it-IT" sz="4285" b="1" i="1" dirty="0" err="1">
                <a:latin typeface="Trebuchet MS" pitchFamily="34" charset="0"/>
              </a:rPr>
              <a:t>Sketching</a:t>
            </a:r>
            <a:r>
              <a:rPr lang="it-IT" sz="4285" b="1" i="1" dirty="0">
                <a:latin typeface="Trebuchet MS" pitchFamily="34" charset="0"/>
              </a:rPr>
              <a:t> a </a:t>
            </a:r>
            <a:r>
              <a:rPr lang="it-IT" sz="4285" b="1" i="1" dirty="0" err="1">
                <a:latin typeface="Trebuchet MS" pitchFamily="34" charset="0"/>
              </a:rPr>
              <a:t>summary</a:t>
            </a:r>
            <a:r>
              <a:rPr lang="it-IT" sz="4285" b="1" i="1" dirty="0">
                <a:latin typeface="Trebuchet MS" pitchFamily="34" charset="0"/>
              </a:rPr>
              <a:t>… </a:t>
            </a:r>
            <a:endParaRPr lang="it-IT" sz="4285" i="1" dirty="0">
              <a:latin typeface="Trebuchet M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4414" y="261637"/>
            <a:ext cx="8795172" cy="3267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“This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project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addresses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the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issue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of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ageing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population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in Europe.” (ISSUE)</a:t>
            </a:r>
          </a:p>
          <a:p>
            <a:endParaRPr lang="it-IT" sz="1587" b="1" dirty="0">
              <a:solidFill>
                <a:schemeClr val="accent4"/>
              </a:solidFill>
              <a:latin typeface="Trebuchet MS"/>
              <a:ea typeface="+mj-ea"/>
              <a:cs typeface="Trebuchet MS"/>
            </a:endParaRPr>
          </a:p>
          <a:p>
            <a:pPr algn="r"/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“The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overall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aim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of the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project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is to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prevent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Mild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Cognitive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Impairment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and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Frailty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.” (AIM)</a:t>
            </a:r>
          </a:p>
          <a:p>
            <a:endParaRPr lang="it-IT" sz="1587" b="1" dirty="0">
              <a:solidFill>
                <a:schemeClr val="accent4"/>
              </a:solidFill>
              <a:latin typeface="Trebuchet MS"/>
              <a:ea typeface="+mj-ea"/>
              <a:cs typeface="Trebuchet MS"/>
            </a:endParaRPr>
          </a:p>
          <a:p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“…by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unobtrusive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detection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of data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through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sensors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” (METHOD)</a:t>
            </a:r>
          </a:p>
          <a:p>
            <a:endParaRPr lang="it-IT" sz="1587" b="1" dirty="0">
              <a:solidFill>
                <a:schemeClr val="accent4"/>
              </a:solidFill>
              <a:latin typeface="Trebuchet MS"/>
              <a:ea typeface="+mj-ea"/>
              <a:cs typeface="Trebuchet MS"/>
            </a:endParaRPr>
          </a:p>
          <a:p>
            <a:pPr algn="r"/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“… and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exploiting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data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that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smart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cities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are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already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collecting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”. (METHOD – and </a:t>
            </a:r>
            <a:r>
              <a:rPr lang="it-IT" sz="1587" b="1" dirty="0" err="1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KEY</a:t>
            </a:r>
            <a:r>
              <a:rPr lang="it-IT" sz="1587" b="1" dirty="0">
                <a:solidFill>
                  <a:srgbClr val="C00000"/>
                </a:solidFill>
                <a:latin typeface="Trebuchet MS"/>
                <a:ea typeface="+mj-ea"/>
                <a:cs typeface="Trebuchet MS"/>
              </a:rPr>
              <a:t> MESSAGE!)</a:t>
            </a:r>
          </a:p>
          <a:p>
            <a:endParaRPr lang="it-IT" sz="1587" b="1" dirty="0">
              <a:solidFill>
                <a:schemeClr val="accent4"/>
              </a:solidFill>
              <a:latin typeface="Trebuchet MS"/>
              <a:ea typeface="+mj-ea"/>
              <a:cs typeface="Trebuchet MS"/>
            </a:endParaRPr>
          </a:p>
          <a:p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“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Detecting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mild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cognitive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impairment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and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frailty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will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be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partially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automated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,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thus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making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the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monitoring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of the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elderly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population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much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more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efficient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and the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prevention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of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frailty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 more </a:t>
            </a:r>
            <a:r>
              <a:rPr lang="it-IT" sz="1587" b="1" dirty="0" err="1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effective</a:t>
            </a:r>
            <a:r>
              <a:rPr lang="it-IT" sz="1587" b="1" dirty="0">
                <a:solidFill>
                  <a:schemeClr val="accent4"/>
                </a:solidFill>
                <a:latin typeface="Trebuchet MS"/>
                <a:ea typeface="+mj-ea"/>
                <a:cs typeface="Trebuchet MS"/>
              </a:rPr>
              <a:t>” (BENEFIT)</a:t>
            </a:r>
          </a:p>
          <a:p>
            <a:endParaRPr lang="it-IT" sz="1587" b="1" dirty="0">
              <a:solidFill>
                <a:schemeClr val="accent4"/>
              </a:solidFill>
              <a:latin typeface="Trebuchet MS"/>
              <a:ea typeface="+mj-ea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2989925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it NOT be?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introduction</a:t>
            </a:r>
          </a:p>
          <a:p>
            <a:pPr lvl="1"/>
            <a:r>
              <a:rPr lang="en-US" dirty="0"/>
              <a:t>An appetizer without the main course: “This is thesis is about conversational agents for people suffering from autism, which is a disease… </a:t>
            </a:r>
            <a:r>
              <a:rPr lang="en-US" dirty="0" err="1"/>
              <a:t>bla</a:t>
            </a:r>
            <a:r>
              <a:rPr lang="en-US" dirty="0"/>
              <a:t> </a:t>
            </a:r>
            <a:r>
              <a:rPr lang="en-US" dirty="0" err="1"/>
              <a:t>bla</a:t>
            </a:r>
            <a:r>
              <a:rPr lang="en-US" dirty="0"/>
              <a:t>… and… NOTHING ABOUT WHAT HAS BEEN DONE”</a:t>
            </a:r>
          </a:p>
          <a:p>
            <a:r>
              <a:rPr lang="en-US" dirty="0"/>
              <a:t>A table </a:t>
            </a:r>
            <a:r>
              <a:rPr lang="en-US"/>
              <a:t>of content</a:t>
            </a:r>
            <a:endParaRPr lang="en-US" dirty="0"/>
          </a:p>
          <a:p>
            <a:pPr lvl="1"/>
            <a:r>
              <a:rPr lang="en-US" dirty="0"/>
              <a:t>A skeleton without meat: “In the document we will discuss… then the method is introduced… then we will present the results...”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084969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E87CA1-55DC-4980-9632-25510AACAA9A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23478"/>
            <a:ext cx="5080000" cy="4706938"/>
          </a:xfrm>
        </p:spPr>
      </p:pic>
    </p:spTree>
    <p:extLst>
      <p:ext uri="{BB962C8B-B14F-4D97-AF65-F5344CB8AC3E}">
        <p14:creationId xmlns:p14="http://schemas.microsoft.com/office/powerpoint/2010/main" val="2521482065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743A-877A-4029-AC0D-1DAAE400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</a:t>
            </a:r>
            <a:r>
              <a:rPr lang="en-US" dirty="0" err="1"/>
              <a:t>chatGPT</a:t>
            </a:r>
            <a:r>
              <a:rPr lang="en-US" dirty="0"/>
              <a:t> &amp; friends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D78A-05E1-176A-6C05-456C930491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Powerful helpers, not substitutes</a:t>
            </a:r>
          </a:p>
          <a:p>
            <a:r>
              <a:rPr lang="en-US" dirty="0"/>
              <a:t>Large Language Models tend to:</a:t>
            </a:r>
          </a:p>
          <a:p>
            <a:pPr lvl="1"/>
            <a:r>
              <a:rPr lang="en-US" dirty="0"/>
              <a:t>be generic</a:t>
            </a:r>
          </a:p>
          <a:p>
            <a:pPr lvl="1"/>
            <a:r>
              <a:rPr lang="en-US" dirty="0"/>
              <a:t>be repetitive</a:t>
            </a:r>
          </a:p>
          <a:p>
            <a:pPr lvl="1"/>
            <a:r>
              <a:rPr lang="en-US" dirty="0"/>
              <a:t>use sophisticated style</a:t>
            </a:r>
          </a:p>
          <a:p>
            <a:r>
              <a:rPr lang="en-US" dirty="0"/>
              <a:t>You as author have to “take the lead”:</a:t>
            </a:r>
          </a:p>
          <a:p>
            <a:pPr lvl="1"/>
            <a:r>
              <a:rPr lang="en-US" dirty="0"/>
              <a:t>Decide what the key messages are</a:t>
            </a:r>
          </a:p>
          <a:p>
            <a:pPr lvl="1"/>
            <a:r>
              <a:rPr lang="en-US" dirty="0"/>
              <a:t>Decide what the flavor is (is this thing I’m introducing: positive, negative, innovative, despicable…)</a:t>
            </a:r>
          </a:p>
          <a:p>
            <a:pPr lvl="1"/>
            <a:r>
              <a:rPr lang="en-US" dirty="0"/>
              <a:t>What style you want</a:t>
            </a:r>
          </a:p>
          <a:p>
            <a:pPr lvl="1"/>
            <a:r>
              <a:rPr lang="en-US" dirty="0"/>
              <a:t>What elements of information should be there</a:t>
            </a:r>
          </a:p>
          <a:p>
            <a:r>
              <a:rPr lang="en-US" dirty="0"/>
              <a:t>Tips:</a:t>
            </a:r>
          </a:p>
          <a:p>
            <a:pPr lvl="1"/>
            <a:r>
              <a:rPr lang="en-US" dirty="0"/>
              <a:t>Use LLM to refine the style (prompts can help you get something more formal vs. something more simple)</a:t>
            </a:r>
          </a:p>
          <a:p>
            <a:pPr lvl="1"/>
            <a:r>
              <a:rPr lang="en-US" dirty="0"/>
              <a:t>Use LLM to create emphasis (on what YOU decide deserves it)</a:t>
            </a:r>
          </a:p>
          <a:p>
            <a:pPr lvl="1"/>
            <a:r>
              <a:rPr lang="en-US" dirty="0"/>
              <a:t>Work on small chunks of text rather than on whole documents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518790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54753"/>
      </p:ext>
    </p:extLst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">
  <a:themeElements>
    <a:clrScheme name="Impostazioni personalizzate 7">
      <a:dk1>
        <a:srgbClr val="321428"/>
      </a:dk1>
      <a:lt1>
        <a:sysClr val="window" lastClr="FFFFFF"/>
      </a:lt1>
      <a:dk2>
        <a:srgbClr val="321428"/>
      </a:dk2>
      <a:lt2>
        <a:srgbClr val="DEF5FA"/>
      </a:lt2>
      <a:accent1>
        <a:srgbClr val="C51788"/>
      </a:accent1>
      <a:accent2>
        <a:srgbClr val="939598"/>
      </a:accent2>
      <a:accent3>
        <a:srgbClr val="53009F"/>
      </a:accent3>
      <a:accent4>
        <a:srgbClr val="A351D5"/>
      </a:accent4>
      <a:accent5>
        <a:srgbClr val="8413F5"/>
      </a:accent5>
      <a:accent6>
        <a:srgbClr val="4A2542"/>
      </a:accent6>
      <a:hlink>
        <a:srgbClr val="C51788"/>
      </a:hlink>
      <a:folHlink>
        <a:srgbClr val="939598"/>
      </a:folHlink>
    </a:clrScheme>
    <a:fontScheme name="Vial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479</Words>
  <Application>Microsoft Office PowerPoint</Application>
  <PresentationFormat>On-screen Show (16:9)</PresentationFormat>
  <Paragraphs>53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ＭＳ Ｐゴシック</vt:lpstr>
      <vt:lpstr>Calibri</vt:lpstr>
      <vt:lpstr>Lucida Sans Unicode</vt:lpstr>
      <vt:lpstr>Trebuchet MS</vt:lpstr>
      <vt:lpstr>Wingdings</vt:lpstr>
      <vt:lpstr>Wingdings 2</vt:lpstr>
      <vt:lpstr>WidescreenPresentation</vt:lpstr>
      <vt:lpstr>On EXECUTIVE SUMMARIES AND ABSTRACTS</vt:lpstr>
      <vt:lpstr>PowerPoint Presentation</vt:lpstr>
      <vt:lpstr>Executive summary and Abstract</vt:lpstr>
      <vt:lpstr>Both should be:</vt:lpstr>
      <vt:lpstr>PowerPoint Presentation</vt:lpstr>
      <vt:lpstr>How should it NOT be?</vt:lpstr>
      <vt:lpstr>PowerPoint Presentation</vt:lpstr>
      <vt:lpstr>Notes on chatGPT &amp; friends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2010-02-08T10:14:15Z</dcterms:created>
  <dcterms:modified xsi:type="dcterms:W3CDTF">2024-03-04T15:19:42Z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1040</vt:i4>
  </property>
  <property fmtid="{D5CDD505-2E9C-101B-9397-08002B2CF9AE}" pid="3" name="_Version">
    <vt:lpwstr>12.0.4518</vt:lpwstr>
  </property>
</Properties>
</file>